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ab54d74dc4463f" /><Relationship Type="http://schemas.openxmlformats.org/officeDocument/2006/relationships/extended-properties" Target="/docProps/app.xml" Id="R2e2aac3ce49e4f3e" /><Relationship Type="http://schemas.openxmlformats.org/officeDocument/2006/relationships/officeDocument" Target="/ppt/presentation.xml" Id="R1ac0e02b420e4f98" /></Relationships>
</file>

<file path=ppt/presentation.xml><?xml version="1.0" encoding="utf-8"?>
<p:presentation xmlns:p="http://schemas.openxmlformats.org/presentationml/2006/main">
  <p:sldMasterIdLst>
    <p:sldMasterId xmlns:r="http://schemas.openxmlformats.org/officeDocument/2006/relationships" id="2147483648" r:id="Rb989cb11dbbb4a91"/>
  </p:sldMasterIdLst>
  <p:notesMasterIdLst>
    <p:notesMasterId xmlns:r="http://schemas.openxmlformats.org/officeDocument/2006/relationships" r:id="Re1badaf7eb7844d5"/>
  </p:notesMasterIdLst>
  <p:sldIdLst>
    <p:sldId xmlns:r="http://schemas.openxmlformats.org/officeDocument/2006/relationships" id="256" r:id="R23ec368fe3324ed8"/>
    <p:sldId xmlns:r="http://schemas.openxmlformats.org/officeDocument/2006/relationships" id="257" r:id="R069fc31eaf10454d"/>
    <p:sldId xmlns:r="http://schemas.openxmlformats.org/officeDocument/2006/relationships" id="258" r:id="R77ad270cdcb04147"/>
    <p:sldId xmlns:r="http://schemas.openxmlformats.org/officeDocument/2006/relationships" id="259" r:id="Rffd272fa61314c15"/>
    <p:sldId xmlns:r="http://schemas.openxmlformats.org/officeDocument/2006/relationships" id="260" r:id="Ra2d4f2ca4572422d"/>
    <p:sldId xmlns:r="http://schemas.openxmlformats.org/officeDocument/2006/relationships" id="261" r:id="R51b4a5d7aede4da2"/>
    <p:sldId xmlns:r="http://schemas.openxmlformats.org/officeDocument/2006/relationships" id="262" r:id="R711c292877dd44b4"/>
    <p:sldId xmlns:r="http://schemas.openxmlformats.org/officeDocument/2006/relationships" id="263" r:id="R202ea6dfbe254aa1"/>
    <p:sldId xmlns:r="http://schemas.openxmlformats.org/officeDocument/2006/relationships" id="264" r:id="Re971a56b6a394e9c"/>
    <p:sldId xmlns:r="http://schemas.openxmlformats.org/officeDocument/2006/relationships" id="265" r:id="Rab89832a32bc4ea1"/>
    <p:sldId xmlns:r="http://schemas.openxmlformats.org/officeDocument/2006/relationships" id="266" r:id="R9d8240f4691a460b"/>
    <p:sldId xmlns:r="http://schemas.openxmlformats.org/officeDocument/2006/relationships" id="267" r:id="R1a6c3f70a1c34525"/>
    <p:sldId xmlns:r="http://schemas.openxmlformats.org/officeDocument/2006/relationships" id="268" r:id="R8e59eaf3b9f043a1"/>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b989cb11dbbb4a91" /><Relationship Type="http://schemas.openxmlformats.org/officeDocument/2006/relationships/theme" Target="/ppt/theme/theme1.xml" Id="Re59c83b77d564bed" /><Relationship Type="http://schemas.openxmlformats.org/officeDocument/2006/relationships/notesMaster" Target="/ppt/notesMasters/notesMaster1.xml" Id="Re1badaf7eb7844d5" /><Relationship Type="http://schemas.openxmlformats.org/officeDocument/2006/relationships/presProps" Target="/ppt/presProps.xml" Id="R1917622e623b40e8" /><Relationship Type="http://schemas.openxmlformats.org/officeDocument/2006/relationships/viewProps" Target="/ppt/viewProps.xml" Id="Rba1738698e124fda" /><Relationship Type="http://schemas.openxmlformats.org/officeDocument/2006/relationships/tableStyles" Target="/ppt/tableStyles.xml" Id="R56130c86171f4ffe" /><Relationship Type="http://schemas.openxmlformats.org/officeDocument/2006/relationships/slide" Target="/ppt/slides/slide1.xml" Id="R23ec368fe3324ed8" /><Relationship Type="http://schemas.openxmlformats.org/officeDocument/2006/relationships/slide" Target="/ppt/slides/slide2.xml" Id="R069fc31eaf10454d" /><Relationship Type="http://schemas.openxmlformats.org/officeDocument/2006/relationships/slide" Target="/ppt/slides/slide3.xml" Id="R77ad270cdcb04147" /><Relationship Type="http://schemas.openxmlformats.org/officeDocument/2006/relationships/slide" Target="/ppt/slides/slide4.xml" Id="Rffd272fa61314c15" /><Relationship Type="http://schemas.openxmlformats.org/officeDocument/2006/relationships/slide" Target="/ppt/slides/slide5.xml" Id="Ra2d4f2ca4572422d" /><Relationship Type="http://schemas.openxmlformats.org/officeDocument/2006/relationships/slide" Target="/ppt/slides/slide6.xml" Id="R51b4a5d7aede4da2" /><Relationship Type="http://schemas.openxmlformats.org/officeDocument/2006/relationships/slide" Target="/ppt/slides/slide7.xml" Id="R711c292877dd44b4" /><Relationship Type="http://schemas.openxmlformats.org/officeDocument/2006/relationships/slide" Target="/ppt/slides/slide8.xml" Id="R202ea6dfbe254aa1" /><Relationship Type="http://schemas.openxmlformats.org/officeDocument/2006/relationships/slide" Target="/ppt/slides/slide9.xml" Id="Re971a56b6a394e9c" /><Relationship Type="http://schemas.openxmlformats.org/officeDocument/2006/relationships/slide" Target="/ppt/slides/slide10.xml" Id="Rab89832a32bc4ea1" /><Relationship Type="http://schemas.openxmlformats.org/officeDocument/2006/relationships/slide" Target="/ppt/slides/slide11.xml" Id="R9d8240f4691a460b" /><Relationship Type="http://schemas.openxmlformats.org/officeDocument/2006/relationships/slide" Target="/ppt/slides/slide12.xml" Id="R1a6c3f70a1c34525" /><Relationship Type="http://schemas.openxmlformats.org/officeDocument/2006/relationships/slide" Target="/ppt/slides/slide13.xml" Id="R8e59eaf3b9f043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7e1ae4882ebd48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1731fbbc214531" /><Relationship Type="http://schemas.openxmlformats.org/officeDocument/2006/relationships/notesMaster" Target="/ppt/notesMasters/notesMaster1.xml" Id="Rb8cc62a873f840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1a313352f94fc7" /><Relationship Type="http://schemas.openxmlformats.org/officeDocument/2006/relationships/notesMaster" Target="/ppt/notesMasters/notesMaster1.xml" Id="Rceb3a48bcd8e42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9035aecc5f4c98" /><Relationship Type="http://schemas.openxmlformats.org/officeDocument/2006/relationships/notesMaster" Target="/ppt/notesMasters/notesMaster1.xml" Id="R5a72856047174e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cd1aaf170e4b19" /><Relationship Type="http://schemas.openxmlformats.org/officeDocument/2006/relationships/notesMaster" Target="/ppt/notesMasters/notesMaster1.xml" Id="R9f44cc2f09fe44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bc1f42e9f04a78" /><Relationship Type="http://schemas.openxmlformats.org/officeDocument/2006/relationships/notesMaster" Target="/ppt/notesMasters/notesMaster1.xml" Id="Rde54c7a5e32d40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778f944bf64508" /><Relationship Type="http://schemas.openxmlformats.org/officeDocument/2006/relationships/notesMaster" Target="/ppt/notesMasters/notesMaster1.xml" Id="Redb6a05514814f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b5bce22cd94127" /><Relationship Type="http://schemas.openxmlformats.org/officeDocument/2006/relationships/notesMaster" Target="/ppt/notesMasters/notesMaster1.xml" Id="Ra7a72ad3f74146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7ef7577ff44d09" /><Relationship Type="http://schemas.openxmlformats.org/officeDocument/2006/relationships/notesMaster" Target="/ppt/notesMasters/notesMaster1.xml" Id="R286bc422fd494b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43cd651f1b49ef" /><Relationship Type="http://schemas.openxmlformats.org/officeDocument/2006/relationships/notesMaster" Target="/ppt/notesMasters/notesMaster1.xml" Id="R8f3cbd439ba9404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690eef39ba4304" /><Relationship Type="http://schemas.openxmlformats.org/officeDocument/2006/relationships/notesMaster" Target="/ppt/notesMasters/notesMaster1.xml" Id="R7599844b8c7645c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0cfa5a97874023" /><Relationship Type="http://schemas.openxmlformats.org/officeDocument/2006/relationships/notesMaster" Target="/ppt/notesMasters/notesMaster1.xml" Id="R2695faad4f9b4bd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0c9363e5204216" /><Relationship Type="http://schemas.openxmlformats.org/officeDocument/2006/relationships/notesMaster" Target="/ppt/notesMasters/notesMaster1.xml" Id="Ra2119a0cc11e4e3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45d385f296c4fd5" /><Relationship Type="http://schemas.openxmlformats.org/officeDocument/2006/relationships/notesMaster" Target="/ppt/notesMasters/notesMaster1.xml" Id="Rc56942ae5db040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Objectif de la slide : Installer le sujet et donner une premiere lecture premium de la stack.</a:t>
            </a:r>
          </a:p>
          <a:p xmlns:a="http://schemas.openxmlformats.org/drawingml/2006/main">
            <a:r>
              <a:t>Suggestion visuelle : Couverture sombre, titre monumental, colonne de technologies sous forme de pipeline.</a:t>
            </a:r>
          </a:p>
          <a:p xmlns:a="http://schemas.openxmlformats.org/drawingml/2006/main">
            <a:r>
              <a:t/>
            </a:r>
          </a:p>
          <a:p xmlns:a="http://schemas.openxmlformats.org/drawingml/2006/main">
            <a:r>
              <a:t>Notes orales :</a:t>
            </a:r>
          </a:p>
          <a:p xmlns:a="http://schemas.openxmlformats.org/drawingml/2006/main">
            <a:r>
              <a:t>Bonjour, je vais vous presenter la stack technique d'EpiTalk. Le but n'est pas seulement de lister des technologies, mais de montrer pourquoi elles forment une architecture coherente pour un chat temps reel : un frontend moderne, un backend performant, deux bases de donnees avec des responsabilites distinctes, et une couche WebSocket dediee au temps reel.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EpiTalk est une plateforme de chat temps reel inspiree de Discord, avec des serveurs, des canaux, des messages directs, des reactions et la presence des utilisateurs.</a:t>
            </a:r>
          </a:p>
          <a:p xmlns:a="http://schemas.openxmlformats.org/drawingml/2006/main">
            <a:r>
              <a:t/>
            </a:r>
          </a:p>
          <a:p xmlns:a="http://schemas.openxmlformats.org/drawingml/2006/main">
            <a:r>
              <a:t>Cote backend, on a choisi Rust avec le framework Axum. Rust nous donne des performances proches du natif, sans garbage collector, et avec une securite memoire garantie a la compilation. Pour une application de chat, c'est important : on doit garder des connexions WebSocket ouvertes longtemps, avec une latence stable.</a:t>
            </a:r>
          </a:p>
          <a:p xmlns:a="http://schemas.openxmlformats.org/drawingml/2006/main">
            <a:r>
              <a:t/>
            </a:r>
          </a:p>
          <a:p xmlns:a="http://schemas.openxmlformats.org/drawingml/2006/main">
            <a:r>
              <a:t>Axum nous sert a exposer l'API REST et l'endpoint WebSocket. REST gere les operations structurelles comme l'authentification, les serveurs, les canaux et les membres. Le WebSocket gere tout ce qui doit etre instantane : nouveaux messages, typing, presence, reactions, messages directs et heartbeat.</a:t>
            </a:r>
          </a:p>
          <a:p xmlns:a="http://schemas.openxmlformats.org/drawingml/2006/main">
            <a:r>
              <a:t/>
            </a:r>
          </a:p>
          <a:p xmlns:a="http://schemas.openxmlformats.org/drawingml/2006/main">
            <a:r>
              <a:t>Pour la persistance, le projet utilise deux bases complementaires. PostgreSQL stocke les donnees relationnelles fortes : utilisateurs, serveurs, channels, memberships, invites et bans. MongoDB stocke les messages, les DMs, les reactions, les pins et l'historique, car ce sont des donnees plus flexibles et tres frequemment ecrites.</a:t>
            </a:r>
          </a:p>
          <a:p xmlns:a="http://schemas.openxmlformats.org/drawingml/2006/main">
            <a:r>
              <a:t/>
            </a:r>
          </a:p>
          <a:p xmlns:a="http://schemas.openxmlformats.org/drawingml/2006/main">
            <a:r>
              <a:t>Cote frontend, on utilise Next.js 16 avec React 19 et TypeScript. Next.js structure l'application, React porte l'interface, TypeScript fiabilise le code. Zustand gere l'etat global avec des stores specialises, et Zod valide les reponses API et les evenements WebSocket avant qu'ils entrent dans l'application.</a:t>
            </a:r>
          </a:p>
          <a:p xmlns:a="http://schemas.openxmlformats.org/drawingml/2006/main">
            <a:r>
              <a:t/>
            </a:r>
          </a:p>
          <a:p xmlns:a="http://schemas.openxmlformats.org/drawingml/2006/main">
            <a:r>
              <a:t>Pour la securite, les mots de passe sont haches avec Argon2id, recommande par l'OWASP, et l'authentification repose sur des JWT. Pour l'infrastructure, Docker Compose lance localement le backend, PostgreSQL et MongoDB. GitHub Actions assure la qualite avec formatage, lint, build, tests et publication de l'image Docker vers GHCR.</a:t>
            </a:r>
          </a:p>
          <a:p xmlns:a="http://schemas.openxmlformats.org/drawingml/2006/main">
            <a:r>
              <a:t/>
            </a:r>
          </a:p>
          <a:p xmlns:a="http://schemas.openxmlformats.org/drawingml/2006/main">
            <a:r>
              <a:t>En resume, la stack est coherente avec le besoin produit : un chat temps reel robuste, performant, typé, testable et pret a evoluer vers une architecture plus scalable.</a:t>
            </a:r>
          </a:p>
          <a:p xmlns:a="http://schemas.openxmlformats.org/drawingml/2006/main">
            <a:r>
              <a:t/>
            </a:r>
          </a:p>
          <a:p xmlns:a="http://schemas.openxmlformats.org/drawingml/2006/main">
            <a:r>
              <a:t>Plan global :</a:t>
            </a:r>
          </a:p>
          <a:p xmlns:a="http://schemas.openxmlformats.org/drawingml/2006/main">
            <a:r>
              <a:t>1. Vision du projet</a:t>
            </a:r>
          </a:p>
          <a:p xmlns:a="http://schemas.openxmlformats.org/drawingml/2006/main">
            <a:r>
              <a:t>2. Architecture globale</a:t>
            </a:r>
          </a:p>
          <a:p xmlns:a="http://schemas.openxmlformats.org/drawingml/2006/main">
            <a:r>
              <a:t>3. Backend</a:t>
            </a:r>
          </a:p>
          <a:p xmlns:a="http://schemas.openxmlformats.org/drawingml/2006/main">
            <a:r>
              <a:t>4. Temps reel WebSocket</a:t>
            </a:r>
          </a:p>
          <a:p xmlns:a="http://schemas.openxmlformats.org/drawingml/2006/main">
            <a:r>
              <a:t>5. Base de donnees</a:t>
            </a:r>
          </a:p>
          <a:p xmlns:a="http://schemas.openxmlformats.org/drawingml/2006/main">
            <a:r>
              <a:t>6. Frontend</a:t>
            </a:r>
          </a:p>
          <a:p xmlns:a="http://schemas.openxmlformats.org/drawingml/2006/main">
            <a:r>
              <a:t>7. Desktop Electron</a:t>
            </a:r>
          </a:p>
          <a:p xmlns:a="http://schemas.openxmlformats.org/drawingml/2006/main">
            <a:r>
              <a:t>8. Infrastructure / CI-CD</a:t>
            </a:r>
          </a:p>
          <a:p xmlns:a="http://schemas.openxmlformats.org/drawingml/2006/main">
            <a:r>
              <a:t>9. Tests / qualite</a:t>
            </a:r>
          </a:p>
          <a:p xmlns:a="http://schemas.openxmlformats.org/drawingml/2006/main">
            <a:r>
              <a:t>10. Limites et ameliorations</a:t>
            </a:r>
          </a:p>
          <a:p xmlns:a="http://schemas.openxmlformats.org/drawingml/2006/main">
            <a:r>
              <a:t>11.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Objectif de la slide : Expliquer le produit avant de parler technique.</a:t>
            </a:r>
          </a:p>
          <a:p xmlns:a="http://schemas.openxmlformats.org/drawingml/2006/main">
            <a:r>
              <a:t>Suggestion visuelle : Grand message a gauche, capacites produit a droite.</a:t>
            </a:r>
          </a:p>
          <a:p xmlns:a="http://schemas.openxmlformats.org/drawingml/2006/main">
            <a:r>
              <a:t/>
            </a:r>
          </a:p>
          <a:p xmlns:a="http://schemas.openxmlformats.org/drawingml/2006/main">
            <a:r>
              <a:t>Notes orales :</a:t>
            </a:r>
          </a:p>
          <a:p xmlns:a="http://schemas.openxmlformats.org/drawingml/2006/main">
            <a:r>
              <a:t>Avant d'entrer dans la stack, il faut comprendre le besoin. EpiTalk est une plateforme de chat temps reel inspiree de Discord. On retrouve les notions de serveurs, de canaux, de messages directs, de reactions, de pins et de presence. Ce type de produit impose deux contraintes fortes : la latence doit etre faible, et l'etat doit rester coherent entre plusieurs utilisateurs connectes en meme temps.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Objectif de la slide : Donner au jury la carte mentale de l'architecture.</a:t>
            </a:r>
          </a:p>
          <a:p xmlns:a="http://schemas.openxmlformats.org/drawingml/2006/main">
            <a:r>
              <a:t>Suggestion visuelle : Schema horizontal client -&gt; backend -&gt; bases, avec deux canaux REST et WebSocket.</a:t>
            </a:r>
          </a:p>
          <a:p xmlns:a="http://schemas.openxmlformats.org/drawingml/2006/main">
            <a:r>
              <a:t/>
            </a:r>
          </a:p>
          <a:p xmlns:a="http://schemas.openxmlformats.org/drawingml/2006/main">
            <a:r>
              <a:t>Notes orales :</a:t>
            </a:r>
          </a:p>
          <a:p xmlns:a="http://schemas.openxmlformats.org/drawingml/2006/main">
            <a:r>
              <a:t>L'architecture est separee en couches. Le client Next.js communique avec le backend Rust de deux facons. REST est utilise pour les operations classiques : authentification, gestion des serveurs, channels, membres et invitations. WebSocket est utilise pour ce qui doit etre instantane : messages, typing, presence, reactions et DMs. Le backend distribue ensuite les donnees entre PostgreSQL et MongoDB selon leur nature.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Objectif de la slide : Justifier le choix du backend et des briques Rust.</a:t>
            </a:r>
          </a:p>
          <a:p xmlns:a="http://schemas.openxmlformats.org/drawingml/2006/main">
            <a:r>
              <a:t>Suggestion visuelle : A gauche les avantages, a droite les modules concrets du repo.</a:t>
            </a:r>
          </a:p>
          <a:p xmlns:a="http://schemas.openxmlformats.org/drawingml/2006/main">
            <a:r>
              <a:t/>
            </a:r>
          </a:p>
          <a:p xmlns:a="http://schemas.openxmlformats.org/drawingml/2006/main">
            <a:r>
              <a:t>Notes orales :</a:t>
            </a:r>
          </a:p>
          <a:p xmlns:a="http://schemas.openxmlformats.org/drawingml/2006/main">
            <a:r>
              <a:t>Le backend est le coeur du projet. Rust est pertinent parce qu'un chat temps reel garde beaucoup de connexions ouvertes. Sans garbage collector, on evite les pauses imprevisibles. Axum fournit le routage HTTP et l'upgrade WebSocket. Tokio execute les taches asynchrones. Tower-HTTP ajoute les couches transverses comme CORS, tracing et service de fichiers uploades. Cote securite, les JWT authentifient les requetes et Argon2id protege les mots de passe.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Objectif de la slide : Faire comprendre la couche temps reel, centrale dans un chat.</a:t>
            </a:r>
          </a:p>
          <a:p xmlns:a="http://schemas.openxmlformats.org/drawingml/2006/main">
            <a:r>
              <a:t>Suggestion visuelle : Hub central avec ses quatre tables internes, puis usages a droite.</a:t>
            </a:r>
          </a:p>
          <a:p xmlns:a="http://schemas.openxmlformats.org/drawingml/2006/main">
            <a:r>
              <a:t/>
            </a:r>
          </a:p>
          <a:p xmlns:a="http://schemas.openxmlformats.org/drawingml/2006/main">
            <a:r>
              <a:t>Notes orales :</a:t>
            </a:r>
          </a:p>
          <a:p xmlns:a="http://schemas.openxmlformats.org/drawingml/2006/main">
            <a:r>
              <a:t>Le Hub WebSocket est la piece centrale du temps reel. Il conserve les connexions actives, les sockets d'envoi, les rooms et les derniers heartbeats. DashMap permet de manipuler ces structures de maniere concurrente sans mettre un gros verrou global. Quand un utilisateur envoie un message, le backend verifie le payload, persiste le message dans MongoDB, puis diffuse l'evenement aux connexions presentes dans la room concernee.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Objectif de la slide : Justifier l'architecture polyglotte de persistance.</a:t>
            </a:r>
          </a:p>
          <a:p xmlns:a="http://schemas.openxmlformats.org/drawingml/2006/main">
            <a:r>
              <a:t>Suggestion visuelle : Tableau comparatif en deux colonnes, role clair pour chaque base.</a:t>
            </a:r>
          </a:p>
          <a:p xmlns:a="http://schemas.openxmlformats.org/drawingml/2006/main">
            <a:r>
              <a:t/>
            </a:r>
          </a:p>
          <a:p xmlns:a="http://schemas.openxmlformats.org/drawingml/2006/main">
            <a:r>
              <a:t>Notes orales :</a:t>
            </a:r>
          </a:p>
          <a:p xmlns:a="http://schemas.openxmlformats.org/drawingml/2006/main">
            <a:r>
              <a:t>Le choix PostgreSQL plus MongoDB est intentionnel. PostgreSQL gere les donnees structurées avec des relations fortes : utilisateurs, serveurs, canaux, memberships et droits. MongoDB gere les messages, parce que leur structure est plus flexible et evolue avec les reactions, pins, pieces jointes ou messages directs. Cela evite de forcer tous les cas d'usage dans un seul modele de donnees.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Objectif de la slide : Montrer que le frontend est structure et securise cote contrat de donnees.</a:t>
            </a:r>
          </a:p>
          <a:p xmlns:a="http://schemas.openxmlformats.org/drawingml/2006/main">
            <a:r>
              <a:t>Suggestion visuelle : Pile technique a gauche, role applicatif a droite.</a:t>
            </a:r>
          </a:p>
          <a:p xmlns:a="http://schemas.openxmlformats.org/drawingml/2006/main">
            <a:r>
              <a:t/>
            </a:r>
          </a:p>
          <a:p xmlns:a="http://schemas.openxmlformats.org/drawingml/2006/main">
            <a:r>
              <a:t>Notes orales :</a:t>
            </a:r>
          </a:p>
          <a:p xmlns:a="http://schemas.openxmlformats.org/drawingml/2006/main">
            <a:r>
              <a:t>Le frontend utilise Next.js 16, React 19 et TypeScript. Next.js structure les routes et redirige les appels /api vers le backend Rust. Zustand gere l'etat global avec des stores specialises, ce qui evite un gros store monolithique. Zod est important : il valide les donnees recues du backend et les evenements WebSocket avant qu'ils entrent dans l'application. Cela rend le frontend plus robuste face aux changements de contrat.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Objectif de la slide : Expliquer la valeur d'Electron dans le projet.</a:t>
            </a:r>
          </a:p>
          <a:p xmlns:a="http://schemas.openxmlformats.org/drawingml/2006/main">
            <a:r>
              <a:t>Suggestion visuelle : Schema de reutilisation : web app vers shell desktop.</a:t>
            </a:r>
          </a:p>
          <a:p xmlns:a="http://schemas.openxmlformats.org/drawingml/2006/main">
            <a:r>
              <a:t/>
            </a:r>
          </a:p>
          <a:p xmlns:a="http://schemas.openxmlformats.org/drawingml/2006/main">
            <a:r>
              <a:t>Notes orales :</a:t>
            </a:r>
          </a:p>
          <a:p xmlns:a="http://schemas.openxmlformats.org/drawingml/2006/main">
            <a:r>
              <a:t>L'application desktop est pragmatique : elle ne recree pas l'interface, elle charge l'application web dans une BrowserWindow Electron. On garde donc une seule base de code UI pour le web et le desktop. Electron ajoute ce que le navigateur ne donne pas aussi naturellement dans ce contexte : notifications systeme, menu applicatif, integration desktop et focus de la fenetre quand l'utilisateur clique une notification.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Objectif de la slide : Montrer que le projet est industrialise au-dela du code applicatif.</a:t>
            </a:r>
          </a:p>
          <a:p xmlns:a="http://schemas.openxmlformats.org/drawingml/2006/main">
            <a:r>
              <a:t>Suggestion visuelle : Pipeline lisible de Docker Compose vers GitHub Actions et GHCR.</a:t>
            </a:r>
          </a:p>
          <a:p xmlns:a="http://schemas.openxmlformats.org/drawingml/2006/main">
            <a:r>
              <a:t/>
            </a:r>
          </a:p>
          <a:p xmlns:a="http://schemas.openxmlformats.org/drawingml/2006/main">
            <a:r>
              <a:t>Notes orales :</a:t>
            </a:r>
          </a:p>
          <a:p xmlns:a="http://schemas.openxmlformats.org/drawingml/2006/main">
            <a:r>
              <a:t>L'infrastructure locale repose sur Docker Compose : backend, PostgreSQL, MongoDB et Adminer. Le Dockerfile est multi-stage, ce qui permet de compiler dans une image Rust puis d'executer dans une image Debian slim. Cote CI, GitHub Actions lance le formatage, clippy, le build, les tests backend avec PostgreSQL et MongoDB en services, et un workflow dedie aux tests WebSocket. Le deploiement pousse l'image vers GHCR, mais le deploiement production final reste a completer.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Objectif de la slide : Rassurer le jury sur le niveau de verification.</a:t>
            </a:r>
          </a:p>
          <a:p xmlns:a="http://schemas.openxmlformats.org/drawingml/2006/main">
            <a:r>
              <a:t>Suggestion visuelle : Trois colonnes : backend, WebSocket, frontend/desktop.</a:t>
            </a:r>
          </a:p>
          <a:p xmlns:a="http://schemas.openxmlformats.org/drawingml/2006/main">
            <a:r>
              <a:t/>
            </a:r>
          </a:p>
          <a:p xmlns:a="http://schemas.openxmlformats.org/drawingml/2006/main">
            <a:r>
              <a:t>Notes orales :</a:t>
            </a:r>
          </a:p>
          <a:p xmlns:a="http://schemas.openxmlformats.org/drawingml/2006/main">
            <a:r>
              <a:t>La qualite est testee a plusieurs niveaux. Cote backend, il y a des tests unitaires dans les modules et des tests d'integration avec de vraies bases PostgreSQL et MongoDB en CI. Le WebSocket a un binaire de test dedie et des flows pour la presence, le typing et les messages. Cote frontend et desktop, le projet utilise Vitest, Testing Library et coverage-v8.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Objectif de la slide : Montrer une prise de recul honnete et professionnelle.</a:t>
            </a:r>
          </a:p>
          <a:p xmlns:a="http://schemas.openxmlformats.org/drawingml/2006/main">
            <a:r>
              <a:t>Suggestion visuelle : Quatre limites formulees comme chantiers concrets.</a:t>
            </a:r>
          </a:p>
          <a:p xmlns:a="http://schemas.openxmlformats.org/drawingml/2006/main">
            <a:r>
              <a:t/>
            </a:r>
          </a:p>
          <a:p xmlns:a="http://schemas.openxmlformats.org/drawingml/2006/main">
            <a:r>
              <a:t>Notes orales :</a:t>
            </a:r>
          </a:p>
          <a:p xmlns:a="http://schemas.openxmlformats.org/drawingml/2006/main">
            <a:r>
              <a:t>Les limites principales sont clairement identifiees. Le deploiement pousse l'image Docker vers GHCR, mais l'orchestration production n'est pas encore finalisee. Les migrations ont plusieurs fichiers en 004, donc il faut clarifier l'ordre. Le Hub WebSocket est en memoire sur un seul noeud : pour scaler horizontalement, il faudra un bus comme Redis Pub/Sub. Enfin, les lockfiles frontend indiquent un workflow package manager a nettoyer.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Objectif de la slide : Finir sur la coherence de l'architecture et les points forts.</a:t>
            </a:r>
          </a:p>
          <a:p xmlns:a="http://schemas.openxmlformats.org/drawingml/2006/main">
            <a:r>
              <a:t>Suggestion visuelle : Trois piliers : robuste, temps reel, evolutive.</a:t>
            </a:r>
          </a:p>
          <a:p xmlns:a="http://schemas.openxmlformats.org/drawingml/2006/main">
            <a:r>
              <a:t/>
            </a:r>
          </a:p>
          <a:p xmlns:a="http://schemas.openxmlformats.org/drawingml/2006/main">
            <a:r>
              <a:t>Notes orales :</a:t>
            </a:r>
          </a:p>
          <a:p xmlns:a="http://schemas.openxmlformats.org/drawingml/2006/main">
            <a:r>
              <a:t>Pour conclure, la stack d'EpiTalk est coherente avec le produit. Rust et Axum donnent un backend performant et fiable. Le WebSocket apporte l'instantaneite attendue dans un chat. PostgreSQL et MongoDB se completent au lieu de se concurrencer. Next.js, React, TypeScript, Zustand et Zod structurent un frontend maintenable. Enfin, Docker et GitHub Actions donnent une base d'industrialisation. Le projet a encore des axes d'amelioration, mais ils sont identifies, limites et compatibles avec l'architecture actuelle.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8dc408cabd74a43"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92393d6818314b81" /><Relationship Type="http://schemas.openxmlformats.org/officeDocument/2006/relationships/slideLayout" Target="/ppt/slideLayouts/slideLayout2.xml" Id="R5f41aa0deaa74d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41aa0deaa74d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8250742bb9fc4516" /><Relationship Type="http://schemas.openxmlformats.org/officeDocument/2006/relationships/notesSlide" Target="/ppt/notesSlides/notesSlide1.xml" Id="R15aa9f7a08434a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01a29b385b54f77" /><Relationship Type="http://schemas.openxmlformats.org/officeDocument/2006/relationships/notesSlide" Target="/ppt/notesSlides/notesSlide2.xml" Id="Rcb569522fda94b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04428d529724e53" /><Relationship Type="http://schemas.openxmlformats.org/officeDocument/2006/relationships/notesSlide" Target="/ppt/notesSlides/notesSlide3.xml" Id="Rd28239c3e4c949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baa78f2b70cf481a" /><Relationship Type="http://schemas.openxmlformats.org/officeDocument/2006/relationships/notesSlide" Target="/ppt/notesSlides/notesSlide4.xml" Id="Rfde8a0a6300b41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c2b7e291d6e4cac" /><Relationship Type="http://schemas.openxmlformats.org/officeDocument/2006/relationships/notesSlide" Target="/ppt/notesSlides/notesSlide5.xml" Id="Re812d20370b543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cd5a310632146ab" /><Relationship Type="http://schemas.openxmlformats.org/officeDocument/2006/relationships/notesSlide" Target="/ppt/notesSlides/notesSlide6.xml" Id="Ra0984c90d2d44a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67e1f103cce45d8" /><Relationship Type="http://schemas.openxmlformats.org/officeDocument/2006/relationships/notesSlide" Target="/ppt/notesSlides/notesSlide7.xml" Id="Ra7d143dca50a45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89fe68a8ac14a67" /><Relationship Type="http://schemas.openxmlformats.org/officeDocument/2006/relationships/notesSlide" Target="/ppt/notesSlides/notesSlide8.xml" Id="R0ec5fc3ec817449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41f0245fe54e4f2b" /><Relationship Type="http://schemas.openxmlformats.org/officeDocument/2006/relationships/notesSlide" Target="/ppt/notesSlides/notesSlide9.xml" Id="Rd6793daf349446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efb99951fc64913" /><Relationship Type="http://schemas.openxmlformats.org/officeDocument/2006/relationships/notesSlide" Target="/ppt/notesSlides/notesSlide10.xml" Id="Reaf6ca0cf67f4b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5da83b5d2dbb4dd3" /><Relationship Type="http://schemas.openxmlformats.org/officeDocument/2006/relationships/notesSlide" Target="/ppt/notesSlides/notesSlide11.xml" Id="R3fd068192c5146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1560a3b70b014214" /><Relationship Type="http://schemas.openxmlformats.org/officeDocument/2006/relationships/notesSlide" Target="/ppt/notesSlides/notesSlide12.xml" Id="Rc353cd9bdfbf4bb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7b0e4ae748e048b3" /><Relationship Type="http://schemas.openxmlformats.org/officeDocument/2006/relationships/notesSlide" Target="/ppt/notesSlides/notesSlide13.xml" Id="Re41fdad0eef84daf" /></Relationships>
</file>

<file path=ppt/slides/slide1.xml><?xml version="1.0" encoding="utf-8"?>
<p:sld xmlns:p="http://schemas.openxmlformats.org/presentationml/2006/main">
  <p:cSld>
    <p:bg>
      <p:bgPr>
        <a:solidFill xmlns:a="http://schemas.openxmlformats.org/drawingml/2006/main">
          <a:srgbClr val="060A16"/>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B4053D0-FE61-4EFD-90A9-203ADE9B3790}"/>
              </a:ext>
            </a:extLst>
          </p:cNvPr>
          <p:cNvSpPr>
            <a:spLocks xmlns:a="http://schemas.openxmlformats.org/drawingml/2006/main" noGrp="1"/>
          </p:cNvSpPr>
          <p:nvPr/>
        </p:nvSpPr>
        <p:spPr>
          <a:xfrm xmlns:a="http://schemas.openxmlformats.org/drawingml/2006/main">
            <a:off x="876300" y="3081338"/>
            <a:ext cx="1840897" cy="346710"/>
          </a:xfrm>
          <a:prstGeom xmlns:a="http://schemas.openxmlformats.org/drawingml/2006/main" prst="roundRect">
            <a:avLst>
              <a:gd name="adj" fmla="val 50000"/>
            </a:avLst>
          </a:prstGeom>
          <a:solidFill xmlns:a="http://schemas.openxmlformats.org/drawingml/2006/main">
            <a:srgbClr val="22D3EE">
              <a:alpha val="13333"/>
            </a:srgbClr>
          </a:solidFill>
          <a:ln xmlns:a="http://schemas.openxmlformats.org/drawingml/2006/main" w="9525">
            <a:solidFill>
              <a:srgbClr val="22D3EE">
                <a:alpha val="53333"/>
              </a:srgbClr>
            </a:solidFill>
            <a:prstDash val="solid"/>
          </a:ln>
        </p:spPr>
      </p:sp>
      <p:sp>
        <p:nvSpPr>
          <p:cNvPr id="2" name="">
            <a:extLst xmlns:a="http://schemas.openxmlformats.org/drawingml/2006/main">
              <a:ext uri="{FF2B5EF4-FFF2-40B4-BE49-F238E27FC236}">
                <a16:creationId xmlns:a16="http://schemas.microsoft.com/office/drawing/2014/main" id="{97DEB352-EC9D-41D4-8AD4-892119F5AF25}"/>
              </a:ext>
            </a:extLst>
          </p:cNvPr>
          <p:cNvSpPr>
            <a:spLocks xmlns:a="http://schemas.openxmlformats.org/drawingml/2006/main" noGrp="1"/>
          </p:cNvSpPr>
          <p:nvPr/>
        </p:nvSpPr>
        <p:spPr>
          <a:xfrm xmlns:a="http://schemas.openxmlformats.org/drawingml/2006/main">
            <a:off x="1047750" y="3162300"/>
            <a:ext cx="15049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i="0">
                <a:solidFill>
                  <a:srgbClr val="22D3EE"/>
                </a:solidFill>
              </a:defRPr>
            </a:pPr>
            <a:r>
              <a:rPr sz="1275" b="1" i="0">
                <a:solidFill>
                  <a:srgbClr val="22D3EE"/>
                </a:solidFill>
              </a:rPr>
              <a:t>Soutenance technique</a:t>
            </a:r>
          </a:p>
        </p:txBody>
      </p:sp>
      <p:sp>
        <p:nvSpPr>
          <p:cNvPr id="3" name="">
            <a:extLst xmlns:a="http://schemas.openxmlformats.org/drawingml/2006/main">
              <a:ext uri="{FF2B5EF4-FFF2-40B4-BE49-F238E27FC236}">
                <a16:creationId xmlns:a16="http://schemas.microsoft.com/office/drawing/2014/main" id="{B76C0F9E-1A6B-4F35-B0E2-1BCA1596D226}"/>
              </a:ext>
            </a:extLst>
          </p:cNvPr>
          <p:cNvSpPr>
            <a:spLocks xmlns:a="http://schemas.openxmlformats.org/drawingml/2006/main" noGrp="1"/>
          </p:cNvSpPr>
          <p:nvPr/>
        </p:nvSpPr>
        <p:spPr>
          <a:xfrm xmlns:a="http://schemas.openxmlformats.org/drawingml/2006/main">
            <a:off x="2850547" y="3081338"/>
            <a:ext cx="1143476" cy="541020"/>
          </a:xfrm>
          <a:prstGeom xmlns:a="http://schemas.openxmlformats.org/drawingml/2006/main" prst="roundRect">
            <a:avLst>
              <a:gd name="adj" fmla="val 50000"/>
            </a:avLst>
          </a:prstGeom>
          <a:solidFill xmlns:a="http://schemas.openxmlformats.org/drawingml/2006/main">
            <a:srgbClr val="8B5CF6">
              <a:alpha val="13333"/>
            </a:srgbClr>
          </a:solidFill>
          <a:ln xmlns:a="http://schemas.openxmlformats.org/drawingml/2006/main" w="9525">
            <a:solidFill>
              <a:srgbClr val="8B5CF6">
                <a:alpha val="53333"/>
              </a:srgbClr>
            </a:solidFill>
            <a:prstDash val="solid"/>
          </a:ln>
        </p:spPr>
      </p:sp>
      <p:sp>
        <p:nvSpPr>
          <p:cNvPr id="4" name="">
            <a:extLst xmlns:a="http://schemas.openxmlformats.org/drawingml/2006/main">
              <a:ext uri="{FF2B5EF4-FFF2-40B4-BE49-F238E27FC236}">
                <a16:creationId xmlns:a16="http://schemas.microsoft.com/office/drawing/2014/main" id="{9FF60620-888D-44C5-AB25-126A24339A90}"/>
              </a:ext>
            </a:extLst>
          </p:cNvPr>
          <p:cNvSpPr>
            <a:spLocks xmlns:a="http://schemas.openxmlformats.org/drawingml/2006/main" noGrp="1"/>
          </p:cNvSpPr>
          <p:nvPr/>
        </p:nvSpPr>
        <p:spPr>
          <a:xfrm xmlns:a="http://schemas.openxmlformats.org/drawingml/2006/main">
            <a:off x="3028950" y="3162300"/>
            <a:ext cx="8001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i="0">
                <a:solidFill>
                  <a:srgbClr val="8B5CF6"/>
                </a:solidFill>
              </a:defRPr>
            </a:pPr>
            <a:r>
              <a:rPr sz="1275" b="1" i="0">
                <a:solidFill>
                  <a:srgbClr val="8B5CF6"/>
                </a:solidFill>
              </a:rPr>
              <a:t>Stack projet</a:t>
            </a:r>
          </a:p>
        </p:txBody>
      </p:sp>
      <p:sp>
        <p:nvSpPr>
          <p:cNvPr id="5" name="">
            <a:extLst xmlns:a="http://schemas.openxmlformats.org/drawingml/2006/main">
              <a:ext uri="{FF2B5EF4-FFF2-40B4-BE49-F238E27FC236}">
                <a16:creationId xmlns:a16="http://schemas.microsoft.com/office/drawing/2014/main" id="{B0E760F7-ECCD-457F-A7B7-48DAB46BBAE4}"/>
              </a:ext>
            </a:extLst>
          </p:cNvPr>
          <p:cNvSpPr>
            <a:spLocks xmlns:a="http://schemas.openxmlformats.org/drawingml/2006/main" noGrp="1"/>
          </p:cNvSpPr>
          <p:nvPr/>
        </p:nvSpPr>
        <p:spPr>
          <a:xfrm xmlns:a="http://schemas.openxmlformats.org/drawingml/2006/main">
            <a:off x="876300" y="3886200"/>
            <a:ext cx="8324850" cy="1352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8850" b="1" i="0">
                <a:solidFill>
                  <a:srgbClr val="FFFFFF"/>
                </a:solidFill>
              </a:defRPr>
            </a:pPr>
            <a:r>
              <a:rPr sz="8850" b="1" i="0">
                <a:solidFill>
                  <a:srgbClr val="FFFFFF"/>
                </a:solidFill>
              </a:rPr>
              <a:t>EpiTalk</a:t>
            </a:r>
          </a:p>
        </p:txBody>
      </p:sp>
      <p:sp>
        <p:nvSpPr>
          <p:cNvPr id="6" name="">
            <a:extLst xmlns:a="http://schemas.openxmlformats.org/drawingml/2006/main">
              <a:ext uri="{FF2B5EF4-FFF2-40B4-BE49-F238E27FC236}">
                <a16:creationId xmlns:a16="http://schemas.microsoft.com/office/drawing/2014/main" id="{0F414FED-D7A3-4FE6-B5C4-4056BF800B48}"/>
              </a:ext>
            </a:extLst>
          </p:cNvPr>
          <p:cNvSpPr>
            <a:spLocks xmlns:a="http://schemas.openxmlformats.org/drawingml/2006/main" noGrp="1"/>
          </p:cNvSpPr>
          <p:nvPr/>
        </p:nvSpPr>
        <p:spPr>
          <a:xfrm xmlns:a="http://schemas.openxmlformats.org/drawingml/2006/main">
            <a:off x="876300" y="5505450"/>
            <a:ext cx="832485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150" b="1" i="0">
                <a:solidFill>
                  <a:srgbClr val="2F80FF"/>
                </a:solidFill>
              </a:defRPr>
            </a:pPr>
            <a:r>
              <a:rPr sz="3150" b="1" i="0">
                <a:solidFill>
                  <a:srgbClr val="2F80FF"/>
                </a:solidFill>
              </a:rPr>
              <a:t>Presentation de la stack technique</a:t>
            </a:r>
          </a:p>
        </p:txBody>
      </p:sp>
      <p:sp>
        <p:nvSpPr>
          <p:cNvPr id="7" name="">
            <a:extLst xmlns:a="http://schemas.openxmlformats.org/drawingml/2006/main">
              <a:ext uri="{FF2B5EF4-FFF2-40B4-BE49-F238E27FC236}">
                <a16:creationId xmlns:a16="http://schemas.microsoft.com/office/drawing/2014/main" id="{413DFB62-D71C-40D3-966D-8EA68E5D1998}"/>
              </a:ext>
            </a:extLst>
          </p:cNvPr>
          <p:cNvSpPr>
            <a:spLocks xmlns:a="http://schemas.openxmlformats.org/drawingml/2006/main" noGrp="1"/>
          </p:cNvSpPr>
          <p:nvPr/>
        </p:nvSpPr>
        <p:spPr>
          <a:xfrm xmlns:a="http://schemas.openxmlformats.org/drawingml/2006/main">
            <a:off x="876300" y="6248400"/>
            <a:ext cx="2667000" cy="47625"/>
          </a:xfrm>
          <a:prstGeom xmlns:a="http://schemas.openxmlformats.org/drawingml/2006/main" prst="rect">
            <a:avLst/>
          </a:prstGeom>
          <a:solidFill xmlns:a="http://schemas.openxmlformats.org/drawingml/2006/main">
            <a:srgbClr val="2F80FF"/>
          </a:solidFill>
          <a:ln xmlns:a="http://schemas.openxmlformats.org/drawingml/2006/main" w="0">
            <a:solidFill>
              <a:srgbClr val="2F80FF"/>
            </a:solidFill>
            <a:prstDash val="solid"/>
          </a:ln>
        </p:spPr>
      </p:sp>
      <p:sp>
        <p:nvSpPr>
          <p:cNvPr id="8" name="">
            <a:extLst xmlns:a="http://schemas.openxmlformats.org/drawingml/2006/main">
              <a:ext uri="{FF2B5EF4-FFF2-40B4-BE49-F238E27FC236}">
                <a16:creationId xmlns:a16="http://schemas.microsoft.com/office/drawing/2014/main" id="{87177C10-C24F-435F-ADDF-FBCE336B55B7}"/>
              </a:ext>
            </a:extLst>
          </p:cNvPr>
          <p:cNvSpPr>
            <a:spLocks xmlns:a="http://schemas.openxmlformats.org/drawingml/2006/main" noGrp="1"/>
          </p:cNvSpPr>
          <p:nvPr/>
        </p:nvSpPr>
        <p:spPr>
          <a:xfrm xmlns:a="http://schemas.openxmlformats.org/drawingml/2006/main">
            <a:off x="876300" y="6572250"/>
            <a:ext cx="739140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i="0">
                <a:solidFill>
                  <a:srgbClr val="A7B0C6"/>
                </a:solidFill>
              </a:defRPr>
            </a:pPr>
            <a:r>
              <a:rPr sz="2100" b="0" i="0">
                <a:solidFill>
                  <a:srgbClr val="A7B0C6"/>
                </a:solidFill>
              </a:rPr>
              <a:t>Chat temps reel inspire de Discord - Rust, Axum, Next.js, WebSocket, PostgreSQL, MongoDB</a:t>
            </a:r>
          </a:p>
        </p:txBody>
      </p:sp>
      <p:sp>
        <p:nvSpPr>
          <p:cNvPr id="9" name="">
            <a:extLst xmlns:a="http://schemas.openxmlformats.org/drawingml/2006/main">
              <a:ext uri="{FF2B5EF4-FFF2-40B4-BE49-F238E27FC236}">
                <a16:creationId xmlns:a16="http://schemas.microsoft.com/office/drawing/2014/main" id="{09DD549C-C183-4540-99B3-EEB60290EF9D}"/>
              </a:ext>
            </a:extLst>
          </p:cNvPr>
          <p:cNvSpPr>
            <a:spLocks xmlns:a="http://schemas.openxmlformats.org/drawingml/2006/main" noGrp="1"/>
          </p:cNvSpPr>
          <p:nvPr/>
        </p:nvSpPr>
        <p:spPr>
          <a:xfrm xmlns:a="http://schemas.openxmlformats.org/drawingml/2006/main">
            <a:off x="9883140" y="781050"/>
            <a:ext cx="7528560" cy="8724900"/>
          </a:xfrm>
          <a:prstGeom xmlns:a="http://schemas.openxmlformats.org/drawingml/2006/main" prst="roundRect">
            <a:avLst>
              <a:gd name="adj" fmla="val 1012"/>
            </a:avLst>
          </a:prstGeom>
          <a:solidFill xmlns:a="http://schemas.openxmlformats.org/drawingml/2006/main">
            <a:srgbClr val="0D1428"/>
          </a:solidFill>
          <a:ln xmlns:a="http://schemas.openxmlformats.org/drawingml/2006/main" w="9525">
            <a:solidFill>
              <a:srgbClr val="26324D"/>
            </a:solidFill>
            <a:prstDash val="solid"/>
          </a:ln>
        </p:spPr>
      </p:sp>
      <p:sp>
        <p:nvSpPr>
          <p:cNvPr id="10" name="">
            <a:extLst xmlns:a="http://schemas.openxmlformats.org/drawingml/2006/main">
              <a:ext uri="{FF2B5EF4-FFF2-40B4-BE49-F238E27FC236}">
                <a16:creationId xmlns:a16="http://schemas.microsoft.com/office/drawing/2014/main" id="{8A797C80-7EC7-4F0E-A7C0-55BB01870AC6}"/>
              </a:ext>
            </a:extLst>
          </p:cNvPr>
          <p:cNvSpPr>
            <a:spLocks xmlns:a="http://schemas.openxmlformats.org/drawingml/2006/main" noGrp="1"/>
          </p:cNvSpPr>
          <p:nvPr/>
        </p:nvSpPr>
        <p:spPr>
          <a:xfrm xmlns:a="http://schemas.openxmlformats.org/drawingml/2006/main">
            <a:off x="10245090" y="3238500"/>
            <a:ext cx="6804660" cy="609600"/>
          </a:xfrm>
          <a:prstGeom xmlns:a="http://schemas.openxmlformats.org/drawingml/2006/main" prst="roundRect">
            <a:avLst>
              <a:gd name="adj" fmla="val 9375"/>
            </a:avLst>
          </a:prstGeom>
          <a:solidFill xmlns:a="http://schemas.openxmlformats.org/drawingml/2006/main">
            <a:srgbClr val="2F80FF">
              <a:alpha val="12549"/>
            </a:srgbClr>
          </a:solidFill>
          <a:ln xmlns:a="http://schemas.openxmlformats.org/drawingml/2006/main" w="9525">
            <a:solidFill>
              <a:srgbClr val="2F80FF">
                <a:alpha val="53333"/>
              </a:srgbClr>
            </a:solidFill>
            <a:prstDash val="solid"/>
          </a:ln>
        </p:spPr>
      </p:sp>
      <p:sp>
        <p:nvSpPr>
          <p:cNvPr id="11" name="">
            <a:extLst xmlns:a="http://schemas.openxmlformats.org/drawingml/2006/main">
              <a:ext uri="{FF2B5EF4-FFF2-40B4-BE49-F238E27FC236}">
                <a16:creationId xmlns:a16="http://schemas.microsoft.com/office/drawing/2014/main" id="{24335D85-6FD7-4686-B8DF-2ACE244741A9}"/>
              </a:ext>
            </a:extLst>
          </p:cNvPr>
          <p:cNvSpPr>
            <a:spLocks xmlns:a="http://schemas.openxmlformats.org/drawingml/2006/main" noGrp="1"/>
          </p:cNvSpPr>
          <p:nvPr/>
        </p:nvSpPr>
        <p:spPr>
          <a:xfrm xmlns:a="http://schemas.openxmlformats.org/drawingml/2006/main">
            <a:off x="10401300" y="3409950"/>
            <a:ext cx="64770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Frontend - Next.js 16 / React 19</a:t>
            </a:r>
          </a:p>
        </p:txBody>
      </p:sp>
      <p:sp>
        <p:nvSpPr>
          <p:cNvPr id="12" name="">
            <a:extLst xmlns:a="http://schemas.openxmlformats.org/drawingml/2006/main">
              <a:ext uri="{FF2B5EF4-FFF2-40B4-BE49-F238E27FC236}">
                <a16:creationId xmlns:a16="http://schemas.microsoft.com/office/drawing/2014/main" id="{9135706E-BF8F-4595-AA0C-DA1D6E6FE58E}"/>
              </a:ext>
            </a:extLst>
          </p:cNvPr>
          <p:cNvSpPr>
            <a:spLocks xmlns:a="http://schemas.openxmlformats.org/drawingml/2006/main" noGrp="1"/>
          </p:cNvSpPr>
          <p:nvPr/>
        </p:nvSpPr>
        <p:spPr>
          <a:xfrm xmlns:a="http://schemas.openxmlformats.org/drawingml/2006/main">
            <a:off x="10245090" y="4038600"/>
            <a:ext cx="6804660" cy="609600"/>
          </a:xfrm>
          <a:prstGeom xmlns:a="http://schemas.openxmlformats.org/drawingml/2006/main" prst="roundRect">
            <a:avLst>
              <a:gd name="adj" fmla="val 9375"/>
            </a:avLst>
          </a:prstGeom>
          <a:solidFill xmlns:a="http://schemas.openxmlformats.org/drawingml/2006/main">
            <a:srgbClr val="8B5CF6">
              <a:alpha val="12549"/>
            </a:srgbClr>
          </a:solidFill>
          <a:ln xmlns:a="http://schemas.openxmlformats.org/drawingml/2006/main" w="9525">
            <a:solidFill>
              <a:srgbClr val="8B5CF6">
                <a:alpha val="53333"/>
              </a:srgbClr>
            </a:solidFill>
            <a:prstDash val="solid"/>
          </a:ln>
        </p:spPr>
      </p:sp>
      <p:sp>
        <p:nvSpPr>
          <p:cNvPr id="13" name="">
            <a:extLst xmlns:a="http://schemas.openxmlformats.org/drawingml/2006/main">
              <a:ext uri="{FF2B5EF4-FFF2-40B4-BE49-F238E27FC236}">
                <a16:creationId xmlns:a16="http://schemas.microsoft.com/office/drawing/2014/main" id="{D815778F-8AFB-42B6-9039-0B337A1BA753}"/>
              </a:ext>
            </a:extLst>
          </p:cNvPr>
          <p:cNvSpPr>
            <a:spLocks xmlns:a="http://schemas.openxmlformats.org/drawingml/2006/main" noGrp="1"/>
          </p:cNvSpPr>
          <p:nvPr/>
        </p:nvSpPr>
        <p:spPr>
          <a:xfrm xmlns:a="http://schemas.openxmlformats.org/drawingml/2006/main">
            <a:off x="10401300" y="4210050"/>
            <a:ext cx="64770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Backend - Rust / Axum / Tokio</a:t>
            </a:r>
          </a:p>
        </p:txBody>
      </p:sp>
      <p:sp>
        <p:nvSpPr>
          <p:cNvPr id="14" name="">
            <a:extLst xmlns:a="http://schemas.openxmlformats.org/drawingml/2006/main">
              <a:ext uri="{FF2B5EF4-FFF2-40B4-BE49-F238E27FC236}">
                <a16:creationId xmlns:a16="http://schemas.microsoft.com/office/drawing/2014/main" id="{70916C5D-9410-4BFC-A622-AD7C791F78B1}"/>
              </a:ext>
            </a:extLst>
          </p:cNvPr>
          <p:cNvSpPr>
            <a:spLocks xmlns:a="http://schemas.openxmlformats.org/drawingml/2006/main" noGrp="1"/>
          </p:cNvSpPr>
          <p:nvPr/>
        </p:nvSpPr>
        <p:spPr>
          <a:xfrm xmlns:a="http://schemas.openxmlformats.org/drawingml/2006/main">
            <a:off x="10245090" y="4838700"/>
            <a:ext cx="6804660" cy="609600"/>
          </a:xfrm>
          <a:prstGeom xmlns:a="http://schemas.openxmlformats.org/drawingml/2006/main" prst="roundRect">
            <a:avLst>
              <a:gd name="adj" fmla="val 9375"/>
            </a:avLst>
          </a:prstGeom>
          <a:solidFill xmlns:a="http://schemas.openxmlformats.org/drawingml/2006/main">
            <a:srgbClr val="22D3EE">
              <a:alpha val="12549"/>
            </a:srgbClr>
          </a:solidFill>
          <a:ln xmlns:a="http://schemas.openxmlformats.org/drawingml/2006/main" w="9525">
            <a:solidFill>
              <a:srgbClr val="22D3EE">
                <a:alpha val="53333"/>
              </a:srgbClr>
            </a:solidFill>
            <a:prstDash val="solid"/>
          </a:ln>
        </p:spPr>
      </p:sp>
      <p:sp>
        <p:nvSpPr>
          <p:cNvPr id="15" name="">
            <a:extLst xmlns:a="http://schemas.openxmlformats.org/drawingml/2006/main">
              <a:ext uri="{FF2B5EF4-FFF2-40B4-BE49-F238E27FC236}">
                <a16:creationId xmlns:a16="http://schemas.microsoft.com/office/drawing/2014/main" id="{111E8013-02A2-4A3B-9A6F-81E0F1916427}"/>
              </a:ext>
            </a:extLst>
          </p:cNvPr>
          <p:cNvSpPr>
            <a:spLocks xmlns:a="http://schemas.openxmlformats.org/drawingml/2006/main" noGrp="1"/>
          </p:cNvSpPr>
          <p:nvPr/>
        </p:nvSpPr>
        <p:spPr>
          <a:xfrm xmlns:a="http://schemas.openxmlformats.org/drawingml/2006/main">
            <a:off x="10401300" y="5010150"/>
            <a:ext cx="64770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Temps reel - WebSocket Hub</a:t>
            </a:r>
          </a:p>
        </p:txBody>
      </p:sp>
      <p:sp>
        <p:nvSpPr>
          <p:cNvPr id="16" name="">
            <a:extLst xmlns:a="http://schemas.openxmlformats.org/drawingml/2006/main">
              <a:ext uri="{FF2B5EF4-FFF2-40B4-BE49-F238E27FC236}">
                <a16:creationId xmlns:a16="http://schemas.microsoft.com/office/drawing/2014/main" id="{939D65EE-23A2-449B-8073-629DE2C10BAC}"/>
              </a:ext>
            </a:extLst>
          </p:cNvPr>
          <p:cNvSpPr>
            <a:spLocks xmlns:a="http://schemas.openxmlformats.org/drawingml/2006/main" noGrp="1"/>
          </p:cNvSpPr>
          <p:nvPr/>
        </p:nvSpPr>
        <p:spPr>
          <a:xfrm xmlns:a="http://schemas.openxmlformats.org/drawingml/2006/main">
            <a:off x="10245090" y="5638800"/>
            <a:ext cx="3326130" cy="609600"/>
          </a:xfrm>
          <a:prstGeom xmlns:a="http://schemas.openxmlformats.org/drawingml/2006/main" prst="roundRect">
            <a:avLst>
              <a:gd name="adj" fmla="val 9375"/>
            </a:avLst>
          </a:prstGeom>
          <a:solidFill xmlns:a="http://schemas.openxmlformats.org/drawingml/2006/main">
            <a:srgbClr val="34D399">
              <a:alpha val="12549"/>
            </a:srgbClr>
          </a:solidFill>
          <a:ln xmlns:a="http://schemas.openxmlformats.org/drawingml/2006/main" w="9525">
            <a:solidFill>
              <a:srgbClr val="34D399">
                <a:alpha val="53333"/>
              </a:srgbClr>
            </a:solidFill>
            <a:prstDash val="solid"/>
          </a:ln>
        </p:spPr>
      </p:sp>
      <p:sp>
        <p:nvSpPr>
          <p:cNvPr id="17" name="">
            <a:extLst xmlns:a="http://schemas.openxmlformats.org/drawingml/2006/main">
              <a:ext uri="{FF2B5EF4-FFF2-40B4-BE49-F238E27FC236}">
                <a16:creationId xmlns:a16="http://schemas.microsoft.com/office/drawing/2014/main" id="{C878AE2A-5C0C-49FB-82C4-337CCB6C6507}"/>
              </a:ext>
            </a:extLst>
          </p:cNvPr>
          <p:cNvSpPr>
            <a:spLocks xmlns:a="http://schemas.openxmlformats.org/drawingml/2006/main" noGrp="1"/>
          </p:cNvSpPr>
          <p:nvPr/>
        </p:nvSpPr>
        <p:spPr>
          <a:xfrm xmlns:a="http://schemas.openxmlformats.org/drawingml/2006/main">
            <a:off x="10420350" y="5810250"/>
            <a:ext cx="29718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PostgreSQL</a:t>
            </a:r>
          </a:p>
        </p:txBody>
      </p:sp>
      <p:sp>
        <p:nvSpPr>
          <p:cNvPr id="18" name="">
            <a:extLst xmlns:a="http://schemas.openxmlformats.org/drawingml/2006/main">
              <a:ext uri="{FF2B5EF4-FFF2-40B4-BE49-F238E27FC236}">
                <a16:creationId xmlns:a16="http://schemas.microsoft.com/office/drawing/2014/main" id="{78663311-53E1-4838-A059-8B304D5C873C}"/>
              </a:ext>
            </a:extLst>
          </p:cNvPr>
          <p:cNvSpPr>
            <a:spLocks xmlns:a="http://schemas.openxmlformats.org/drawingml/2006/main" noGrp="1"/>
          </p:cNvSpPr>
          <p:nvPr/>
        </p:nvSpPr>
        <p:spPr>
          <a:xfrm xmlns:a="http://schemas.openxmlformats.org/drawingml/2006/main">
            <a:off x="13723620" y="5638800"/>
            <a:ext cx="3326130" cy="609600"/>
          </a:xfrm>
          <a:prstGeom xmlns:a="http://schemas.openxmlformats.org/drawingml/2006/main" prst="roundRect">
            <a:avLst>
              <a:gd name="adj" fmla="val 9375"/>
            </a:avLst>
          </a:prstGeom>
          <a:solidFill xmlns:a="http://schemas.openxmlformats.org/drawingml/2006/main">
            <a:srgbClr val="FBBF24">
              <a:alpha val="12549"/>
            </a:srgbClr>
          </a:solidFill>
          <a:ln xmlns:a="http://schemas.openxmlformats.org/drawingml/2006/main" w="9525">
            <a:solidFill>
              <a:srgbClr val="FBBF24">
                <a:alpha val="53333"/>
              </a:srgbClr>
            </a:solidFill>
            <a:prstDash val="solid"/>
          </a:ln>
        </p:spPr>
      </p:sp>
      <p:sp>
        <p:nvSpPr>
          <p:cNvPr id="19" name="">
            <a:extLst xmlns:a="http://schemas.openxmlformats.org/drawingml/2006/main">
              <a:ext uri="{FF2B5EF4-FFF2-40B4-BE49-F238E27FC236}">
                <a16:creationId xmlns:a16="http://schemas.microsoft.com/office/drawing/2014/main" id="{401D0630-ACC1-49A8-9883-467490C14217}"/>
              </a:ext>
            </a:extLst>
          </p:cNvPr>
          <p:cNvSpPr>
            <a:spLocks xmlns:a="http://schemas.openxmlformats.org/drawingml/2006/main" noGrp="1"/>
          </p:cNvSpPr>
          <p:nvPr/>
        </p:nvSpPr>
        <p:spPr>
          <a:xfrm xmlns:a="http://schemas.openxmlformats.org/drawingml/2006/main">
            <a:off x="13906500" y="5810250"/>
            <a:ext cx="29718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MongoDB</a:t>
            </a:r>
          </a:p>
        </p:txBody>
      </p:sp>
      <p:sp>
        <p:nvSpPr>
          <p:cNvPr id="20" name="">
            <a:extLst xmlns:a="http://schemas.openxmlformats.org/drawingml/2006/main">
              <a:ext uri="{FF2B5EF4-FFF2-40B4-BE49-F238E27FC236}">
                <a16:creationId xmlns:a16="http://schemas.microsoft.com/office/drawing/2014/main" id="{37E27A95-7C4F-44D0-82AB-2EA8CA8BBBAD}"/>
              </a:ext>
            </a:extLst>
          </p:cNvPr>
          <p:cNvSpPr>
            <a:spLocks xmlns:a="http://schemas.openxmlformats.org/drawingml/2006/main" noGrp="1"/>
          </p:cNvSpPr>
          <p:nvPr/>
        </p:nvSpPr>
        <p:spPr>
          <a:xfrm xmlns:a="http://schemas.openxmlformats.org/drawingml/2006/main">
            <a:off x="10245090" y="6438900"/>
            <a:ext cx="6804660" cy="609600"/>
          </a:xfrm>
          <a:prstGeom xmlns:a="http://schemas.openxmlformats.org/drawingml/2006/main" prst="roundRect">
            <a:avLst>
              <a:gd name="adj" fmla="val 9375"/>
            </a:avLst>
          </a:prstGeom>
          <a:solidFill xmlns:a="http://schemas.openxmlformats.org/drawingml/2006/main">
            <a:srgbClr val="0EA5E9">
              <a:alpha val="12549"/>
            </a:srgbClr>
          </a:solidFill>
          <a:ln xmlns:a="http://schemas.openxmlformats.org/drawingml/2006/main" w="9525">
            <a:solidFill>
              <a:srgbClr val="0EA5E9">
                <a:alpha val="53333"/>
              </a:srgbClr>
            </a:solidFill>
            <a:prstDash val="solid"/>
          </a:ln>
        </p:spPr>
      </p:sp>
      <p:sp>
        <p:nvSpPr>
          <p:cNvPr id="21" name="">
            <a:extLst xmlns:a="http://schemas.openxmlformats.org/drawingml/2006/main">
              <a:ext uri="{FF2B5EF4-FFF2-40B4-BE49-F238E27FC236}">
                <a16:creationId xmlns:a16="http://schemas.microsoft.com/office/drawing/2014/main" id="{BF117EDB-D924-4206-8B75-F605A03936FF}"/>
              </a:ext>
            </a:extLst>
          </p:cNvPr>
          <p:cNvSpPr>
            <a:spLocks xmlns:a="http://schemas.openxmlformats.org/drawingml/2006/main" noGrp="1"/>
          </p:cNvSpPr>
          <p:nvPr/>
        </p:nvSpPr>
        <p:spPr>
          <a:xfrm xmlns:a="http://schemas.openxmlformats.org/drawingml/2006/main">
            <a:off x="10401300" y="6610350"/>
            <a:ext cx="64770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Docker + GitHub Actions + GHCR</a:t>
            </a:r>
          </a:p>
        </p:txBody>
      </p:sp>
    </p:spTree>
    <p:extLst>
      <p:ext uri="{BB962C8B-B14F-4D97-AF65-F5344CB8AC3E}">
        <p14:creationId xmlns:p14="http://schemas.microsoft.com/office/powerpoint/2010/main" val="1960804085"/>
      </p:ext>
    </p:extLst>
  </p:cSld>
</p:sld>
</file>

<file path=ppt/slides/slide2.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8AA3D1EA-9E51-4EA7-B6D7-FE38969B34C5}"/>
              </a:ext>
            </a:extLst>
          </p:cNvPr>
          <p:cNvSpPr>
            <a:spLocks xmlns:a="http://schemas.openxmlformats.org/drawingml/2006/main" noGrp="1"/>
          </p:cNvSpPr>
          <p:nvPr/>
        </p:nvSpPr>
        <p:spPr>
          <a:xfrm xmlns:a="http://schemas.openxmlformats.org/drawingml/2006/main">
            <a:off x="876300" y="704850"/>
            <a:ext cx="165354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i="0">
                <a:solidFill>
                  <a:srgbClr val="F8FAFC"/>
                </a:solidFill>
              </a:defRPr>
            </a:pPr>
            <a:r>
              <a:rPr sz="4050" b="1" i="0">
                <a:solidFill>
                  <a:srgbClr val="F8FAFC"/>
                </a:solidFill>
              </a:rPr>
              <a:t>Pitch oral - 2 minutes</a:t>
            </a:r>
          </a:p>
        </p:txBody>
      </p:sp>
      <p:sp>
        <p:nvSpPr>
          <p:cNvPr id="2" name="slide-subtitle">
            <a:extLst xmlns:a="http://schemas.openxmlformats.org/drawingml/2006/main">
              <a:ext uri="{FF2B5EF4-FFF2-40B4-BE49-F238E27FC236}">
                <a16:creationId xmlns:a16="http://schemas.microsoft.com/office/drawing/2014/main" id="{8405DA4D-823F-427E-A49E-4CBEC67E392C}"/>
              </a:ext>
            </a:extLst>
          </p:cNvPr>
          <p:cNvSpPr>
            <a:spLocks xmlns:a="http://schemas.openxmlformats.org/drawingml/2006/main" noGrp="1"/>
          </p:cNvSpPr>
          <p:nvPr/>
        </p:nvSpPr>
        <p:spPr>
          <a:xfrm xmlns:a="http://schemas.openxmlformats.org/drawingml/2006/main">
            <a:off x="876300" y="1447800"/>
            <a:ext cx="165354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i="0">
                <a:solidFill>
                  <a:srgbClr val="A7B0C6"/>
                </a:solidFill>
              </a:defRPr>
            </a:pPr>
            <a:r>
              <a:rPr sz="1725" b="0" i="0">
                <a:solidFill>
                  <a:srgbClr val="A7B0C6"/>
                </a:solidFill>
              </a:rPr>
              <a:t>La version complete est dans les notes orales.</a:t>
            </a:r>
          </a:p>
        </p:txBody>
      </p:sp>
      <p:sp>
        <p:nvSpPr>
          <p:cNvPr id="3" name="">
            <a:extLst xmlns:a="http://schemas.openxmlformats.org/drawingml/2006/main">
              <a:ext uri="{FF2B5EF4-FFF2-40B4-BE49-F238E27FC236}">
                <a16:creationId xmlns:a16="http://schemas.microsoft.com/office/drawing/2014/main" id="{3FCAA711-9422-42B4-96B6-2F7616E3B110}"/>
              </a:ext>
            </a:extLst>
          </p:cNvPr>
          <p:cNvSpPr>
            <a:spLocks xmlns:a="http://schemas.openxmlformats.org/drawingml/2006/main" noGrp="1"/>
          </p:cNvSpPr>
          <p:nvPr/>
        </p:nvSpPr>
        <p:spPr>
          <a:xfrm xmlns:a="http://schemas.openxmlformats.org/drawingml/2006/main">
            <a:off x="876300" y="2118360"/>
            <a:ext cx="8134350" cy="3128010"/>
          </a:xfrm>
          <a:prstGeom xmlns:a="http://schemas.openxmlformats.org/drawingml/2006/main" prst="roundRect">
            <a:avLst>
              <a:gd name="adj" fmla="val 1827"/>
            </a:avLst>
          </a:prstGeom>
          <a:solidFill xmlns:a="http://schemas.openxmlformats.org/drawingml/2006/main">
            <a:srgbClr val="10182D"/>
          </a:solidFill>
          <a:ln xmlns:a="http://schemas.openxmlformats.org/drawingml/2006/main" w="9525">
            <a:solidFill>
              <a:srgbClr val="22D3EE">
                <a:alpha val="40000"/>
              </a:srgbClr>
            </a:solidFill>
            <a:prstDash val="solid"/>
          </a:ln>
        </p:spPr>
      </p:sp>
      <p:sp>
        <p:nvSpPr>
          <p:cNvPr id="4" name="">
            <a:extLst xmlns:a="http://schemas.openxmlformats.org/drawingml/2006/main">
              <a:ext uri="{FF2B5EF4-FFF2-40B4-BE49-F238E27FC236}">
                <a16:creationId xmlns:a16="http://schemas.microsoft.com/office/drawing/2014/main" id="{28888E3D-F31E-4FEB-B637-D9451CC49CB3}"/>
              </a:ext>
            </a:extLst>
          </p:cNvPr>
          <p:cNvSpPr>
            <a:spLocks xmlns:a="http://schemas.openxmlformats.org/drawingml/2006/main" noGrp="1"/>
          </p:cNvSpPr>
          <p:nvPr/>
        </p:nvSpPr>
        <p:spPr>
          <a:xfrm xmlns:a="http://schemas.openxmlformats.org/drawingml/2006/main">
            <a:off x="1143000" y="2324100"/>
            <a:ext cx="76009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i="0">
                <a:solidFill>
                  <a:srgbClr val="22D3EE"/>
                </a:solidFill>
              </a:defRPr>
            </a:pPr>
            <a:r>
              <a:rPr sz="1650" b="1" i="0">
                <a:solidFill>
                  <a:srgbClr val="22D3EE"/>
                </a:solidFill>
              </a:rPr>
              <a:t>Produit</a:t>
            </a:r>
          </a:p>
        </p:txBody>
      </p:sp>
      <p:sp>
        <p:nvSpPr>
          <p:cNvPr id="5" name="">
            <a:extLst xmlns:a="http://schemas.openxmlformats.org/drawingml/2006/main">
              <a:ext uri="{FF2B5EF4-FFF2-40B4-BE49-F238E27FC236}">
                <a16:creationId xmlns:a16="http://schemas.microsoft.com/office/drawing/2014/main" id="{7619128B-CB2A-45F3-873E-D4A3BF912C9D}"/>
              </a:ext>
            </a:extLst>
          </p:cNvPr>
          <p:cNvSpPr>
            <a:spLocks xmlns:a="http://schemas.openxmlformats.org/drawingml/2006/main" noGrp="1"/>
          </p:cNvSpPr>
          <p:nvPr/>
        </p:nvSpPr>
        <p:spPr>
          <a:xfrm xmlns:a="http://schemas.openxmlformats.org/drawingml/2006/main">
            <a:off x="1143000" y="2667000"/>
            <a:ext cx="76009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F8FAFC"/>
                </a:solidFill>
              </a:defRPr>
            </a:pPr>
            <a:r>
              <a:rPr sz="1800" b="0" i="0">
                <a:solidFill>
                  <a:srgbClr val="F8FAFC"/>
                </a:solidFill>
              </a:rPr>
              <a:t>EpiTalk : chat temps reel inspire de Discord</a:t>
            </a:r>
          </a:p>
        </p:txBody>
      </p:sp>
      <p:sp>
        <p:nvSpPr>
          <p:cNvPr id="6" name="">
            <a:extLst xmlns:a="http://schemas.openxmlformats.org/drawingml/2006/main">
              <a:ext uri="{FF2B5EF4-FFF2-40B4-BE49-F238E27FC236}">
                <a16:creationId xmlns:a16="http://schemas.microsoft.com/office/drawing/2014/main" id="{37754AFB-180B-4BCA-8666-993816BC592B}"/>
              </a:ext>
            </a:extLst>
          </p:cNvPr>
          <p:cNvSpPr>
            <a:spLocks xmlns:a="http://schemas.openxmlformats.org/drawingml/2006/main" noGrp="1"/>
          </p:cNvSpPr>
          <p:nvPr/>
        </p:nvSpPr>
        <p:spPr>
          <a:xfrm xmlns:a="http://schemas.openxmlformats.org/drawingml/2006/main">
            <a:off x="9277350" y="2118360"/>
            <a:ext cx="8134350" cy="3128010"/>
          </a:xfrm>
          <a:prstGeom xmlns:a="http://schemas.openxmlformats.org/drawingml/2006/main" prst="roundRect">
            <a:avLst>
              <a:gd name="adj" fmla="val 1827"/>
            </a:avLst>
          </a:prstGeom>
          <a:solidFill xmlns:a="http://schemas.openxmlformats.org/drawingml/2006/main">
            <a:srgbClr val="10182D"/>
          </a:solidFill>
          <a:ln xmlns:a="http://schemas.openxmlformats.org/drawingml/2006/main" w="9525">
            <a:solidFill>
              <a:srgbClr val="8B5CF6">
                <a:alpha val="40000"/>
              </a:srgbClr>
            </a:solidFill>
            <a:prstDash val="solid"/>
          </a:ln>
        </p:spPr>
      </p:sp>
      <p:sp>
        <p:nvSpPr>
          <p:cNvPr id="7" name="">
            <a:extLst xmlns:a="http://schemas.openxmlformats.org/drawingml/2006/main">
              <a:ext uri="{FF2B5EF4-FFF2-40B4-BE49-F238E27FC236}">
                <a16:creationId xmlns:a16="http://schemas.microsoft.com/office/drawing/2014/main" id="{F365498B-27BA-402D-AB68-CCE6F0BD23C1}"/>
              </a:ext>
            </a:extLst>
          </p:cNvPr>
          <p:cNvSpPr>
            <a:spLocks xmlns:a="http://schemas.openxmlformats.org/drawingml/2006/main" noGrp="1"/>
          </p:cNvSpPr>
          <p:nvPr/>
        </p:nvSpPr>
        <p:spPr>
          <a:xfrm xmlns:a="http://schemas.openxmlformats.org/drawingml/2006/main">
            <a:off x="9544050" y="2324100"/>
            <a:ext cx="76009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i="0">
                <a:solidFill>
                  <a:srgbClr val="8B5CF6"/>
                </a:solidFill>
              </a:defRPr>
            </a:pPr>
            <a:r>
              <a:rPr sz="1650" b="1" i="0">
                <a:solidFill>
                  <a:srgbClr val="8B5CF6"/>
                </a:solidFill>
              </a:rPr>
              <a:t>Backend</a:t>
            </a:r>
          </a:p>
        </p:txBody>
      </p:sp>
      <p:sp>
        <p:nvSpPr>
          <p:cNvPr id="8" name="">
            <a:extLst xmlns:a="http://schemas.openxmlformats.org/drawingml/2006/main">
              <a:ext uri="{FF2B5EF4-FFF2-40B4-BE49-F238E27FC236}">
                <a16:creationId xmlns:a16="http://schemas.microsoft.com/office/drawing/2014/main" id="{6C98604C-5F2B-4159-899B-FBE70BF625AB}"/>
              </a:ext>
            </a:extLst>
          </p:cNvPr>
          <p:cNvSpPr>
            <a:spLocks xmlns:a="http://schemas.openxmlformats.org/drawingml/2006/main" noGrp="1"/>
          </p:cNvSpPr>
          <p:nvPr/>
        </p:nvSpPr>
        <p:spPr>
          <a:xfrm xmlns:a="http://schemas.openxmlformats.org/drawingml/2006/main">
            <a:off x="9544050" y="2667000"/>
            <a:ext cx="76009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F8FAFC"/>
                </a:solidFill>
              </a:defRPr>
            </a:pPr>
            <a:r>
              <a:rPr sz="1800" b="0" i="0">
                <a:solidFill>
                  <a:srgbClr val="F8FAFC"/>
                </a:solidFill>
              </a:rPr>
              <a:t>Rust / Axum pour performance, securite et WebSocket</a:t>
            </a:r>
          </a:p>
        </p:txBody>
      </p:sp>
      <p:sp>
        <p:nvSpPr>
          <p:cNvPr id="9" name="">
            <a:extLst xmlns:a="http://schemas.openxmlformats.org/drawingml/2006/main">
              <a:ext uri="{FF2B5EF4-FFF2-40B4-BE49-F238E27FC236}">
                <a16:creationId xmlns:a16="http://schemas.microsoft.com/office/drawing/2014/main" id="{A21D70E7-16F6-4DC3-BFC5-359A4E2465CD}"/>
              </a:ext>
            </a:extLst>
          </p:cNvPr>
          <p:cNvSpPr>
            <a:spLocks xmlns:a="http://schemas.openxmlformats.org/drawingml/2006/main" noGrp="1"/>
          </p:cNvSpPr>
          <p:nvPr/>
        </p:nvSpPr>
        <p:spPr>
          <a:xfrm xmlns:a="http://schemas.openxmlformats.org/drawingml/2006/main">
            <a:off x="876300" y="5513070"/>
            <a:ext cx="8134350" cy="3128010"/>
          </a:xfrm>
          <a:prstGeom xmlns:a="http://schemas.openxmlformats.org/drawingml/2006/main" prst="roundRect">
            <a:avLst>
              <a:gd name="adj" fmla="val 1827"/>
            </a:avLst>
          </a:prstGeom>
          <a:solidFill xmlns:a="http://schemas.openxmlformats.org/drawingml/2006/main">
            <a:srgbClr val="10182D"/>
          </a:solidFill>
          <a:ln xmlns:a="http://schemas.openxmlformats.org/drawingml/2006/main" w="9525">
            <a:solidFill>
              <a:srgbClr val="34D399">
                <a:alpha val="40000"/>
              </a:srgbClr>
            </a:solidFill>
            <a:prstDash val="solid"/>
          </a:ln>
        </p:spPr>
      </p:sp>
      <p:sp>
        <p:nvSpPr>
          <p:cNvPr id="10" name="">
            <a:extLst xmlns:a="http://schemas.openxmlformats.org/drawingml/2006/main">
              <a:ext uri="{FF2B5EF4-FFF2-40B4-BE49-F238E27FC236}">
                <a16:creationId xmlns:a16="http://schemas.microsoft.com/office/drawing/2014/main" id="{6DD54BD9-A495-4B05-964B-1DBE415303C6}"/>
              </a:ext>
            </a:extLst>
          </p:cNvPr>
          <p:cNvSpPr>
            <a:spLocks xmlns:a="http://schemas.openxmlformats.org/drawingml/2006/main" noGrp="1"/>
          </p:cNvSpPr>
          <p:nvPr/>
        </p:nvSpPr>
        <p:spPr>
          <a:xfrm xmlns:a="http://schemas.openxmlformats.org/drawingml/2006/main">
            <a:off x="1143000" y="5715000"/>
            <a:ext cx="76009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i="0">
                <a:solidFill>
                  <a:srgbClr val="34D399"/>
                </a:solidFill>
              </a:defRPr>
            </a:pPr>
            <a:r>
              <a:rPr sz="1650" b="1" i="0">
                <a:solidFill>
                  <a:srgbClr val="34D399"/>
                </a:solidFill>
              </a:rPr>
              <a:t>Donnees</a:t>
            </a:r>
          </a:p>
        </p:txBody>
      </p:sp>
      <p:sp>
        <p:nvSpPr>
          <p:cNvPr id="11" name="">
            <a:extLst xmlns:a="http://schemas.openxmlformats.org/drawingml/2006/main">
              <a:ext uri="{FF2B5EF4-FFF2-40B4-BE49-F238E27FC236}">
                <a16:creationId xmlns:a16="http://schemas.microsoft.com/office/drawing/2014/main" id="{F6B81540-890D-4D1E-8521-EDF184BF9FD7}"/>
              </a:ext>
            </a:extLst>
          </p:cNvPr>
          <p:cNvSpPr>
            <a:spLocks xmlns:a="http://schemas.openxmlformats.org/drawingml/2006/main" noGrp="1"/>
          </p:cNvSpPr>
          <p:nvPr/>
        </p:nvSpPr>
        <p:spPr>
          <a:xfrm xmlns:a="http://schemas.openxmlformats.org/drawingml/2006/main">
            <a:off x="1143000" y="6076950"/>
            <a:ext cx="76009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F8FAFC"/>
                </a:solidFill>
              </a:defRPr>
            </a:pPr>
            <a:r>
              <a:rPr sz="1800" b="0" i="0">
                <a:solidFill>
                  <a:srgbClr val="F8FAFC"/>
                </a:solidFill>
              </a:rPr>
              <a:t>PostgreSQL pour le relationnel, MongoDB pour les messages</a:t>
            </a:r>
          </a:p>
        </p:txBody>
      </p:sp>
      <p:sp>
        <p:nvSpPr>
          <p:cNvPr id="12" name="">
            <a:extLst xmlns:a="http://schemas.openxmlformats.org/drawingml/2006/main">
              <a:ext uri="{FF2B5EF4-FFF2-40B4-BE49-F238E27FC236}">
                <a16:creationId xmlns:a16="http://schemas.microsoft.com/office/drawing/2014/main" id="{0EF998D9-2AD3-4AF6-99AD-738229B4463C}"/>
              </a:ext>
            </a:extLst>
          </p:cNvPr>
          <p:cNvSpPr>
            <a:spLocks xmlns:a="http://schemas.openxmlformats.org/drawingml/2006/main" noGrp="1"/>
          </p:cNvSpPr>
          <p:nvPr/>
        </p:nvSpPr>
        <p:spPr>
          <a:xfrm xmlns:a="http://schemas.openxmlformats.org/drawingml/2006/main">
            <a:off x="9277350" y="5513070"/>
            <a:ext cx="8134350" cy="3128010"/>
          </a:xfrm>
          <a:prstGeom xmlns:a="http://schemas.openxmlformats.org/drawingml/2006/main" prst="roundRect">
            <a:avLst>
              <a:gd name="adj" fmla="val 1827"/>
            </a:avLst>
          </a:prstGeom>
          <a:solidFill xmlns:a="http://schemas.openxmlformats.org/drawingml/2006/main">
            <a:srgbClr val="10182D"/>
          </a:solidFill>
          <a:ln xmlns:a="http://schemas.openxmlformats.org/drawingml/2006/main" w="9525">
            <a:solidFill>
              <a:srgbClr val="2F80FF">
                <a:alpha val="40000"/>
              </a:srgbClr>
            </a:solidFill>
            <a:prstDash val="solid"/>
          </a:ln>
        </p:spPr>
      </p:sp>
      <p:sp>
        <p:nvSpPr>
          <p:cNvPr id="13" name="">
            <a:extLst xmlns:a="http://schemas.openxmlformats.org/drawingml/2006/main">
              <a:ext uri="{FF2B5EF4-FFF2-40B4-BE49-F238E27FC236}">
                <a16:creationId xmlns:a16="http://schemas.microsoft.com/office/drawing/2014/main" id="{33732121-15E6-46E7-B650-995905157451}"/>
              </a:ext>
            </a:extLst>
          </p:cNvPr>
          <p:cNvSpPr>
            <a:spLocks xmlns:a="http://schemas.openxmlformats.org/drawingml/2006/main" noGrp="1"/>
          </p:cNvSpPr>
          <p:nvPr/>
        </p:nvSpPr>
        <p:spPr>
          <a:xfrm xmlns:a="http://schemas.openxmlformats.org/drawingml/2006/main">
            <a:off x="9544050" y="5715000"/>
            <a:ext cx="76009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i="0">
                <a:solidFill>
                  <a:srgbClr val="2F80FF"/>
                </a:solidFill>
              </a:defRPr>
            </a:pPr>
            <a:r>
              <a:rPr sz="1650" b="1" i="0">
                <a:solidFill>
                  <a:srgbClr val="2F80FF"/>
                </a:solidFill>
              </a:rPr>
              <a:t>Frontend + Infra</a:t>
            </a:r>
          </a:p>
        </p:txBody>
      </p:sp>
      <p:sp>
        <p:nvSpPr>
          <p:cNvPr id="14" name="">
            <a:extLst xmlns:a="http://schemas.openxmlformats.org/drawingml/2006/main">
              <a:ext uri="{FF2B5EF4-FFF2-40B4-BE49-F238E27FC236}">
                <a16:creationId xmlns:a16="http://schemas.microsoft.com/office/drawing/2014/main" id="{04340F11-86F6-4691-B5B5-68D26A0EA6D3}"/>
              </a:ext>
            </a:extLst>
          </p:cNvPr>
          <p:cNvSpPr>
            <a:spLocks xmlns:a="http://schemas.openxmlformats.org/drawingml/2006/main" noGrp="1"/>
          </p:cNvSpPr>
          <p:nvPr/>
        </p:nvSpPr>
        <p:spPr>
          <a:xfrm xmlns:a="http://schemas.openxmlformats.org/drawingml/2006/main">
            <a:off x="9544050" y="6076950"/>
            <a:ext cx="76009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F8FAFC"/>
                </a:solidFill>
              </a:defRPr>
            </a:pPr>
            <a:r>
              <a:rPr sz="1800" b="0" i="0">
                <a:solidFill>
                  <a:srgbClr val="F8FAFC"/>
                </a:solidFill>
              </a:rPr>
              <a:t>Next.js, TypeScript, Docker, GitHub Actions</a:t>
            </a:r>
          </a:p>
        </p:txBody>
      </p:sp>
      <p:sp>
        <p:nvSpPr>
          <p:cNvPr id="15" name="">
            <a:extLst xmlns:a="http://schemas.openxmlformats.org/drawingml/2006/main">
              <a:ext uri="{FF2B5EF4-FFF2-40B4-BE49-F238E27FC236}">
                <a16:creationId xmlns:a16="http://schemas.microsoft.com/office/drawing/2014/main" id="{1F4CEDA0-EDE2-49D8-9063-38CCDD67E3F9}"/>
              </a:ext>
            </a:extLst>
          </p:cNvPr>
          <p:cNvSpPr>
            <a:spLocks xmlns:a="http://schemas.openxmlformats.org/drawingml/2006/main" noGrp="1"/>
          </p:cNvSpPr>
          <p:nvPr/>
        </p:nvSpPr>
        <p:spPr>
          <a:xfrm xmlns:a="http://schemas.openxmlformats.org/drawingml/2006/main">
            <a:off x="876300" y="9048750"/>
            <a:ext cx="1857375" cy="533400"/>
          </a:xfrm>
          <a:prstGeom xmlns:a="http://schemas.openxmlformats.org/drawingml/2006/main" prst="roundRect">
            <a:avLst>
              <a:gd name="adj" fmla="val 50000"/>
            </a:avLst>
          </a:prstGeom>
          <a:solidFill xmlns:a="http://schemas.openxmlformats.org/drawingml/2006/main">
            <a:srgbClr val="FBBF24">
              <a:alpha val="13333"/>
            </a:srgbClr>
          </a:solidFill>
          <a:ln xmlns:a="http://schemas.openxmlformats.org/drawingml/2006/main" w="9525">
            <a:solidFill>
              <a:srgbClr val="FBBF24">
                <a:alpha val="53333"/>
              </a:srgbClr>
            </a:solidFill>
            <a:prstDash val="solid"/>
          </a:ln>
        </p:spPr>
      </p:sp>
      <p:sp>
        <p:nvSpPr>
          <p:cNvPr id="16" name="">
            <a:extLst xmlns:a="http://schemas.openxmlformats.org/drawingml/2006/main">
              <a:ext uri="{FF2B5EF4-FFF2-40B4-BE49-F238E27FC236}">
                <a16:creationId xmlns:a16="http://schemas.microsoft.com/office/drawing/2014/main" id="{0AFCA821-5117-421A-B9D4-E1A0BF1656E0}"/>
              </a:ext>
            </a:extLst>
          </p:cNvPr>
          <p:cNvSpPr>
            <a:spLocks xmlns:a="http://schemas.openxmlformats.org/drawingml/2006/main" noGrp="1"/>
          </p:cNvSpPr>
          <p:nvPr/>
        </p:nvSpPr>
        <p:spPr>
          <a:xfrm xmlns:a="http://schemas.openxmlformats.org/drawingml/2006/main">
            <a:off x="1047750" y="9124950"/>
            <a:ext cx="15240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i="0">
                <a:solidFill>
                  <a:srgbClr val="FBBF24"/>
                </a:solidFill>
              </a:defRPr>
            </a:pPr>
            <a:r>
              <a:rPr sz="1275" b="1" i="0">
                <a:solidFill>
                  <a:srgbClr val="FBBF24"/>
                </a:solidFill>
              </a:rPr>
              <a:t>A apprendre par coeur</a:t>
            </a:r>
          </a:p>
        </p:txBody>
      </p:sp>
      <p:sp>
        <p:nvSpPr>
          <p:cNvPr id="17" name="">
            <a:extLst xmlns:a="http://schemas.openxmlformats.org/drawingml/2006/main">
              <a:ext uri="{FF2B5EF4-FFF2-40B4-BE49-F238E27FC236}">
                <a16:creationId xmlns:a16="http://schemas.microsoft.com/office/drawing/2014/main" id="{188C8C1B-CFE4-48B2-BD11-B5D4AA95EC54}"/>
              </a:ext>
            </a:extLst>
          </p:cNvPr>
          <p:cNvSpPr>
            <a:spLocks xmlns:a="http://schemas.openxmlformats.org/drawingml/2006/main" noGrp="1"/>
          </p:cNvSpPr>
          <p:nvPr/>
        </p:nvSpPr>
        <p:spPr>
          <a:xfrm xmlns:a="http://schemas.openxmlformats.org/drawingml/2006/main">
            <a:off x="12420600" y="9220200"/>
            <a:ext cx="49911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i="0">
                <a:solidFill>
                  <a:srgbClr val="667085"/>
                </a:solidFill>
              </a:defRPr>
            </a:pPr>
            <a:r>
              <a:rPr sz="1350" b="0" i="0">
                <a:solidFill>
                  <a:srgbClr val="667085"/>
                </a:solidFill>
              </a:rPr>
              <a:t>Plan : vision -&gt; architecture -&gt; couches -&gt; qualite -&gt; limites -&gt; conclusion</a:t>
            </a:r>
          </a:p>
        </p:txBody>
      </p:sp>
    </p:spTree>
    <p:extLst>
      <p:ext uri="{BB962C8B-B14F-4D97-AF65-F5344CB8AC3E}">
        <p14:creationId xmlns:p14="http://schemas.microsoft.com/office/powerpoint/2010/main" val="310258184"/>
      </p:ext>
    </p:extLst>
  </p:cSld>
</p:sld>
</file>

<file path=ppt/slides/slide3.xml><?xml version="1.0" encoding="utf-8"?>
<p:sld xmlns:p="http://schemas.openxmlformats.org/presentationml/2006/main">
  <p:cSld>
    <p:bg>
      <p:bgPr>
        <a:solidFill xmlns:a="http://schemas.openxmlformats.org/drawingml/2006/main">
          <a:srgbClr val="060A16"/>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0A0A09CB-5474-4CD2-A4F2-2AFCDBD463A5}"/>
              </a:ext>
            </a:extLst>
          </p:cNvPr>
          <p:cNvSpPr>
            <a:spLocks xmlns:a="http://schemas.openxmlformats.org/drawingml/2006/main" noGrp="1"/>
          </p:cNvSpPr>
          <p:nvPr/>
        </p:nvSpPr>
        <p:spPr>
          <a:xfrm xmlns:a="http://schemas.openxmlformats.org/drawingml/2006/main">
            <a:off x="876300" y="704850"/>
            <a:ext cx="165354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i="0">
                <a:solidFill>
                  <a:srgbClr val="F8FAFC"/>
                </a:solidFill>
              </a:defRPr>
            </a:pPr>
            <a:r>
              <a:rPr sz="4050" b="1" i="0">
                <a:solidFill>
                  <a:srgbClr val="F8FAFC"/>
                </a:solidFill>
              </a:rPr>
              <a:t>Vision du projet</a:t>
            </a:r>
          </a:p>
        </p:txBody>
      </p:sp>
      <p:sp>
        <p:nvSpPr>
          <p:cNvPr id="2" name="slide-subtitle">
            <a:extLst xmlns:a="http://schemas.openxmlformats.org/drawingml/2006/main">
              <a:ext uri="{FF2B5EF4-FFF2-40B4-BE49-F238E27FC236}">
                <a16:creationId xmlns:a16="http://schemas.microsoft.com/office/drawing/2014/main" id="{3013C021-1911-4135-AE98-F29EEFC0CD9C}"/>
              </a:ext>
            </a:extLst>
          </p:cNvPr>
          <p:cNvSpPr>
            <a:spLocks xmlns:a="http://schemas.openxmlformats.org/drawingml/2006/main" noGrp="1"/>
          </p:cNvSpPr>
          <p:nvPr/>
        </p:nvSpPr>
        <p:spPr>
          <a:xfrm xmlns:a="http://schemas.openxmlformats.org/drawingml/2006/main">
            <a:off x="876300" y="1447800"/>
            <a:ext cx="165354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i="0">
                <a:solidFill>
                  <a:srgbClr val="A7B0C6"/>
                </a:solidFill>
              </a:defRPr>
            </a:pPr>
            <a:r>
              <a:rPr sz="1725" b="0" i="0">
                <a:solidFill>
                  <a:srgbClr val="A7B0C6"/>
                </a:solidFill>
              </a:rPr>
              <a:t>Une plateforme de communication temps reel, inspiree de Discord.</a:t>
            </a:r>
          </a:p>
        </p:txBody>
      </p:sp>
      <p:sp>
        <p:nvSpPr>
          <p:cNvPr id="3" name="">
            <a:extLst xmlns:a="http://schemas.openxmlformats.org/drawingml/2006/main">
              <a:ext uri="{FF2B5EF4-FFF2-40B4-BE49-F238E27FC236}">
                <a16:creationId xmlns:a16="http://schemas.microsoft.com/office/drawing/2014/main" id="{A5013114-38A7-44F0-8535-9B4CEDD3EA42}"/>
              </a:ext>
            </a:extLst>
          </p:cNvPr>
          <p:cNvSpPr>
            <a:spLocks xmlns:a="http://schemas.openxmlformats.org/drawingml/2006/main" noGrp="1"/>
          </p:cNvSpPr>
          <p:nvPr/>
        </p:nvSpPr>
        <p:spPr>
          <a:xfrm xmlns:a="http://schemas.openxmlformats.org/drawingml/2006/main">
            <a:off x="876300" y="4629150"/>
            <a:ext cx="7791450" cy="990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225" b="1" i="0">
                <a:solidFill>
                  <a:srgbClr val="F8FAFC"/>
                </a:solidFill>
              </a:defRPr>
            </a:pPr>
            <a:r>
              <a:rPr sz="3225" b="1" i="0">
                <a:solidFill>
                  <a:srgbClr val="F8FAFC"/>
                </a:solidFill>
              </a:rPr>
              <a:t>EpiTalk centralise les echanges autour de serveurs, canaux, DMs et presence.</a:t>
            </a:r>
          </a:p>
        </p:txBody>
      </p:sp>
      <p:sp>
        <p:nvSpPr>
          <p:cNvPr id="4" name="">
            <a:extLst xmlns:a="http://schemas.openxmlformats.org/drawingml/2006/main">
              <a:ext uri="{FF2B5EF4-FFF2-40B4-BE49-F238E27FC236}">
                <a16:creationId xmlns:a16="http://schemas.microsoft.com/office/drawing/2014/main" id="{59BAAC10-4609-489B-BAF7-8C004008E35E}"/>
              </a:ext>
            </a:extLst>
          </p:cNvPr>
          <p:cNvSpPr>
            <a:spLocks xmlns:a="http://schemas.openxmlformats.org/drawingml/2006/main" noGrp="1"/>
          </p:cNvSpPr>
          <p:nvPr/>
        </p:nvSpPr>
        <p:spPr>
          <a:xfrm xmlns:a="http://schemas.openxmlformats.org/drawingml/2006/main">
            <a:off x="876300" y="5829300"/>
            <a:ext cx="779145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i="0">
                <a:solidFill>
                  <a:srgbClr val="A7B0C6"/>
                </a:solidFill>
              </a:defRPr>
            </a:pPr>
            <a:r>
              <a:rPr sz="1950" b="0" i="0">
                <a:solidFill>
                  <a:srgbClr val="A7B0C6"/>
                </a:solidFill>
              </a:rPr>
              <a:t>La stack est orientee interaction instantanee, robustesse et maintenabilite.</a:t>
            </a:r>
          </a:p>
        </p:txBody>
      </p:sp>
      <p:sp>
        <p:nvSpPr>
          <p:cNvPr id="5" name="">
            <a:extLst xmlns:a="http://schemas.openxmlformats.org/drawingml/2006/main">
              <a:ext uri="{FF2B5EF4-FFF2-40B4-BE49-F238E27FC236}">
                <a16:creationId xmlns:a16="http://schemas.microsoft.com/office/drawing/2014/main" id="{FE2DFFF7-AC8A-47DA-B5F9-BD468DE8CA66}"/>
              </a:ext>
            </a:extLst>
          </p:cNvPr>
          <p:cNvSpPr>
            <a:spLocks xmlns:a="http://schemas.openxmlformats.org/drawingml/2006/main" noGrp="1"/>
          </p:cNvSpPr>
          <p:nvPr/>
        </p:nvSpPr>
        <p:spPr>
          <a:xfrm xmlns:a="http://schemas.openxmlformats.org/drawingml/2006/main">
            <a:off x="9220200" y="4514850"/>
            <a:ext cx="104775" cy="104775"/>
          </a:xfrm>
          <a:prstGeom xmlns:a="http://schemas.openxmlformats.org/drawingml/2006/main" prst="ellipse">
            <a:avLst/>
          </a:prstGeom>
          <a:solidFill xmlns:a="http://schemas.openxmlformats.org/drawingml/2006/main">
            <a:srgbClr val="2F80FF"/>
          </a:solidFill>
          <a:ln xmlns:a="http://schemas.openxmlformats.org/drawingml/2006/main" w="0">
            <a:solidFill>
              <a:srgbClr val="2F80FF"/>
            </a:solidFill>
            <a:prstDash val="solid"/>
          </a:ln>
        </p:spPr>
      </p:sp>
      <p:sp>
        <p:nvSpPr>
          <p:cNvPr id="6" name="">
            <a:extLst xmlns:a="http://schemas.openxmlformats.org/drawingml/2006/main">
              <a:ext uri="{FF2B5EF4-FFF2-40B4-BE49-F238E27FC236}">
                <a16:creationId xmlns:a16="http://schemas.microsoft.com/office/drawing/2014/main" id="{F509654F-F8B2-4586-AEA0-B5045DC87EAE}"/>
              </a:ext>
            </a:extLst>
          </p:cNvPr>
          <p:cNvSpPr>
            <a:spLocks xmlns:a="http://schemas.openxmlformats.org/drawingml/2006/main" noGrp="1"/>
          </p:cNvSpPr>
          <p:nvPr/>
        </p:nvSpPr>
        <p:spPr>
          <a:xfrm xmlns:a="http://schemas.openxmlformats.org/drawingml/2006/main">
            <a:off x="9467850" y="4514850"/>
            <a:ext cx="79438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Serveurs, canaux et messages directs</a:t>
            </a:r>
          </a:p>
        </p:txBody>
      </p:sp>
      <p:sp>
        <p:nvSpPr>
          <p:cNvPr id="7" name="">
            <a:extLst xmlns:a="http://schemas.openxmlformats.org/drawingml/2006/main">
              <a:ext uri="{FF2B5EF4-FFF2-40B4-BE49-F238E27FC236}">
                <a16:creationId xmlns:a16="http://schemas.microsoft.com/office/drawing/2014/main" id="{7EAC435B-A4EB-42C4-9E8D-8183BD45C898}"/>
              </a:ext>
            </a:extLst>
          </p:cNvPr>
          <p:cNvSpPr>
            <a:spLocks xmlns:a="http://schemas.openxmlformats.org/drawingml/2006/main" noGrp="1"/>
          </p:cNvSpPr>
          <p:nvPr/>
        </p:nvSpPr>
        <p:spPr>
          <a:xfrm xmlns:a="http://schemas.openxmlformats.org/drawingml/2006/main">
            <a:off x="9220200" y="4991100"/>
            <a:ext cx="104775" cy="104775"/>
          </a:xfrm>
          <a:prstGeom xmlns:a="http://schemas.openxmlformats.org/drawingml/2006/main" prst="ellipse">
            <a:avLst/>
          </a:prstGeom>
          <a:solidFill xmlns:a="http://schemas.openxmlformats.org/drawingml/2006/main">
            <a:srgbClr val="8B5CF6"/>
          </a:solidFill>
          <a:ln xmlns:a="http://schemas.openxmlformats.org/drawingml/2006/main" w="0">
            <a:solidFill>
              <a:srgbClr val="8B5CF6"/>
            </a:solidFill>
            <a:prstDash val="solid"/>
          </a:ln>
        </p:spPr>
      </p:sp>
      <p:sp>
        <p:nvSpPr>
          <p:cNvPr id="8" name="">
            <a:extLst xmlns:a="http://schemas.openxmlformats.org/drawingml/2006/main">
              <a:ext uri="{FF2B5EF4-FFF2-40B4-BE49-F238E27FC236}">
                <a16:creationId xmlns:a16="http://schemas.microsoft.com/office/drawing/2014/main" id="{3C8E9BC1-AA56-49C1-AC4D-CB79295FF279}"/>
              </a:ext>
            </a:extLst>
          </p:cNvPr>
          <p:cNvSpPr>
            <a:spLocks xmlns:a="http://schemas.openxmlformats.org/drawingml/2006/main" noGrp="1"/>
          </p:cNvSpPr>
          <p:nvPr/>
        </p:nvSpPr>
        <p:spPr>
          <a:xfrm xmlns:a="http://schemas.openxmlformats.org/drawingml/2006/main">
            <a:off x="9467850" y="4991100"/>
            <a:ext cx="79438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Messages, reactions, pins et historique</a:t>
            </a:r>
          </a:p>
        </p:txBody>
      </p:sp>
      <p:sp>
        <p:nvSpPr>
          <p:cNvPr id="9" name="">
            <a:extLst xmlns:a="http://schemas.openxmlformats.org/drawingml/2006/main">
              <a:ext uri="{FF2B5EF4-FFF2-40B4-BE49-F238E27FC236}">
                <a16:creationId xmlns:a16="http://schemas.microsoft.com/office/drawing/2014/main" id="{D4A985E8-E2F7-41A5-8A27-AE978C2E9AD6}"/>
              </a:ext>
            </a:extLst>
          </p:cNvPr>
          <p:cNvSpPr>
            <a:spLocks xmlns:a="http://schemas.openxmlformats.org/drawingml/2006/main" noGrp="1"/>
          </p:cNvSpPr>
          <p:nvPr/>
        </p:nvSpPr>
        <p:spPr>
          <a:xfrm xmlns:a="http://schemas.openxmlformats.org/drawingml/2006/main">
            <a:off x="9220200" y="5467350"/>
            <a:ext cx="104775" cy="104775"/>
          </a:xfrm>
          <a:prstGeom xmlns:a="http://schemas.openxmlformats.org/drawingml/2006/main" prst="ellipse">
            <a:avLst/>
          </a:prstGeom>
          <a:solidFill xmlns:a="http://schemas.openxmlformats.org/drawingml/2006/main">
            <a:srgbClr val="22D3EE"/>
          </a:solidFill>
          <a:ln xmlns:a="http://schemas.openxmlformats.org/drawingml/2006/main" w="0">
            <a:solidFill>
              <a:srgbClr val="22D3EE"/>
            </a:solidFill>
            <a:prstDash val="solid"/>
          </a:ln>
        </p:spPr>
      </p:sp>
      <p:sp>
        <p:nvSpPr>
          <p:cNvPr id="10" name="">
            <a:extLst xmlns:a="http://schemas.openxmlformats.org/drawingml/2006/main">
              <a:ext uri="{FF2B5EF4-FFF2-40B4-BE49-F238E27FC236}">
                <a16:creationId xmlns:a16="http://schemas.microsoft.com/office/drawing/2014/main" id="{94F1ED24-D149-48A1-94B2-6FB97A9413AE}"/>
              </a:ext>
            </a:extLst>
          </p:cNvPr>
          <p:cNvSpPr>
            <a:spLocks xmlns:a="http://schemas.openxmlformats.org/drawingml/2006/main" noGrp="1"/>
          </p:cNvSpPr>
          <p:nvPr/>
        </p:nvSpPr>
        <p:spPr>
          <a:xfrm xmlns:a="http://schemas.openxmlformats.org/drawingml/2006/main">
            <a:off x="9467850" y="5467350"/>
            <a:ext cx="79438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Typing et presence utilisateur en temps reel</a:t>
            </a:r>
          </a:p>
        </p:txBody>
      </p:sp>
      <p:sp>
        <p:nvSpPr>
          <p:cNvPr id="11" name="">
            <a:extLst xmlns:a="http://schemas.openxmlformats.org/drawingml/2006/main">
              <a:ext uri="{FF2B5EF4-FFF2-40B4-BE49-F238E27FC236}">
                <a16:creationId xmlns:a16="http://schemas.microsoft.com/office/drawing/2014/main" id="{F6169A51-97B1-4481-BE2D-25BB518ABEC6}"/>
              </a:ext>
            </a:extLst>
          </p:cNvPr>
          <p:cNvSpPr>
            <a:spLocks xmlns:a="http://schemas.openxmlformats.org/drawingml/2006/main" noGrp="1"/>
          </p:cNvSpPr>
          <p:nvPr/>
        </p:nvSpPr>
        <p:spPr>
          <a:xfrm xmlns:a="http://schemas.openxmlformats.org/drawingml/2006/main">
            <a:off x="9220200" y="5943600"/>
            <a:ext cx="104775" cy="10477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12" name="">
            <a:extLst xmlns:a="http://schemas.openxmlformats.org/drawingml/2006/main">
              <a:ext uri="{FF2B5EF4-FFF2-40B4-BE49-F238E27FC236}">
                <a16:creationId xmlns:a16="http://schemas.microsoft.com/office/drawing/2014/main" id="{92B5A64D-955F-471F-8401-33862BF59BC4}"/>
              </a:ext>
            </a:extLst>
          </p:cNvPr>
          <p:cNvSpPr>
            <a:spLocks xmlns:a="http://schemas.openxmlformats.org/drawingml/2006/main" noGrp="1"/>
          </p:cNvSpPr>
          <p:nvPr/>
        </p:nvSpPr>
        <p:spPr>
          <a:xfrm xmlns:a="http://schemas.openxmlformats.org/drawingml/2006/main">
            <a:off x="9467850" y="5943600"/>
            <a:ext cx="79438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Client web + client desktop Electron</a:t>
            </a:r>
          </a:p>
        </p:txBody>
      </p:sp>
      <p:sp>
        <p:nvSpPr>
          <p:cNvPr id="13" name="">
            <a:extLst xmlns:a="http://schemas.openxmlformats.org/drawingml/2006/main">
              <a:ext uri="{FF2B5EF4-FFF2-40B4-BE49-F238E27FC236}">
                <a16:creationId xmlns:a16="http://schemas.microsoft.com/office/drawing/2014/main" id="{98354266-EE4C-4777-AC1F-8ED782AA4928}"/>
              </a:ext>
            </a:extLst>
          </p:cNvPr>
          <p:cNvSpPr>
            <a:spLocks xmlns:a="http://schemas.openxmlformats.org/drawingml/2006/main" noGrp="1"/>
          </p:cNvSpPr>
          <p:nvPr/>
        </p:nvSpPr>
        <p:spPr>
          <a:xfrm xmlns:a="http://schemas.openxmlformats.org/drawingml/2006/main">
            <a:off x="876300" y="9041130"/>
            <a:ext cx="2477643" cy="541020"/>
          </a:xfrm>
          <a:prstGeom xmlns:a="http://schemas.openxmlformats.org/drawingml/2006/main" prst="roundRect">
            <a:avLst>
              <a:gd name="adj" fmla="val 50000"/>
            </a:avLst>
          </a:prstGeom>
          <a:solidFill xmlns:a="http://schemas.openxmlformats.org/drawingml/2006/main">
            <a:srgbClr val="2F80FF">
              <a:alpha val="13333"/>
            </a:srgbClr>
          </a:solidFill>
          <a:ln xmlns:a="http://schemas.openxmlformats.org/drawingml/2006/main" w="9525">
            <a:solidFill>
              <a:srgbClr val="2F80FF">
                <a:alpha val="53333"/>
              </a:srgbClr>
            </a:solidFill>
            <a:prstDash val="solid"/>
          </a:ln>
        </p:spPr>
      </p:sp>
      <p:sp>
        <p:nvSpPr>
          <p:cNvPr id="14" name="">
            <a:extLst xmlns:a="http://schemas.openxmlformats.org/drawingml/2006/main">
              <a:ext uri="{FF2B5EF4-FFF2-40B4-BE49-F238E27FC236}">
                <a16:creationId xmlns:a16="http://schemas.microsoft.com/office/drawing/2014/main" id="{E2503B0E-0BCD-4252-8599-D8AFEE6AD45E}"/>
              </a:ext>
            </a:extLst>
          </p:cNvPr>
          <p:cNvSpPr>
            <a:spLocks xmlns:a="http://schemas.openxmlformats.org/drawingml/2006/main" noGrp="1"/>
          </p:cNvSpPr>
          <p:nvPr/>
        </p:nvSpPr>
        <p:spPr>
          <a:xfrm xmlns:a="http://schemas.openxmlformats.org/drawingml/2006/main">
            <a:off x="1047750" y="9124950"/>
            <a:ext cx="21336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i="0">
                <a:solidFill>
                  <a:srgbClr val="2F80FF"/>
                </a:solidFill>
              </a:defRPr>
            </a:pPr>
            <a:r>
              <a:rPr sz="1275" b="1" i="0">
                <a:solidFill>
                  <a:srgbClr val="2F80FF"/>
                </a:solidFill>
              </a:rPr>
              <a:t>Objectif : experience chat fluide</a:t>
            </a:r>
          </a:p>
        </p:txBody>
      </p:sp>
      <p:sp>
        <p:nvSpPr>
          <p:cNvPr id="15" name="">
            <a:extLst xmlns:a="http://schemas.openxmlformats.org/drawingml/2006/main">
              <a:ext uri="{FF2B5EF4-FFF2-40B4-BE49-F238E27FC236}">
                <a16:creationId xmlns:a16="http://schemas.microsoft.com/office/drawing/2014/main" id="{402F99DE-E200-433F-8ADC-5FF8997B57BD}"/>
              </a:ext>
            </a:extLst>
          </p:cNvPr>
          <p:cNvSpPr>
            <a:spLocks xmlns:a="http://schemas.openxmlformats.org/drawingml/2006/main" noGrp="1"/>
          </p:cNvSpPr>
          <p:nvPr/>
        </p:nvSpPr>
        <p:spPr>
          <a:xfrm xmlns:a="http://schemas.openxmlformats.org/drawingml/2006/main">
            <a:off x="15068550" y="9048750"/>
            <a:ext cx="23431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b="0" i="0">
                <a:solidFill>
                  <a:srgbClr val="667085"/>
                </a:solidFill>
              </a:defRPr>
            </a:pPr>
            <a:r>
              <a:rPr sz="1050" b="0" i="0">
                <a:solidFill>
                  <a:srgbClr val="667085"/>
                </a:solidFill>
              </a:rPr>
              <a:t>Source : PRESENTATION_STACK_PROJET.md</a:t>
            </a:r>
          </a:p>
        </p:txBody>
      </p:sp>
    </p:spTree>
    <p:extLst>
      <p:ext uri="{BB962C8B-B14F-4D97-AF65-F5344CB8AC3E}">
        <p14:creationId xmlns:p14="http://schemas.microsoft.com/office/powerpoint/2010/main" val="1991561759"/>
      </p:ext>
    </p:extLst>
  </p:cSld>
</p:sld>
</file>

<file path=ppt/slides/slide4.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25EDF611-7B3D-48AF-9F36-B825F7CC90A9}"/>
              </a:ext>
            </a:extLst>
          </p:cNvPr>
          <p:cNvSpPr>
            <a:spLocks xmlns:a="http://schemas.openxmlformats.org/drawingml/2006/main" noGrp="1"/>
          </p:cNvSpPr>
          <p:nvPr/>
        </p:nvSpPr>
        <p:spPr>
          <a:xfrm xmlns:a="http://schemas.openxmlformats.org/drawingml/2006/main">
            <a:off x="876300" y="666750"/>
            <a:ext cx="165354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i="0">
                <a:solidFill>
                  <a:srgbClr val="F8FAFC"/>
                </a:solidFill>
              </a:defRPr>
            </a:pPr>
            <a:r>
              <a:rPr sz="4050" b="1" i="0">
                <a:solidFill>
                  <a:srgbClr val="F8FAFC"/>
                </a:solidFill>
              </a:rPr>
              <a:t>Architecture globale</a:t>
            </a:r>
          </a:p>
        </p:txBody>
      </p:sp>
      <p:sp>
        <p:nvSpPr>
          <p:cNvPr id="2" name="slide-subtitle">
            <a:extLst xmlns:a="http://schemas.openxmlformats.org/drawingml/2006/main">
              <a:ext uri="{FF2B5EF4-FFF2-40B4-BE49-F238E27FC236}">
                <a16:creationId xmlns:a16="http://schemas.microsoft.com/office/drawing/2014/main" id="{03257633-EAF7-4D99-AE3D-DD754DBFCCB4}"/>
              </a:ext>
            </a:extLst>
          </p:cNvPr>
          <p:cNvSpPr>
            <a:spLocks xmlns:a="http://schemas.openxmlformats.org/drawingml/2006/main" noGrp="1"/>
          </p:cNvSpPr>
          <p:nvPr/>
        </p:nvSpPr>
        <p:spPr>
          <a:xfrm xmlns:a="http://schemas.openxmlformats.org/drawingml/2006/main">
            <a:off x="876300" y="1409700"/>
            <a:ext cx="165354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i="0">
                <a:solidFill>
                  <a:srgbClr val="A7B0C6"/>
                </a:solidFill>
              </a:defRPr>
            </a:pPr>
            <a:r>
              <a:rPr sz="1725" b="0" i="0">
                <a:solidFill>
                  <a:srgbClr val="A7B0C6"/>
                </a:solidFill>
              </a:rPr>
              <a:t>REST structure les donnees. WebSocket porte le temps reel.</a:t>
            </a:r>
          </a:p>
        </p:txBody>
      </p:sp>
      <p:sp>
        <p:nvSpPr>
          <p:cNvPr id="3" name="">
            <a:extLst xmlns:a="http://schemas.openxmlformats.org/drawingml/2006/main">
              <a:ext uri="{FF2B5EF4-FFF2-40B4-BE49-F238E27FC236}">
                <a16:creationId xmlns:a16="http://schemas.microsoft.com/office/drawing/2014/main" id="{800A7A1E-7D6A-4A26-A494-C43F91A969F8}"/>
              </a:ext>
            </a:extLst>
          </p:cNvPr>
          <p:cNvSpPr>
            <a:spLocks xmlns:a="http://schemas.openxmlformats.org/drawingml/2006/main" noGrp="1"/>
          </p:cNvSpPr>
          <p:nvPr/>
        </p:nvSpPr>
        <p:spPr>
          <a:xfrm xmlns:a="http://schemas.openxmlformats.org/drawingml/2006/main">
            <a:off x="876300" y="4402455"/>
            <a:ext cx="4464676" cy="1954530"/>
          </a:xfrm>
          <a:prstGeom xmlns:a="http://schemas.openxmlformats.org/drawingml/2006/main" prst="roundRect">
            <a:avLst>
              <a:gd name="adj" fmla="val 2924"/>
            </a:avLst>
          </a:prstGeom>
          <a:solidFill xmlns:a="http://schemas.openxmlformats.org/drawingml/2006/main">
            <a:srgbClr val="10182D"/>
          </a:solidFill>
          <a:ln xmlns:a="http://schemas.openxmlformats.org/drawingml/2006/main" w="9525">
            <a:solidFill>
              <a:srgbClr val="2F80FF">
                <a:alpha val="40000"/>
              </a:srgbClr>
            </a:solidFill>
            <a:prstDash val="solid"/>
          </a:ln>
        </p:spPr>
      </p:sp>
      <p:sp>
        <p:nvSpPr>
          <p:cNvPr id="4" name="">
            <a:extLst xmlns:a="http://schemas.openxmlformats.org/drawingml/2006/main">
              <a:ext uri="{FF2B5EF4-FFF2-40B4-BE49-F238E27FC236}">
                <a16:creationId xmlns:a16="http://schemas.microsoft.com/office/drawing/2014/main" id="{174A9635-57FB-4486-A66D-755D8776C279}"/>
              </a:ext>
            </a:extLst>
          </p:cNvPr>
          <p:cNvSpPr>
            <a:spLocks xmlns:a="http://schemas.openxmlformats.org/drawingml/2006/main" noGrp="1"/>
          </p:cNvSpPr>
          <p:nvPr/>
        </p:nvSpPr>
        <p:spPr>
          <a:xfrm xmlns:a="http://schemas.openxmlformats.org/drawingml/2006/main">
            <a:off x="1143000" y="4610100"/>
            <a:ext cx="39243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i="0">
                <a:solidFill>
                  <a:srgbClr val="2F80FF"/>
                </a:solidFill>
              </a:defRPr>
            </a:pPr>
            <a:r>
              <a:rPr sz="1650" b="1" i="0">
                <a:solidFill>
                  <a:srgbClr val="2F80FF"/>
                </a:solidFill>
              </a:rPr>
              <a:t>Client</a:t>
            </a:r>
          </a:p>
        </p:txBody>
      </p:sp>
      <p:sp>
        <p:nvSpPr>
          <p:cNvPr id="5" name="">
            <a:extLst xmlns:a="http://schemas.openxmlformats.org/drawingml/2006/main">
              <a:ext uri="{FF2B5EF4-FFF2-40B4-BE49-F238E27FC236}">
                <a16:creationId xmlns:a16="http://schemas.microsoft.com/office/drawing/2014/main" id="{B39840E9-781F-4902-9AE9-11868F12BC27}"/>
              </a:ext>
            </a:extLst>
          </p:cNvPr>
          <p:cNvSpPr>
            <a:spLocks xmlns:a="http://schemas.openxmlformats.org/drawingml/2006/main" noGrp="1"/>
          </p:cNvSpPr>
          <p:nvPr/>
        </p:nvSpPr>
        <p:spPr>
          <a:xfrm xmlns:a="http://schemas.openxmlformats.org/drawingml/2006/main">
            <a:off x="1143000" y="4953000"/>
            <a:ext cx="392430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i="0">
                <a:solidFill>
                  <a:srgbClr val="F8FAFC"/>
                </a:solidFill>
              </a:defRPr>
            </a:pPr>
            <a:r>
              <a:rPr sz="1950" b="0" i="0">
                <a:solidFill>
                  <a:srgbClr val="F8FAFC"/>
                </a:solidFill>
              </a:rPr>
              <a:t>Next.js 16</a:t>
            </a:r>
          </a:p>
          <a:p xmlns:a="http://schemas.openxmlformats.org/drawingml/2006/main">
            <a:pPr>
              <a:defRPr sz="1950" b="0" i="0">
                <a:solidFill>
                  <a:srgbClr val="F8FAFC"/>
                </a:solidFill>
              </a:defRPr>
            </a:pPr>
            <a:r>
              <a:rPr sz="1950" b="0" i="0">
                <a:solidFill>
                  <a:srgbClr val="F8FAFC"/>
                </a:solidFill>
              </a:rPr>
              <a:t>React 19</a:t>
            </a:r>
          </a:p>
          <a:p xmlns:a="http://schemas.openxmlformats.org/drawingml/2006/main">
            <a:pPr>
              <a:defRPr sz="1950" b="0" i="0">
                <a:solidFill>
                  <a:srgbClr val="F8FAFC"/>
                </a:solidFill>
              </a:defRPr>
            </a:pPr>
            <a:r>
              <a:rPr sz="1950" b="0" i="0">
                <a:solidFill>
                  <a:srgbClr val="F8FAFC"/>
                </a:solidFill>
              </a:rPr>
              <a:t>TypeScript</a:t>
            </a:r>
          </a:p>
          <a:p xmlns:a="http://schemas.openxmlformats.org/drawingml/2006/main">
            <a:pPr>
              <a:defRPr sz="1950" b="0" i="0">
                <a:solidFill>
                  <a:srgbClr val="F8FAFC"/>
                </a:solidFill>
              </a:defRPr>
            </a:pPr>
            <a:r>
              <a:rPr sz="1950" b="0" i="0">
                <a:solidFill>
                  <a:srgbClr val="F8FAFC"/>
                </a:solidFill>
              </a:rPr>
              <a:t>Electron</a:t>
            </a:r>
          </a:p>
        </p:txBody>
      </p:sp>
      <p:sp>
        <p:nvSpPr>
          <p:cNvPr id="6" name="">
            <a:extLst xmlns:a="http://schemas.openxmlformats.org/drawingml/2006/main">
              <a:ext uri="{FF2B5EF4-FFF2-40B4-BE49-F238E27FC236}">
                <a16:creationId xmlns:a16="http://schemas.microsoft.com/office/drawing/2014/main" id="{F10D0DA6-0088-4C2F-A168-6DB7916ADF99}"/>
              </a:ext>
            </a:extLst>
          </p:cNvPr>
          <p:cNvSpPr>
            <a:spLocks xmlns:a="http://schemas.openxmlformats.org/drawingml/2006/main" noGrp="1"/>
          </p:cNvSpPr>
          <p:nvPr/>
        </p:nvSpPr>
        <p:spPr>
          <a:xfrm xmlns:a="http://schemas.openxmlformats.org/drawingml/2006/main">
            <a:off x="5638800" y="5010150"/>
            <a:ext cx="419100" cy="762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i="0">
                <a:solidFill>
                  <a:srgbClr val="22D3EE"/>
                </a:solidFill>
              </a:defRPr>
            </a:pPr>
            <a:r>
              <a:rPr sz="1650" b="1" i="0">
                <a:solidFill>
                  <a:srgbClr val="22D3EE"/>
                </a:solidFill>
              </a:rPr>
              <a:t>REST</a:t>
            </a:r>
          </a:p>
          <a:p xmlns:a="http://schemas.openxmlformats.org/drawingml/2006/main">
            <a:pPr>
              <a:defRPr sz="1650" b="1" i="0">
                <a:solidFill>
                  <a:srgbClr val="22D3EE"/>
                </a:solidFill>
              </a:defRPr>
            </a:pPr>
            <a:r>
              <a:rPr sz="1650" b="1" i="0">
                <a:solidFill>
                  <a:srgbClr val="22D3EE"/>
                </a:solidFill>
              </a:rPr>
              <a:t>+</a:t>
            </a:r>
          </a:p>
          <a:p xmlns:a="http://schemas.openxmlformats.org/drawingml/2006/main">
            <a:pPr>
              <a:defRPr sz="1650" b="1" i="0">
                <a:solidFill>
                  <a:srgbClr val="22D3EE"/>
                </a:solidFill>
              </a:defRPr>
            </a:pPr>
            <a:r>
              <a:rPr sz="1650" b="1" i="0">
                <a:solidFill>
                  <a:srgbClr val="22D3EE"/>
                </a:solidFill>
              </a:rPr>
              <a:t>WS</a:t>
            </a:r>
          </a:p>
        </p:txBody>
      </p:sp>
      <p:sp>
        <p:nvSpPr>
          <p:cNvPr id="7" name="">
            <a:extLst xmlns:a="http://schemas.openxmlformats.org/drawingml/2006/main">
              <a:ext uri="{FF2B5EF4-FFF2-40B4-BE49-F238E27FC236}">
                <a16:creationId xmlns:a16="http://schemas.microsoft.com/office/drawing/2014/main" id="{791F022E-5122-4C65-8A7E-5F9A85FC3E1C}"/>
              </a:ext>
            </a:extLst>
          </p:cNvPr>
          <p:cNvSpPr>
            <a:spLocks xmlns:a="http://schemas.openxmlformats.org/drawingml/2006/main" noGrp="1"/>
          </p:cNvSpPr>
          <p:nvPr/>
        </p:nvSpPr>
        <p:spPr>
          <a:xfrm xmlns:a="http://schemas.openxmlformats.org/drawingml/2006/main">
            <a:off x="6353577" y="4402455"/>
            <a:ext cx="5022761" cy="1954530"/>
          </a:xfrm>
          <a:prstGeom xmlns:a="http://schemas.openxmlformats.org/drawingml/2006/main" prst="roundRect">
            <a:avLst>
              <a:gd name="adj" fmla="val 2924"/>
            </a:avLst>
          </a:prstGeom>
          <a:solidFill xmlns:a="http://schemas.openxmlformats.org/drawingml/2006/main">
            <a:srgbClr val="10182D"/>
          </a:solidFill>
          <a:ln xmlns:a="http://schemas.openxmlformats.org/drawingml/2006/main" w="9525">
            <a:solidFill>
              <a:srgbClr val="8B5CF6">
                <a:alpha val="40000"/>
              </a:srgbClr>
            </a:solidFill>
            <a:prstDash val="solid"/>
          </a:ln>
        </p:spPr>
      </p:sp>
      <p:sp>
        <p:nvSpPr>
          <p:cNvPr id="8" name="">
            <a:extLst xmlns:a="http://schemas.openxmlformats.org/drawingml/2006/main">
              <a:ext uri="{FF2B5EF4-FFF2-40B4-BE49-F238E27FC236}">
                <a16:creationId xmlns:a16="http://schemas.microsoft.com/office/drawing/2014/main" id="{3A3CA126-3E6B-4037-B6EA-512199684E87}"/>
              </a:ext>
            </a:extLst>
          </p:cNvPr>
          <p:cNvSpPr>
            <a:spLocks xmlns:a="http://schemas.openxmlformats.org/drawingml/2006/main" noGrp="1"/>
          </p:cNvSpPr>
          <p:nvPr/>
        </p:nvSpPr>
        <p:spPr>
          <a:xfrm xmlns:a="http://schemas.openxmlformats.org/drawingml/2006/main">
            <a:off x="6629400" y="4610100"/>
            <a:ext cx="44958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i="0">
                <a:solidFill>
                  <a:srgbClr val="8B5CF6"/>
                </a:solidFill>
              </a:defRPr>
            </a:pPr>
            <a:r>
              <a:rPr sz="1650" b="1" i="0">
                <a:solidFill>
                  <a:srgbClr val="8B5CF6"/>
                </a:solidFill>
              </a:rPr>
              <a:t>Backend</a:t>
            </a:r>
          </a:p>
        </p:txBody>
      </p:sp>
      <p:sp>
        <p:nvSpPr>
          <p:cNvPr id="9" name="">
            <a:extLst xmlns:a="http://schemas.openxmlformats.org/drawingml/2006/main">
              <a:ext uri="{FF2B5EF4-FFF2-40B4-BE49-F238E27FC236}">
                <a16:creationId xmlns:a16="http://schemas.microsoft.com/office/drawing/2014/main" id="{CB9C7D49-195A-4B29-824D-78A32D76417E}"/>
              </a:ext>
            </a:extLst>
          </p:cNvPr>
          <p:cNvSpPr>
            <a:spLocks xmlns:a="http://schemas.openxmlformats.org/drawingml/2006/main" noGrp="1"/>
          </p:cNvSpPr>
          <p:nvPr/>
        </p:nvSpPr>
        <p:spPr>
          <a:xfrm xmlns:a="http://schemas.openxmlformats.org/drawingml/2006/main">
            <a:off x="6629400" y="4953000"/>
            <a:ext cx="449580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i="0">
                <a:solidFill>
                  <a:srgbClr val="F8FAFC"/>
                </a:solidFill>
              </a:defRPr>
            </a:pPr>
            <a:r>
              <a:rPr sz="1950" b="0" i="0">
                <a:solidFill>
                  <a:srgbClr val="F8FAFC"/>
                </a:solidFill>
              </a:rPr>
              <a:t>Rust / Axum</a:t>
            </a:r>
          </a:p>
          <a:p xmlns:a="http://schemas.openxmlformats.org/drawingml/2006/main">
            <a:pPr>
              <a:defRPr sz="1950" b="0" i="0">
                <a:solidFill>
                  <a:srgbClr val="F8FAFC"/>
                </a:solidFill>
              </a:defRPr>
            </a:pPr>
            <a:r>
              <a:rPr sz="1950" b="0" i="0">
                <a:solidFill>
                  <a:srgbClr val="F8FAFC"/>
                </a:solidFill>
              </a:rPr>
              <a:t>Tokio</a:t>
            </a:r>
          </a:p>
          <a:p xmlns:a="http://schemas.openxmlformats.org/drawingml/2006/main">
            <a:pPr>
              <a:defRPr sz="1950" b="0" i="0">
                <a:solidFill>
                  <a:srgbClr val="F8FAFC"/>
                </a:solidFill>
              </a:defRPr>
            </a:pPr>
            <a:r>
              <a:rPr sz="1950" b="0" i="0">
                <a:solidFill>
                  <a:srgbClr val="F8FAFC"/>
                </a:solidFill>
              </a:rPr>
              <a:t>Tower-HTTP</a:t>
            </a:r>
          </a:p>
          <a:p xmlns:a="http://schemas.openxmlformats.org/drawingml/2006/main">
            <a:pPr>
              <a:defRPr sz="1950" b="0" i="0">
                <a:solidFill>
                  <a:srgbClr val="F8FAFC"/>
                </a:solidFill>
              </a:defRPr>
            </a:pPr>
            <a:r>
              <a:rPr sz="1950" b="0" i="0">
                <a:solidFill>
                  <a:srgbClr val="F8FAFC"/>
                </a:solidFill>
              </a:rPr>
              <a:t>JWT + Argon2id</a:t>
            </a:r>
          </a:p>
        </p:txBody>
      </p:sp>
      <p:sp>
        <p:nvSpPr>
          <p:cNvPr id="10" name="">
            <a:extLst xmlns:a="http://schemas.openxmlformats.org/drawingml/2006/main">
              <a:ext uri="{FF2B5EF4-FFF2-40B4-BE49-F238E27FC236}">
                <a16:creationId xmlns:a16="http://schemas.microsoft.com/office/drawing/2014/main" id="{93ADEF8E-4247-41DB-8C16-4781D737585A}"/>
              </a:ext>
            </a:extLst>
          </p:cNvPr>
          <p:cNvSpPr>
            <a:spLocks xmlns:a="http://schemas.openxmlformats.org/drawingml/2006/main" noGrp="1"/>
          </p:cNvSpPr>
          <p:nvPr/>
        </p:nvSpPr>
        <p:spPr>
          <a:xfrm xmlns:a="http://schemas.openxmlformats.org/drawingml/2006/main">
            <a:off x="11677650" y="4876800"/>
            <a:ext cx="419100" cy="1009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i="0">
                <a:solidFill>
                  <a:srgbClr val="34D399"/>
                </a:solidFill>
              </a:defRPr>
            </a:pPr>
            <a:r>
              <a:rPr sz="1650" b="1" i="0">
                <a:solidFill>
                  <a:srgbClr val="34D399"/>
                </a:solidFill>
              </a:rPr>
              <a:t>SQL</a:t>
            </a:r>
          </a:p>
          <a:p xmlns:a="http://schemas.openxmlformats.org/drawingml/2006/main">
            <a:pPr>
              <a:defRPr sz="1650" b="1" i="0">
                <a:solidFill>
                  <a:srgbClr val="34D399"/>
                </a:solidFill>
              </a:defRPr>
            </a:pPr>
            <a:r>
              <a:rPr sz="1650" b="1" i="0">
                <a:solidFill>
                  <a:srgbClr val="34D399"/>
                </a:solidFill>
              </a:rPr>
              <a:t>+</a:t>
            </a:r>
          </a:p>
          <a:p xmlns:a="http://schemas.openxmlformats.org/drawingml/2006/main">
            <a:pPr>
              <a:defRPr sz="1650" b="1" i="0">
                <a:solidFill>
                  <a:srgbClr val="34D399"/>
                </a:solidFill>
              </a:defRPr>
            </a:pPr>
            <a:r>
              <a:rPr sz="1650" b="1" i="0">
                <a:solidFill>
                  <a:srgbClr val="34D399"/>
                </a:solidFill>
              </a:rPr>
              <a:t>Docs</a:t>
            </a:r>
          </a:p>
        </p:txBody>
      </p:sp>
      <p:sp>
        <p:nvSpPr>
          <p:cNvPr id="11" name="">
            <a:extLst xmlns:a="http://schemas.openxmlformats.org/drawingml/2006/main">
              <a:ext uri="{FF2B5EF4-FFF2-40B4-BE49-F238E27FC236}">
                <a16:creationId xmlns:a16="http://schemas.microsoft.com/office/drawing/2014/main" id="{E6C85E00-5D08-42DC-A140-2E6E829DA372}"/>
              </a:ext>
            </a:extLst>
          </p:cNvPr>
          <p:cNvSpPr>
            <a:spLocks xmlns:a="http://schemas.openxmlformats.org/drawingml/2006/main" noGrp="1"/>
          </p:cNvSpPr>
          <p:nvPr/>
        </p:nvSpPr>
        <p:spPr>
          <a:xfrm xmlns:a="http://schemas.openxmlformats.org/drawingml/2006/main">
            <a:off x="12388939" y="4311015"/>
            <a:ext cx="5022761" cy="2137410"/>
          </a:xfrm>
          <a:prstGeom xmlns:a="http://schemas.openxmlformats.org/drawingml/2006/main" prst="roundRect">
            <a:avLst>
              <a:gd name="adj" fmla="val 2674"/>
            </a:avLst>
          </a:prstGeom>
          <a:solidFill xmlns:a="http://schemas.openxmlformats.org/drawingml/2006/main">
            <a:srgbClr val="10182D"/>
          </a:solidFill>
          <a:ln xmlns:a="http://schemas.openxmlformats.org/drawingml/2006/main" w="9525">
            <a:solidFill>
              <a:srgbClr val="34D399">
                <a:alpha val="40000"/>
              </a:srgbClr>
            </a:solidFill>
            <a:prstDash val="solid"/>
          </a:ln>
        </p:spPr>
      </p:sp>
      <p:sp>
        <p:nvSpPr>
          <p:cNvPr id="12" name="">
            <a:extLst xmlns:a="http://schemas.openxmlformats.org/drawingml/2006/main">
              <a:ext uri="{FF2B5EF4-FFF2-40B4-BE49-F238E27FC236}">
                <a16:creationId xmlns:a16="http://schemas.microsoft.com/office/drawing/2014/main" id="{031F2913-3395-4215-9086-AECF082F63FA}"/>
              </a:ext>
            </a:extLst>
          </p:cNvPr>
          <p:cNvSpPr>
            <a:spLocks xmlns:a="http://schemas.openxmlformats.org/drawingml/2006/main" noGrp="1"/>
          </p:cNvSpPr>
          <p:nvPr/>
        </p:nvSpPr>
        <p:spPr>
          <a:xfrm xmlns:a="http://schemas.openxmlformats.org/drawingml/2006/main">
            <a:off x="12649200" y="4514850"/>
            <a:ext cx="44958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i="0">
                <a:solidFill>
                  <a:srgbClr val="34D399"/>
                </a:solidFill>
              </a:defRPr>
            </a:pPr>
            <a:r>
              <a:rPr sz="1650" b="1" i="0">
                <a:solidFill>
                  <a:srgbClr val="34D399"/>
                </a:solidFill>
              </a:rPr>
              <a:t>Data</a:t>
            </a:r>
          </a:p>
        </p:txBody>
      </p:sp>
      <p:sp>
        <p:nvSpPr>
          <p:cNvPr id="13" name="">
            <a:extLst xmlns:a="http://schemas.openxmlformats.org/drawingml/2006/main">
              <a:ext uri="{FF2B5EF4-FFF2-40B4-BE49-F238E27FC236}">
                <a16:creationId xmlns:a16="http://schemas.microsoft.com/office/drawing/2014/main" id="{DAA96225-8A0F-40CB-9EE8-DC36DCBD6423}"/>
              </a:ext>
            </a:extLst>
          </p:cNvPr>
          <p:cNvSpPr>
            <a:spLocks xmlns:a="http://schemas.openxmlformats.org/drawingml/2006/main" noGrp="1"/>
          </p:cNvSpPr>
          <p:nvPr/>
        </p:nvSpPr>
        <p:spPr>
          <a:xfrm xmlns:a="http://schemas.openxmlformats.org/drawingml/2006/main">
            <a:off x="12649200" y="4857750"/>
            <a:ext cx="4495800" cy="1371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F8FAFC"/>
                </a:solidFill>
              </a:defRPr>
            </a:pPr>
            <a:r>
              <a:rPr sz="1800" b="0" i="0">
                <a:solidFill>
                  <a:srgbClr val="F8FAFC"/>
                </a:solidFill>
              </a:rPr>
              <a:t>PostgreSQL</a:t>
            </a:r>
          </a:p>
          <a:p xmlns:a="http://schemas.openxmlformats.org/drawingml/2006/main">
            <a:pPr>
              <a:defRPr sz="1800" b="0" i="0">
                <a:solidFill>
                  <a:srgbClr val="F8FAFC"/>
                </a:solidFill>
              </a:defRPr>
            </a:pPr>
            <a:r>
              <a:rPr sz="1800" b="0" i="0">
                <a:solidFill>
                  <a:srgbClr val="F8FAFC"/>
                </a:solidFill>
              </a:rPr>
              <a:t>Users / roles / invites</a:t>
            </a:r>
          </a:p>
          <a:p xmlns:a="http://schemas.openxmlformats.org/drawingml/2006/main">
            <a:r>
              <a:t/>
            </a:r>
          </a:p>
          <a:p xmlns:a="http://schemas.openxmlformats.org/drawingml/2006/main">
            <a:pPr>
              <a:defRPr sz="1800" b="0" i="0">
                <a:solidFill>
                  <a:srgbClr val="F8FAFC"/>
                </a:solidFill>
              </a:defRPr>
            </a:pPr>
            <a:r>
              <a:rPr sz="1800" b="0" i="0">
                <a:solidFill>
                  <a:srgbClr val="F8FAFC"/>
                </a:solidFill>
              </a:rPr>
              <a:t>MongoDB</a:t>
            </a:r>
          </a:p>
          <a:p xmlns:a="http://schemas.openxmlformats.org/drawingml/2006/main">
            <a:pPr>
              <a:defRPr sz="1800" b="0" i="0">
                <a:solidFill>
                  <a:srgbClr val="F8FAFC"/>
                </a:solidFill>
              </a:defRPr>
            </a:pPr>
            <a:r>
              <a:rPr sz="1800" b="0" i="0">
                <a:solidFill>
                  <a:srgbClr val="F8FAFC"/>
                </a:solidFill>
              </a:rPr>
              <a:t>Messages / DMs / reactions</a:t>
            </a:r>
          </a:p>
        </p:txBody>
      </p:sp>
      <p:sp>
        <p:nvSpPr>
          <p:cNvPr id="14" name="">
            <a:extLst xmlns:a="http://schemas.openxmlformats.org/drawingml/2006/main">
              <a:ext uri="{FF2B5EF4-FFF2-40B4-BE49-F238E27FC236}">
                <a16:creationId xmlns:a16="http://schemas.microsoft.com/office/drawing/2014/main" id="{CE96FCB5-D2DA-45EA-A03A-B20F81AB6E9C}"/>
              </a:ext>
            </a:extLst>
          </p:cNvPr>
          <p:cNvSpPr>
            <a:spLocks xmlns:a="http://schemas.openxmlformats.org/drawingml/2006/main" noGrp="1"/>
          </p:cNvSpPr>
          <p:nvPr/>
        </p:nvSpPr>
        <p:spPr>
          <a:xfrm xmlns:a="http://schemas.openxmlformats.org/drawingml/2006/main">
            <a:off x="876300" y="9079230"/>
            <a:ext cx="1169003" cy="541020"/>
          </a:xfrm>
          <a:prstGeom xmlns:a="http://schemas.openxmlformats.org/drawingml/2006/main" prst="roundRect">
            <a:avLst>
              <a:gd name="adj" fmla="val 50000"/>
            </a:avLst>
          </a:prstGeom>
          <a:solidFill xmlns:a="http://schemas.openxmlformats.org/drawingml/2006/main">
            <a:srgbClr val="2F80FF">
              <a:alpha val="13333"/>
            </a:srgbClr>
          </a:solidFill>
          <a:ln xmlns:a="http://schemas.openxmlformats.org/drawingml/2006/main" w="9525">
            <a:solidFill>
              <a:srgbClr val="2F80FF">
                <a:alpha val="53333"/>
              </a:srgbClr>
            </a:solidFill>
            <a:prstDash val="solid"/>
          </a:ln>
        </p:spPr>
      </p:sp>
      <p:sp>
        <p:nvSpPr>
          <p:cNvPr id="15" name="">
            <a:extLst xmlns:a="http://schemas.openxmlformats.org/drawingml/2006/main">
              <a:ext uri="{FF2B5EF4-FFF2-40B4-BE49-F238E27FC236}">
                <a16:creationId xmlns:a16="http://schemas.microsoft.com/office/drawing/2014/main" id="{DA69404B-8CF0-472E-A5AB-AA0CF1551E59}"/>
              </a:ext>
            </a:extLst>
          </p:cNvPr>
          <p:cNvSpPr>
            <a:spLocks xmlns:a="http://schemas.openxmlformats.org/drawingml/2006/main" noGrp="1"/>
          </p:cNvSpPr>
          <p:nvPr/>
        </p:nvSpPr>
        <p:spPr>
          <a:xfrm xmlns:a="http://schemas.openxmlformats.org/drawingml/2006/main">
            <a:off x="1047750" y="9163050"/>
            <a:ext cx="81915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i="0">
                <a:solidFill>
                  <a:srgbClr val="2F80FF"/>
                </a:solidFill>
              </a:defRPr>
            </a:pPr>
            <a:r>
              <a:rPr sz="1275" b="1" i="0">
                <a:solidFill>
                  <a:srgbClr val="2F80FF"/>
                </a:solidFill>
              </a:rPr>
              <a:t>REST : CRUD</a:t>
            </a:r>
          </a:p>
        </p:txBody>
      </p:sp>
      <p:sp>
        <p:nvSpPr>
          <p:cNvPr id="16" name="">
            <a:extLst xmlns:a="http://schemas.openxmlformats.org/drawingml/2006/main">
              <a:ext uri="{FF2B5EF4-FFF2-40B4-BE49-F238E27FC236}">
                <a16:creationId xmlns:a16="http://schemas.microsoft.com/office/drawing/2014/main" id="{01163D09-E432-4640-8B60-140CD8F627FE}"/>
              </a:ext>
            </a:extLst>
          </p:cNvPr>
          <p:cNvSpPr>
            <a:spLocks xmlns:a="http://schemas.openxmlformats.org/drawingml/2006/main" noGrp="1"/>
          </p:cNvSpPr>
          <p:nvPr/>
        </p:nvSpPr>
        <p:spPr>
          <a:xfrm xmlns:a="http://schemas.openxmlformats.org/drawingml/2006/main">
            <a:off x="2235803" y="9079230"/>
            <a:ext cx="1395508" cy="346710"/>
          </a:xfrm>
          <a:prstGeom xmlns:a="http://schemas.openxmlformats.org/drawingml/2006/main" prst="roundRect">
            <a:avLst>
              <a:gd name="adj" fmla="val 50000"/>
            </a:avLst>
          </a:prstGeom>
          <a:solidFill xmlns:a="http://schemas.openxmlformats.org/drawingml/2006/main">
            <a:srgbClr val="22D3EE">
              <a:alpha val="13333"/>
            </a:srgbClr>
          </a:solidFill>
          <a:ln xmlns:a="http://schemas.openxmlformats.org/drawingml/2006/main" w="9525">
            <a:solidFill>
              <a:srgbClr val="22D3EE">
                <a:alpha val="53333"/>
              </a:srgbClr>
            </a:solidFill>
            <a:prstDash val="solid"/>
          </a:ln>
        </p:spPr>
      </p:sp>
      <p:sp>
        <p:nvSpPr>
          <p:cNvPr id="17" name="">
            <a:extLst xmlns:a="http://schemas.openxmlformats.org/drawingml/2006/main">
              <a:ext uri="{FF2B5EF4-FFF2-40B4-BE49-F238E27FC236}">
                <a16:creationId xmlns:a16="http://schemas.microsoft.com/office/drawing/2014/main" id="{FC6D6D8D-86A7-4933-B80F-28D2878ACB91}"/>
              </a:ext>
            </a:extLst>
          </p:cNvPr>
          <p:cNvSpPr>
            <a:spLocks xmlns:a="http://schemas.openxmlformats.org/drawingml/2006/main" noGrp="1"/>
          </p:cNvSpPr>
          <p:nvPr/>
        </p:nvSpPr>
        <p:spPr>
          <a:xfrm xmlns:a="http://schemas.openxmlformats.org/drawingml/2006/main">
            <a:off x="2400300" y="9163050"/>
            <a:ext cx="10477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i="0">
                <a:solidFill>
                  <a:srgbClr val="22D3EE"/>
                </a:solidFill>
              </a:defRPr>
            </a:pPr>
            <a:r>
              <a:rPr sz="1275" b="1" i="0">
                <a:solidFill>
                  <a:srgbClr val="22D3EE"/>
                </a:solidFill>
              </a:rPr>
              <a:t>WS : instantane</a:t>
            </a:r>
          </a:p>
        </p:txBody>
      </p:sp>
      <p:sp>
        <p:nvSpPr>
          <p:cNvPr id="18" name="">
            <a:extLst xmlns:a="http://schemas.openxmlformats.org/drawingml/2006/main">
              <a:ext uri="{FF2B5EF4-FFF2-40B4-BE49-F238E27FC236}">
                <a16:creationId xmlns:a16="http://schemas.microsoft.com/office/drawing/2014/main" id="{2C194851-AAF1-41A9-B95E-027AD771FB74}"/>
              </a:ext>
            </a:extLst>
          </p:cNvPr>
          <p:cNvSpPr>
            <a:spLocks xmlns:a="http://schemas.openxmlformats.org/drawingml/2006/main" noGrp="1"/>
          </p:cNvSpPr>
          <p:nvPr/>
        </p:nvSpPr>
        <p:spPr>
          <a:xfrm xmlns:a="http://schemas.openxmlformats.org/drawingml/2006/main">
            <a:off x="3821811" y="9079230"/>
            <a:ext cx="1635347" cy="541020"/>
          </a:xfrm>
          <a:prstGeom xmlns:a="http://schemas.openxmlformats.org/drawingml/2006/main" prst="roundRect">
            <a:avLst>
              <a:gd name="adj" fmla="val 50000"/>
            </a:avLst>
          </a:prstGeom>
          <a:solidFill xmlns:a="http://schemas.openxmlformats.org/drawingml/2006/main">
            <a:srgbClr val="34D399">
              <a:alpha val="13333"/>
            </a:srgbClr>
          </a:solidFill>
          <a:ln xmlns:a="http://schemas.openxmlformats.org/drawingml/2006/main" w="9525">
            <a:solidFill>
              <a:srgbClr val="34D399">
                <a:alpha val="53333"/>
              </a:srgbClr>
            </a:solidFill>
            <a:prstDash val="solid"/>
          </a:ln>
        </p:spPr>
      </p:sp>
      <p:sp>
        <p:nvSpPr>
          <p:cNvPr id="19" name="">
            <a:extLst xmlns:a="http://schemas.openxmlformats.org/drawingml/2006/main">
              <a:ext uri="{FF2B5EF4-FFF2-40B4-BE49-F238E27FC236}">
                <a16:creationId xmlns:a16="http://schemas.microsoft.com/office/drawing/2014/main" id="{8B74558C-565C-4DCA-B5C1-BA951C559270}"/>
              </a:ext>
            </a:extLst>
          </p:cNvPr>
          <p:cNvSpPr>
            <a:spLocks xmlns:a="http://schemas.openxmlformats.org/drawingml/2006/main" noGrp="1"/>
          </p:cNvSpPr>
          <p:nvPr/>
        </p:nvSpPr>
        <p:spPr>
          <a:xfrm xmlns:a="http://schemas.openxmlformats.org/drawingml/2006/main">
            <a:off x="4000500" y="9163050"/>
            <a:ext cx="12954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i="0">
                <a:solidFill>
                  <a:srgbClr val="34D399"/>
                </a:solidFill>
              </a:defRPr>
            </a:pPr>
            <a:r>
              <a:rPr sz="1275" b="1" i="0">
                <a:solidFill>
                  <a:srgbClr val="34D399"/>
                </a:solidFill>
              </a:rPr>
              <a:t>BDD : roles separes</a:t>
            </a:r>
          </a:p>
        </p:txBody>
      </p:sp>
    </p:spTree>
    <p:extLst>
      <p:ext uri="{BB962C8B-B14F-4D97-AF65-F5344CB8AC3E}">
        <p14:creationId xmlns:p14="http://schemas.microsoft.com/office/powerpoint/2010/main" val="708918428"/>
      </p:ext>
    </p:extLst>
  </p:cSld>
</p:sld>
</file>

<file path=ppt/slides/slide5.xml><?xml version="1.0" encoding="utf-8"?>
<p:sld xmlns:p="http://schemas.openxmlformats.org/presentationml/2006/main">
  <p:cSld>
    <p:bg>
      <p:bgPr>
        <a:solidFill xmlns:a="http://schemas.openxmlformats.org/drawingml/2006/main">
          <a:srgbClr val="060A16"/>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318C38F3-2659-446A-AF7F-FC45CD33D3DF}"/>
              </a:ext>
            </a:extLst>
          </p:cNvPr>
          <p:cNvSpPr>
            <a:spLocks xmlns:a="http://schemas.openxmlformats.org/drawingml/2006/main" noGrp="1"/>
          </p:cNvSpPr>
          <p:nvPr/>
        </p:nvSpPr>
        <p:spPr>
          <a:xfrm xmlns:a="http://schemas.openxmlformats.org/drawingml/2006/main">
            <a:off x="876300" y="666750"/>
            <a:ext cx="165354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i="0">
                <a:solidFill>
                  <a:srgbClr val="F8FAFC"/>
                </a:solidFill>
              </a:defRPr>
            </a:pPr>
            <a:r>
              <a:rPr sz="4050" b="1" i="0">
                <a:solidFill>
                  <a:srgbClr val="F8FAFC"/>
                </a:solidFill>
              </a:rPr>
              <a:t>Backend Rust / Axum</a:t>
            </a:r>
          </a:p>
        </p:txBody>
      </p:sp>
      <p:sp>
        <p:nvSpPr>
          <p:cNvPr id="2" name="slide-subtitle">
            <a:extLst xmlns:a="http://schemas.openxmlformats.org/drawingml/2006/main">
              <a:ext uri="{FF2B5EF4-FFF2-40B4-BE49-F238E27FC236}">
                <a16:creationId xmlns:a16="http://schemas.microsoft.com/office/drawing/2014/main" id="{BAE3E4DE-0D34-4EA6-A245-3F0377662196}"/>
              </a:ext>
            </a:extLst>
          </p:cNvPr>
          <p:cNvSpPr>
            <a:spLocks xmlns:a="http://schemas.openxmlformats.org/drawingml/2006/main" noGrp="1"/>
          </p:cNvSpPr>
          <p:nvPr/>
        </p:nvSpPr>
        <p:spPr>
          <a:xfrm xmlns:a="http://schemas.openxmlformats.org/drawingml/2006/main">
            <a:off x="876300" y="1409700"/>
            <a:ext cx="165354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i="0">
                <a:solidFill>
                  <a:srgbClr val="A7B0C6"/>
                </a:solidFill>
              </a:defRPr>
            </a:pPr>
            <a:r>
              <a:rPr sz="1725" b="0" i="0">
                <a:solidFill>
                  <a:srgbClr val="A7B0C6"/>
                </a:solidFill>
              </a:rPr>
              <a:t>Performance, securite memoire et serveur asynchrone.</a:t>
            </a:r>
          </a:p>
        </p:txBody>
      </p:sp>
      <p:sp>
        <p:nvSpPr>
          <p:cNvPr id="3" name="">
            <a:extLst xmlns:a="http://schemas.openxmlformats.org/drawingml/2006/main">
              <a:ext uri="{FF2B5EF4-FFF2-40B4-BE49-F238E27FC236}">
                <a16:creationId xmlns:a16="http://schemas.microsoft.com/office/drawing/2014/main" id="{3BDEBB65-211B-4AE0-853A-FD53B7DB1A50}"/>
              </a:ext>
            </a:extLst>
          </p:cNvPr>
          <p:cNvSpPr>
            <a:spLocks xmlns:a="http://schemas.openxmlformats.org/drawingml/2006/main" noGrp="1"/>
          </p:cNvSpPr>
          <p:nvPr/>
        </p:nvSpPr>
        <p:spPr>
          <a:xfrm xmlns:a="http://schemas.openxmlformats.org/drawingml/2006/main">
            <a:off x="876300" y="4476750"/>
            <a:ext cx="104775" cy="104775"/>
          </a:xfrm>
          <a:prstGeom xmlns:a="http://schemas.openxmlformats.org/drawingml/2006/main" prst="ellipse">
            <a:avLst/>
          </a:prstGeom>
          <a:solidFill xmlns:a="http://schemas.openxmlformats.org/drawingml/2006/main">
            <a:srgbClr val="2F80FF"/>
          </a:solidFill>
          <a:ln xmlns:a="http://schemas.openxmlformats.org/drawingml/2006/main" w="0">
            <a:solidFill>
              <a:srgbClr val="2F80FF"/>
            </a:solidFill>
            <a:prstDash val="solid"/>
          </a:ln>
        </p:spPr>
      </p:sp>
      <p:sp>
        <p:nvSpPr>
          <p:cNvPr id="4" name="">
            <a:extLst xmlns:a="http://schemas.openxmlformats.org/drawingml/2006/main">
              <a:ext uri="{FF2B5EF4-FFF2-40B4-BE49-F238E27FC236}">
                <a16:creationId xmlns:a16="http://schemas.microsoft.com/office/drawing/2014/main" id="{141E26FA-1B16-4BCB-9681-B735D05B6B49}"/>
              </a:ext>
            </a:extLst>
          </p:cNvPr>
          <p:cNvSpPr>
            <a:spLocks xmlns:a="http://schemas.openxmlformats.org/drawingml/2006/main" noGrp="1"/>
          </p:cNvSpPr>
          <p:nvPr/>
        </p:nvSpPr>
        <p:spPr>
          <a:xfrm xmlns:a="http://schemas.openxmlformats.org/drawingml/2006/main">
            <a:off x="1123950" y="4476750"/>
            <a:ext cx="78295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Rust : pas de garbage collector, latence stable</a:t>
            </a:r>
          </a:p>
        </p:txBody>
      </p:sp>
      <p:sp>
        <p:nvSpPr>
          <p:cNvPr id="5" name="">
            <a:extLst xmlns:a="http://schemas.openxmlformats.org/drawingml/2006/main">
              <a:ext uri="{FF2B5EF4-FFF2-40B4-BE49-F238E27FC236}">
                <a16:creationId xmlns:a16="http://schemas.microsoft.com/office/drawing/2014/main" id="{03088219-7099-4F26-8960-A16E8807F034}"/>
              </a:ext>
            </a:extLst>
          </p:cNvPr>
          <p:cNvSpPr>
            <a:spLocks xmlns:a="http://schemas.openxmlformats.org/drawingml/2006/main" noGrp="1"/>
          </p:cNvSpPr>
          <p:nvPr/>
        </p:nvSpPr>
        <p:spPr>
          <a:xfrm xmlns:a="http://schemas.openxmlformats.org/drawingml/2006/main">
            <a:off x="876300" y="4953000"/>
            <a:ext cx="104775" cy="104775"/>
          </a:xfrm>
          <a:prstGeom xmlns:a="http://schemas.openxmlformats.org/drawingml/2006/main" prst="ellipse">
            <a:avLst/>
          </a:prstGeom>
          <a:solidFill xmlns:a="http://schemas.openxmlformats.org/drawingml/2006/main">
            <a:srgbClr val="8B5CF6"/>
          </a:solidFill>
          <a:ln xmlns:a="http://schemas.openxmlformats.org/drawingml/2006/main" w="0">
            <a:solidFill>
              <a:srgbClr val="8B5CF6"/>
            </a:solidFill>
            <a:prstDash val="solid"/>
          </a:ln>
        </p:spPr>
      </p:sp>
      <p:sp>
        <p:nvSpPr>
          <p:cNvPr id="6" name="">
            <a:extLst xmlns:a="http://schemas.openxmlformats.org/drawingml/2006/main">
              <a:ext uri="{FF2B5EF4-FFF2-40B4-BE49-F238E27FC236}">
                <a16:creationId xmlns:a16="http://schemas.microsoft.com/office/drawing/2014/main" id="{2F89FBA4-ADF5-4D4E-A19D-C603EA289D24}"/>
              </a:ext>
            </a:extLst>
          </p:cNvPr>
          <p:cNvSpPr>
            <a:spLocks xmlns:a="http://schemas.openxmlformats.org/drawingml/2006/main" noGrp="1"/>
          </p:cNvSpPr>
          <p:nvPr/>
        </p:nvSpPr>
        <p:spPr>
          <a:xfrm xmlns:a="http://schemas.openxmlformats.org/drawingml/2006/main">
            <a:off x="1123950" y="4953000"/>
            <a:ext cx="78295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Axum 0.7 : routes REST + upgrade WebSocket</a:t>
            </a:r>
          </a:p>
        </p:txBody>
      </p:sp>
      <p:sp>
        <p:nvSpPr>
          <p:cNvPr id="7" name="">
            <a:extLst xmlns:a="http://schemas.openxmlformats.org/drawingml/2006/main">
              <a:ext uri="{FF2B5EF4-FFF2-40B4-BE49-F238E27FC236}">
                <a16:creationId xmlns:a16="http://schemas.microsoft.com/office/drawing/2014/main" id="{6D31D69F-4E13-4BF1-8814-DFF2B33C6825}"/>
              </a:ext>
            </a:extLst>
          </p:cNvPr>
          <p:cNvSpPr>
            <a:spLocks xmlns:a="http://schemas.openxmlformats.org/drawingml/2006/main" noGrp="1"/>
          </p:cNvSpPr>
          <p:nvPr/>
        </p:nvSpPr>
        <p:spPr>
          <a:xfrm xmlns:a="http://schemas.openxmlformats.org/drawingml/2006/main">
            <a:off x="876300" y="5429250"/>
            <a:ext cx="104775" cy="104775"/>
          </a:xfrm>
          <a:prstGeom xmlns:a="http://schemas.openxmlformats.org/drawingml/2006/main" prst="ellipse">
            <a:avLst/>
          </a:prstGeom>
          <a:solidFill xmlns:a="http://schemas.openxmlformats.org/drawingml/2006/main">
            <a:srgbClr val="22D3EE"/>
          </a:solidFill>
          <a:ln xmlns:a="http://schemas.openxmlformats.org/drawingml/2006/main" w="0">
            <a:solidFill>
              <a:srgbClr val="22D3EE"/>
            </a:solidFill>
            <a:prstDash val="solid"/>
          </a:ln>
        </p:spPr>
      </p:sp>
      <p:sp>
        <p:nvSpPr>
          <p:cNvPr id="8" name="">
            <a:extLst xmlns:a="http://schemas.openxmlformats.org/drawingml/2006/main">
              <a:ext uri="{FF2B5EF4-FFF2-40B4-BE49-F238E27FC236}">
                <a16:creationId xmlns:a16="http://schemas.microsoft.com/office/drawing/2014/main" id="{E896C2E6-5031-416E-ACFC-5FF06E6B2352}"/>
              </a:ext>
            </a:extLst>
          </p:cNvPr>
          <p:cNvSpPr>
            <a:spLocks xmlns:a="http://schemas.openxmlformats.org/drawingml/2006/main" noGrp="1"/>
          </p:cNvSpPr>
          <p:nvPr/>
        </p:nvSpPr>
        <p:spPr>
          <a:xfrm xmlns:a="http://schemas.openxmlformats.org/drawingml/2006/main">
            <a:off x="1123950" y="5429250"/>
            <a:ext cx="78295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Tokio : runtime asynchrone</a:t>
            </a:r>
          </a:p>
        </p:txBody>
      </p:sp>
      <p:sp>
        <p:nvSpPr>
          <p:cNvPr id="9" name="">
            <a:extLst xmlns:a="http://schemas.openxmlformats.org/drawingml/2006/main">
              <a:ext uri="{FF2B5EF4-FFF2-40B4-BE49-F238E27FC236}">
                <a16:creationId xmlns:a16="http://schemas.microsoft.com/office/drawing/2014/main" id="{64FFB31C-59A0-438A-B95D-8EB2119E563E}"/>
              </a:ext>
            </a:extLst>
          </p:cNvPr>
          <p:cNvSpPr>
            <a:spLocks xmlns:a="http://schemas.openxmlformats.org/drawingml/2006/main" noGrp="1"/>
          </p:cNvSpPr>
          <p:nvPr/>
        </p:nvSpPr>
        <p:spPr>
          <a:xfrm xmlns:a="http://schemas.openxmlformats.org/drawingml/2006/main">
            <a:off x="876300" y="5905500"/>
            <a:ext cx="104775" cy="10477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10" name="">
            <a:extLst xmlns:a="http://schemas.openxmlformats.org/drawingml/2006/main">
              <a:ext uri="{FF2B5EF4-FFF2-40B4-BE49-F238E27FC236}">
                <a16:creationId xmlns:a16="http://schemas.microsoft.com/office/drawing/2014/main" id="{D3427EF2-A709-46A4-B925-0D6307402656}"/>
              </a:ext>
            </a:extLst>
          </p:cNvPr>
          <p:cNvSpPr>
            <a:spLocks xmlns:a="http://schemas.openxmlformats.org/drawingml/2006/main" noGrp="1"/>
          </p:cNvSpPr>
          <p:nvPr/>
        </p:nvSpPr>
        <p:spPr>
          <a:xfrm xmlns:a="http://schemas.openxmlformats.org/drawingml/2006/main">
            <a:off x="1123950" y="5905500"/>
            <a:ext cx="78295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Tower-HTTP : CORS, tracing, fichiers statiques</a:t>
            </a:r>
          </a:p>
        </p:txBody>
      </p:sp>
      <p:sp>
        <p:nvSpPr>
          <p:cNvPr id="11" name="">
            <a:extLst xmlns:a="http://schemas.openxmlformats.org/drawingml/2006/main">
              <a:ext uri="{FF2B5EF4-FFF2-40B4-BE49-F238E27FC236}">
                <a16:creationId xmlns:a16="http://schemas.microsoft.com/office/drawing/2014/main" id="{41C8F658-7A7E-465A-A0B0-B7006E752746}"/>
              </a:ext>
            </a:extLst>
          </p:cNvPr>
          <p:cNvSpPr>
            <a:spLocks xmlns:a="http://schemas.openxmlformats.org/drawingml/2006/main" noGrp="1"/>
          </p:cNvSpPr>
          <p:nvPr/>
        </p:nvSpPr>
        <p:spPr>
          <a:xfrm xmlns:a="http://schemas.openxmlformats.org/drawingml/2006/main">
            <a:off x="876300" y="6381750"/>
            <a:ext cx="104775" cy="104775"/>
          </a:xfrm>
          <a:prstGeom xmlns:a="http://schemas.openxmlformats.org/drawingml/2006/main" prst="ellipse">
            <a:avLst/>
          </a:prstGeom>
          <a:solidFill xmlns:a="http://schemas.openxmlformats.org/drawingml/2006/main">
            <a:srgbClr val="FBBF24"/>
          </a:solidFill>
          <a:ln xmlns:a="http://schemas.openxmlformats.org/drawingml/2006/main" w="0">
            <a:solidFill>
              <a:srgbClr val="FBBF24"/>
            </a:solidFill>
            <a:prstDash val="solid"/>
          </a:ln>
        </p:spPr>
      </p:sp>
      <p:sp>
        <p:nvSpPr>
          <p:cNvPr id="12" name="">
            <a:extLst xmlns:a="http://schemas.openxmlformats.org/drawingml/2006/main">
              <a:ext uri="{FF2B5EF4-FFF2-40B4-BE49-F238E27FC236}">
                <a16:creationId xmlns:a16="http://schemas.microsoft.com/office/drawing/2014/main" id="{6908810B-6901-4D67-8B95-1BAC030B77CA}"/>
              </a:ext>
            </a:extLst>
          </p:cNvPr>
          <p:cNvSpPr>
            <a:spLocks xmlns:a="http://schemas.openxmlformats.org/drawingml/2006/main" noGrp="1"/>
          </p:cNvSpPr>
          <p:nvPr/>
        </p:nvSpPr>
        <p:spPr>
          <a:xfrm xmlns:a="http://schemas.openxmlformats.org/drawingml/2006/main">
            <a:off x="1123950" y="6381750"/>
            <a:ext cx="78295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JWT + Argon2id : auth stateless et hash robuste</a:t>
            </a:r>
          </a:p>
        </p:txBody>
      </p:sp>
      <p:sp>
        <p:nvSpPr>
          <p:cNvPr id="13" name="">
            <a:extLst xmlns:a="http://schemas.openxmlformats.org/drawingml/2006/main">
              <a:ext uri="{FF2B5EF4-FFF2-40B4-BE49-F238E27FC236}">
                <a16:creationId xmlns:a16="http://schemas.microsoft.com/office/drawing/2014/main" id="{0E22DC43-D1B3-4B6C-AE51-A78619164F05}"/>
              </a:ext>
            </a:extLst>
          </p:cNvPr>
          <p:cNvSpPr>
            <a:spLocks xmlns:a="http://schemas.openxmlformats.org/drawingml/2006/main" noGrp="1"/>
          </p:cNvSpPr>
          <p:nvPr/>
        </p:nvSpPr>
        <p:spPr>
          <a:xfrm xmlns:a="http://schemas.openxmlformats.org/drawingml/2006/main">
            <a:off x="9344025" y="3735705"/>
            <a:ext cx="8067675" cy="609600"/>
          </a:xfrm>
          <a:prstGeom xmlns:a="http://schemas.openxmlformats.org/drawingml/2006/main" prst="roundRect">
            <a:avLst>
              <a:gd name="adj" fmla="val 9375"/>
            </a:avLst>
          </a:prstGeom>
          <a:solidFill xmlns:a="http://schemas.openxmlformats.org/drawingml/2006/main">
            <a:srgbClr val="8B5CF6">
              <a:alpha val="12549"/>
            </a:srgbClr>
          </a:solidFill>
          <a:ln xmlns:a="http://schemas.openxmlformats.org/drawingml/2006/main" w="9525">
            <a:solidFill>
              <a:srgbClr val="8B5CF6">
                <a:alpha val="53333"/>
              </a:srgbClr>
            </a:solidFill>
            <a:prstDash val="solid"/>
          </a:ln>
        </p:spPr>
      </p:sp>
      <p:sp>
        <p:nvSpPr>
          <p:cNvPr id="14" name="">
            <a:extLst xmlns:a="http://schemas.openxmlformats.org/drawingml/2006/main">
              <a:ext uri="{FF2B5EF4-FFF2-40B4-BE49-F238E27FC236}">
                <a16:creationId xmlns:a16="http://schemas.microsoft.com/office/drawing/2014/main" id="{34504248-2DE1-4111-B386-AA35F5C65516}"/>
              </a:ext>
            </a:extLst>
          </p:cNvPr>
          <p:cNvSpPr>
            <a:spLocks xmlns:a="http://schemas.openxmlformats.org/drawingml/2006/main" noGrp="1"/>
          </p:cNvSpPr>
          <p:nvPr/>
        </p:nvSpPr>
        <p:spPr>
          <a:xfrm xmlns:a="http://schemas.openxmlformats.org/drawingml/2006/main">
            <a:off x="9505950" y="3905250"/>
            <a:ext cx="77343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main.rs : Router Axum</a:t>
            </a:r>
          </a:p>
        </p:txBody>
      </p:sp>
      <p:sp>
        <p:nvSpPr>
          <p:cNvPr id="15" name="">
            <a:extLst xmlns:a="http://schemas.openxmlformats.org/drawingml/2006/main">
              <a:ext uri="{FF2B5EF4-FFF2-40B4-BE49-F238E27FC236}">
                <a16:creationId xmlns:a16="http://schemas.microsoft.com/office/drawing/2014/main" id="{EAF9E5AF-CAB3-4311-9709-240FD9DA5D25}"/>
              </a:ext>
            </a:extLst>
          </p:cNvPr>
          <p:cNvSpPr>
            <a:spLocks xmlns:a="http://schemas.openxmlformats.org/drawingml/2006/main" noGrp="1"/>
          </p:cNvSpPr>
          <p:nvPr/>
        </p:nvSpPr>
        <p:spPr>
          <a:xfrm xmlns:a="http://schemas.openxmlformats.org/drawingml/2006/main">
            <a:off x="9344025" y="4497705"/>
            <a:ext cx="8067675" cy="609600"/>
          </a:xfrm>
          <a:prstGeom xmlns:a="http://schemas.openxmlformats.org/drawingml/2006/main" prst="roundRect">
            <a:avLst>
              <a:gd name="adj" fmla="val 9375"/>
            </a:avLst>
          </a:prstGeom>
          <a:solidFill xmlns:a="http://schemas.openxmlformats.org/drawingml/2006/main">
            <a:srgbClr val="2F80FF">
              <a:alpha val="12549"/>
            </a:srgbClr>
          </a:solidFill>
          <a:ln xmlns:a="http://schemas.openxmlformats.org/drawingml/2006/main" w="9525">
            <a:solidFill>
              <a:srgbClr val="2F80FF">
                <a:alpha val="53333"/>
              </a:srgbClr>
            </a:solidFill>
            <a:prstDash val="solid"/>
          </a:ln>
        </p:spPr>
      </p:sp>
      <p:sp>
        <p:nvSpPr>
          <p:cNvPr id="16" name="">
            <a:extLst xmlns:a="http://schemas.openxmlformats.org/drawingml/2006/main">
              <a:ext uri="{FF2B5EF4-FFF2-40B4-BE49-F238E27FC236}">
                <a16:creationId xmlns:a16="http://schemas.microsoft.com/office/drawing/2014/main" id="{64222617-05CF-42E2-92CE-A7A81EC7AF34}"/>
              </a:ext>
            </a:extLst>
          </p:cNvPr>
          <p:cNvSpPr>
            <a:spLocks xmlns:a="http://schemas.openxmlformats.org/drawingml/2006/main" noGrp="1"/>
          </p:cNvSpPr>
          <p:nvPr/>
        </p:nvSpPr>
        <p:spPr>
          <a:xfrm xmlns:a="http://schemas.openxmlformats.org/drawingml/2006/main">
            <a:off x="9505950" y="4667250"/>
            <a:ext cx="77343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routes/* : API REST</a:t>
            </a:r>
          </a:p>
        </p:txBody>
      </p:sp>
      <p:sp>
        <p:nvSpPr>
          <p:cNvPr id="17" name="">
            <a:extLst xmlns:a="http://schemas.openxmlformats.org/drawingml/2006/main">
              <a:ext uri="{FF2B5EF4-FFF2-40B4-BE49-F238E27FC236}">
                <a16:creationId xmlns:a16="http://schemas.microsoft.com/office/drawing/2014/main" id="{743A315E-2629-4667-9449-3C2EFF2183BE}"/>
              </a:ext>
            </a:extLst>
          </p:cNvPr>
          <p:cNvSpPr>
            <a:spLocks xmlns:a="http://schemas.openxmlformats.org/drawingml/2006/main" noGrp="1"/>
          </p:cNvSpPr>
          <p:nvPr/>
        </p:nvSpPr>
        <p:spPr>
          <a:xfrm xmlns:a="http://schemas.openxmlformats.org/drawingml/2006/main">
            <a:off x="9344025" y="5259705"/>
            <a:ext cx="8067675" cy="609600"/>
          </a:xfrm>
          <a:prstGeom xmlns:a="http://schemas.openxmlformats.org/drawingml/2006/main" prst="roundRect">
            <a:avLst>
              <a:gd name="adj" fmla="val 9375"/>
            </a:avLst>
          </a:prstGeom>
          <a:solidFill xmlns:a="http://schemas.openxmlformats.org/drawingml/2006/main">
            <a:srgbClr val="FBBF24">
              <a:alpha val="12549"/>
            </a:srgbClr>
          </a:solidFill>
          <a:ln xmlns:a="http://schemas.openxmlformats.org/drawingml/2006/main" w="9525">
            <a:solidFill>
              <a:srgbClr val="FBBF24">
                <a:alpha val="53333"/>
              </a:srgbClr>
            </a:solidFill>
            <a:prstDash val="solid"/>
          </a:ln>
        </p:spPr>
      </p:sp>
      <p:sp>
        <p:nvSpPr>
          <p:cNvPr id="18" name="">
            <a:extLst xmlns:a="http://schemas.openxmlformats.org/drawingml/2006/main">
              <a:ext uri="{FF2B5EF4-FFF2-40B4-BE49-F238E27FC236}">
                <a16:creationId xmlns:a16="http://schemas.microsoft.com/office/drawing/2014/main" id="{CB89AF0C-E90A-43E9-87BB-EFCC73FBB2D3}"/>
              </a:ext>
            </a:extLst>
          </p:cNvPr>
          <p:cNvSpPr>
            <a:spLocks xmlns:a="http://schemas.openxmlformats.org/drawingml/2006/main" noGrp="1"/>
          </p:cNvSpPr>
          <p:nvPr/>
        </p:nvSpPr>
        <p:spPr>
          <a:xfrm xmlns:a="http://schemas.openxmlformats.org/drawingml/2006/main">
            <a:off x="9505950" y="5429250"/>
            <a:ext cx="77343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auth/* : JWT + Argon2id</a:t>
            </a:r>
          </a:p>
        </p:txBody>
      </p:sp>
      <p:sp>
        <p:nvSpPr>
          <p:cNvPr id="19" name="">
            <a:extLst xmlns:a="http://schemas.openxmlformats.org/drawingml/2006/main">
              <a:ext uri="{FF2B5EF4-FFF2-40B4-BE49-F238E27FC236}">
                <a16:creationId xmlns:a16="http://schemas.microsoft.com/office/drawing/2014/main" id="{B75664C2-A453-4C1F-9021-B5E5C8CB7157}"/>
              </a:ext>
            </a:extLst>
          </p:cNvPr>
          <p:cNvSpPr>
            <a:spLocks xmlns:a="http://schemas.openxmlformats.org/drawingml/2006/main" noGrp="1"/>
          </p:cNvSpPr>
          <p:nvPr/>
        </p:nvSpPr>
        <p:spPr>
          <a:xfrm xmlns:a="http://schemas.openxmlformats.org/drawingml/2006/main">
            <a:off x="9344025" y="6021705"/>
            <a:ext cx="8067675" cy="609600"/>
          </a:xfrm>
          <a:prstGeom xmlns:a="http://schemas.openxmlformats.org/drawingml/2006/main" prst="roundRect">
            <a:avLst>
              <a:gd name="adj" fmla="val 9375"/>
            </a:avLst>
          </a:prstGeom>
          <a:solidFill xmlns:a="http://schemas.openxmlformats.org/drawingml/2006/main">
            <a:srgbClr val="22D3EE">
              <a:alpha val="12549"/>
            </a:srgbClr>
          </a:solidFill>
          <a:ln xmlns:a="http://schemas.openxmlformats.org/drawingml/2006/main" w="9525">
            <a:solidFill>
              <a:srgbClr val="22D3EE">
                <a:alpha val="53333"/>
              </a:srgbClr>
            </a:solidFill>
            <a:prstDash val="solid"/>
          </a:ln>
        </p:spPr>
      </p:sp>
      <p:sp>
        <p:nvSpPr>
          <p:cNvPr id="20" name="">
            <a:extLst xmlns:a="http://schemas.openxmlformats.org/drawingml/2006/main">
              <a:ext uri="{FF2B5EF4-FFF2-40B4-BE49-F238E27FC236}">
                <a16:creationId xmlns:a16="http://schemas.microsoft.com/office/drawing/2014/main" id="{6D00EC5A-8426-4E84-8007-913C93B9983D}"/>
              </a:ext>
            </a:extLst>
          </p:cNvPr>
          <p:cNvSpPr>
            <a:spLocks xmlns:a="http://schemas.openxmlformats.org/drawingml/2006/main" noGrp="1"/>
          </p:cNvSpPr>
          <p:nvPr/>
        </p:nvSpPr>
        <p:spPr>
          <a:xfrm xmlns:a="http://schemas.openxmlformats.org/drawingml/2006/main">
            <a:off x="9505950" y="6191250"/>
            <a:ext cx="77343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state.rs : AppState partage</a:t>
            </a:r>
          </a:p>
        </p:txBody>
      </p:sp>
      <p:sp>
        <p:nvSpPr>
          <p:cNvPr id="21" name="">
            <a:extLst xmlns:a="http://schemas.openxmlformats.org/drawingml/2006/main">
              <a:ext uri="{FF2B5EF4-FFF2-40B4-BE49-F238E27FC236}">
                <a16:creationId xmlns:a16="http://schemas.microsoft.com/office/drawing/2014/main" id="{8BCDAF8C-6F4C-4B26-94A5-ED8D6C66213F}"/>
              </a:ext>
            </a:extLst>
          </p:cNvPr>
          <p:cNvSpPr>
            <a:spLocks xmlns:a="http://schemas.openxmlformats.org/drawingml/2006/main" noGrp="1"/>
          </p:cNvSpPr>
          <p:nvPr/>
        </p:nvSpPr>
        <p:spPr>
          <a:xfrm xmlns:a="http://schemas.openxmlformats.org/drawingml/2006/main">
            <a:off x="9344025" y="6783705"/>
            <a:ext cx="8067675" cy="609600"/>
          </a:xfrm>
          <a:prstGeom xmlns:a="http://schemas.openxmlformats.org/drawingml/2006/main" prst="roundRect">
            <a:avLst>
              <a:gd name="adj" fmla="val 9375"/>
            </a:avLst>
          </a:prstGeom>
          <a:solidFill xmlns:a="http://schemas.openxmlformats.org/drawingml/2006/main">
            <a:srgbClr val="34D399">
              <a:alpha val="12549"/>
            </a:srgbClr>
          </a:solidFill>
          <a:ln xmlns:a="http://schemas.openxmlformats.org/drawingml/2006/main" w="9525">
            <a:solidFill>
              <a:srgbClr val="34D399">
                <a:alpha val="53333"/>
              </a:srgbClr>
            </a:solidFill>
            <a:prstDash val="solid"/>
          </a:ln>
        </p:spPr>
      </p:sp>
      <p:sp>
        <p:nvSpPr>
          <p:cNvPr id="22" name="">
            <a:extLst xmlns:a="http://schemas.openxmlformats.org/drawingml/2006/main">
              <a:ext uri="{FF2B5EF4-FFF2-40B4-BE49-F238E27FC236}">
                <a16:creationId xmlns:a16="http://schemas.microsoft.com/office/drawing/2014/main" id="{07729A9B-1646-4F39-99AC-1ED7BA3186F8}"/>
              </a:ext>
            </a:extLst>
          </p:cNvPr>
          <p:cNvSpPr>
            <a:spLocks xmlns:a="http://schemas.openxmlformats.org/drawingml/2006/main" noGrp="1"/>
          </p:cNvSpPr>
          <p:nvPr/>
        </p:nvSpPr>
        <p:spPr>
          <a:xfrm xmlns:a="http://schemas.openxmlformats.org/drawingml/2006/main">
            <a:off x="9505950" y="6953250"/>
            <a:ext cx="77343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db + repositories : persistance</a:t>
            </a:r>
          </a:p>
        </p:txBody>
      </p:sp>
      <p:sp>
        <p:nvSpPr>
          <p:cNvPr id="23" name="">
            <a:extLst xmlns:a="http://schemas.openxmlformats.org/drawingml/2006/main">
              <a:ext uri="{FF2B5EF4-FFF2-40B4-BE49-F238E27FC236}">
                <a16:creationId xmlns:a16="http://schemas.microsoft.com/office/drawing/2014/main" id="{D539A862-C557-481F-B087-9EF79A4FADE7}"/>
              </a:ext>
            </a:extLst>
          </p:cNvPr>
          <p:cNvSpPr>
            <a:spLocks xmlns:a="http://schemas.openxmlformats.org/drawingml/2006/main" noGrp="1"/>
          </p:cNvSpPr>
          <p:nvPr/>
        </p:nvSpPr>
        <p:spPr>
          <a:xfrm xmlns:a="http://schemas.openxmlformats.org/drawingml/2006/main">
            <a:off x="876300" y="9448800"/>
            <a:ext cx="165354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i="0">
                <a:solidFill>
                  <a:srgbClr val="667085"/>
                </a:solidFill>
              </a:defRPr>
            </a:pPr>
            <a:r>
              <a:rPr sz="1125" b="0" i="0">
                <a:solidFill>
                  <a:srgbClr val="667085"/>
                </a:solidFill>
              </a:rPr>
              <a:t>Preuves : backend/Cargo.toml, backend/src/main.rs, backend/src/auth/*</a:t>
            </a:r>
          </a:p>
        </p:txBody>
      </p:sp>
    </p:spTree>
    <p:extLst>
      <p:ext uri="{BB962C8B-B14F-4D97-AF65-F5344CB8AC3E}">
        <p14:creationId xmlns:p14="http://schemas.microsoft.com/office/powerpoint/2010/main" val="2041796425"/>
      </p:ext>
    </p:extLst>
  </p:cSld>
</p:sld>
</file>

<file path=ppt/slides/slide6.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56E5BD46-FC1F-4DD0-80D1-B62769DB822E}"/>
              </a:ext>
            </a:extLst>
          </p:cNvPr>
          <p:cNvSpPr>
            <a:spLocks xmlns:a="http://schemas.openxmlformats.org/drawingml/2006/main" noGrp="1"/>
          </p:cNvSpPr>
          <p:nvPr/>
        </p:nvSpPr>
        <p:spPr>
          <a:xfrm xmlns:a="http://schemas.openxmlformats.org/drawingml/2006/main">
            <a:off x="876300" y="666750"/>
            <a:ext cx="165354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i="0">
                <a:solidFill>
                  <a:srgbClr val="F8FAFC"/>
                </a:solidFill>
              </a:defRPr>
            </a:pPr>
            <a:r>
              <a:rPr sz="4050" b="1" i="0">
                <a:solidFill>
                  <a:srgbClr val="F8FAFC"/>
                </a:solidFill>
              </a:rPr>
              <a:t>WebSocket temps reel</a:t>
            </a:r>
          </a:p>
        </p:txBody>
      </p:sp>
      <p:sp>
        <p:nvSpPr>
          <p:cNvPr id="2" name="slide-subtitle">
            <a:extLst xmlns:a="http://schemas.openxmlformats.org/drawingml/2006/main">
              <a:ext uri="{FF2B5EF4-FFF2-40B4-BE49-F238E27FC236}">
                <a16:creationId xmlns:a16="http://schemas.microsoft.com/office/drawing/2014/main" id="{AD958562-63B0-40FB-A1FE-BE8F2872C4A6}"/>
              </a:ext>
            </a:extLst>
          </p:cNvPr>
          <p:cNvSpPr>
            <a:spLocks xmlns:a="http://schemas.openxmlformats.org/drawingml/2006/main" noGrp="1"/>
          </p:cNvSpPr>
          <p:nvPr/>
        </p:nvSpPr>
        <p:spPr>
          <a:xfrm xmlns:a="http://schemas.openxmlformats.org/drawingml/2006/main">
            <a:off x="876300" y="1409700"/>
            <a:ext cx="165354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i="0">
                <a:solidFill>
                  <a:srgbClr val="A7B0C6"/>
                </a:solidFill>
              </a:defRPr>
            </a:pPr>
            <a:r>
              <a:rPr sz="1725" b="0" i="0">
                <a:solidFill>
                  <a:srgbClr val="A7B0C6"/>
                </a:solidFill>
              </a:rPr>
              <a:t>Un Hub custom garde les connexions et diffuse les evenements.</a:t>
            </a:r>
          </a:p>
        </p:txBody>
      </p:sp>
      <p:sp>
        <p:nvSpPr>
          <p:cNvPr id="3" name="">
            <a:extLst xmlns:a="http://schemas.openxmlformats.org/drawingml/2006/main">
              <a:ext uri="{FF2B5EF4-FFF2-40B4-BE49-F238E27FC236}">
                <a16:creationId xmlns:a16="http://schemas.microsoft.com/office/drawing/2014/main" id="{F139D227-0041-4DE4-9553-9624B345655A}"/>
              </a:ext>
            </a:extLst>
          </p:cNvPr>
          <p:cNvSpPr>
            <a:spLocks xmlns:a="http://schemas.openxmlformats.org/drawingml/2006/main" noGrp="1"/>
          </p:cNvSpPr>
          <p:nvPr/>
        </p:nvSpPr>
        <p:spPr>
          <a:xfrm xmlns:a="http://schemas.openxmlformats.org/drawingml/2006/main">
            <a:off x="876300" y="1985010"/>
            <a:ext cx="8431054" cy="7158990"/>
          </a:xfrm>
          <a:prstGeom xmlns:a="http://schemas.openxmlformats.org/drawingml/2006/main" prst="roundRect">
            <a:avLst>
              <a:gd name="adj" fmla="val 1064"/>
            </a:avLst>
          </a:prstGeom>
          <a:solidFill xmlns:a="http://schemas.openxmlformats.org/drawingml/2006/main">
            <a:srgbClr val="0D1428"/>
          </a:solidFill>
          <a:ln xmlns:a="http://schemas.openxmlformats.org/drawingml/2006/main" w="9525">
            <a:solidFill>
              <a:srgbClr val="22D3EE"/>
            </a:solidFill>
            <a:prstDash val="solid"/>
          </a:ln>
        </p:spPr>
      </p:sp>
      <p:sp>
        <p:nvSpPr>
          <p:cNvPr id="4" name="">
            <a:extLst xmlns:a="http://schemas.openxmlformats.org/drawingml/2006/main">
              <a:ext uri="{FF2B5EF4-FFF2-40B4-BE49-F238E27FC236}">
                <a16:creationId xmlns:a16="http://schemas.microsoft.com/office/drawing/2014/main" id="{5E815701-6FA6-4135-87FB-48D3851E9436}"/>
              </a:ext>
            </a:extLst>
          </p:cNvPr>
          <p:cNvSpPr>
            <a:spLocks xmlns:a="http://schemas.openxmlformats.org/drawingml/2006/main" noGrp="1"/>
          </p:cNvSpPr>
          <p:nvPr/>
        </p:nvSpPr>
        <p:spPr>
          <a:xfrm xmlns:a="http://schemas.openxmlformats.org/drawingml/2006/main">
            <a:off x="1200150" y="3695700"/>
            <a:ext cx="779145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300" b="1" i="0">
                <a:solidFill>
                  <a:srgbClr val="22D3EE"/>
                </a:solidFill>
              </a:defRPr>
            </a:pPr>
            <a:r>
              <a:rPr sz="3300" b="1" i="0">
                <a:solidFill>
                  <a:srgbClr val="22D3EE"/>
                </a:solidFill>
              </a:rPr>
              <a:t>Hub WebSocket</a:t>
            </a:r>
          </a:p>
        </p:txBody>
      </p:sp>
      <p:sp>
        <p:nvSpPr>
          <p:cNvPr id="5" name="">
            <a:extLst xmlns:a="http://schemas.openxmlformats.org/drawingml/2006/main">
              <a:ext uri="{FF2B5EF4-FFF2-40B4-BE49-F238E27FC236}">
                <a16:creationId xmlns:a16="http://schemas.microsoft.com/office/drawing/2014/main" id="{F5D91092-D1ED-4463-865E-2C39854A056F}"/>
              </a:ext>
            </a:extLst>
          </p:cNvPr>
          <p:cNvSpPr>
            <a:spLocks xmlns:a="http://schemas.openxmlformats.org/drawingml/2006/main" noGrp="1"/>
          </p:cNvSpPr>
          <p:nvPr/>
        </p:nvSpPr>
        <p:spPr>
          <a:xfrm xmlns:a="http://schemas.openxmlformats.org/drawingml/2006/main">
            <a:off x="1200150" y="4343400"/>
            <a:ext cx="2286000" cy="381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6" name="">
            <a:extLst xmlns:a="http://schemas.openxmlformats.org/drawingml/2006/main">
              <a:ext uri="{FF2B5EF4-FFF2-40B4-BE49-F238E27FC236}">
                <a16:creationId xmlns:a16="http://schemas.microsoft.com/office/drawing/2014/main" id="{B1DD68CC-E896-4A26-898E-C2833B15EB04}"/>
              </a:ext>
            </a:extLst>
          </p:cNvPr>
          <p:cNvSpPr>
            <a:spLocks xmlns:a="http://schemas.openxmlformats.org/drawingml/2006/main" noGrp="1"/>
          </p:cNvSpPr>
          <p:nvPr/>
        </p:nvSpPr>
        <p:spPr>
          <a:xfrm xmlns:a="http://schemas.openxmlformats.org/drawingml/2006/main">
            <a:off x="1200150" y="4539615"/>
            <a:ext cx="7783354" cy="609600"/>
          </a:xfrm>
          <a:prstGeom xmlns:a="http://schemas.openxmlformats.org/drawingml/2006/main" prst="roundRect">
            <a:avLst>
              <a:gd name="adj" fmla="val 9375"/>
            </a:avLst>
          </a:prstGeom>
          <a:solidFill xmlns:a="http://schemas.openxmlformats.org/drawingml/2006/main">
            <a:srgbClr val="2F80FF">
              <a:alpha val="12549"/>
            </a:srgbClr>
          </a:solidFill>
          <a:ln xmlns:a="http://schemas.openxmlformats.org/drawingml/2006/main" w="9525">
            <a:solidFill>
              <a:srgbClr val="2F80FF">
                <a:alpha val="53333"/>
              </a:srgbClr>
            </a:solidFill>
            <a:prstDash val="solid"/>
          </a:ln>
        </p:spPr>
      </p:sp>
      <p:sp>
        <p:nvSpPr>
          <p:cNvPr id="7" name="">
            <a:extLst xmlns:a="http://schemas.openxmlformats.org/drawingml/2006/main">
              <a:ext uri="{FF2B5EF4-FFF2-40B4-BE49-F238E27FC236}">
                <a16:creationId xmlns:a16="http://schemas.microsoft.com/office/drawing/2014/main" id="{917332EB-BCF4-43E2-98FB-52A9453BFC76}"/>
              </a:ext>
            </a:extLst>
          </p:cNvPr>
          <p:cNvSpPr>
            <a:spLocks xmlns:a="http://schemas.openxmlformats.org/drawingml/2006/main" noGrp="1"/>
          </p:cNvSpPr>
          <p:nvPr/>
        </p:nvSpPr>
        <p:spPr>
          <a:xfrm xmlns:a="http://schemas.openxmlformats.org/drawingml/2006/main">
            <a:off x="1371600" y="4705350"/>
            <a:ext cx="74295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connections : user -&gt; connIds</a:t>
            </a:r>
          </a:p>
        </p:txBody>
      </p:sp>
      <p:sp>
        <p:nvSpPr>
          <p:cNvPr id="8" name="">
            <a:extLst xmlns:a="http://schemas.openxmlformats.org/drawingml/2006/main">
              <a:ext uri="{FF2B5EF4-FFF2-40B4-BE49-F238E27FC236}">
                <a16:creationId xmlns:a16="http://schemas.microsoft.com/office/drawing/2014/main" id="{3DF963A3-D529-4C89-B8F5-D117595431A9}"/>
              </a:ext>
            </a:extLst>
          </p:cNvPr>
          <p:cNvSpPr>
            <a:spLocks xmlns:a="http://schemas.openxmlformats.org/drawingml/2006/main" noGrp="1"/>
          </p:cNvSpPr>
          <p:nvPr/>
        </p:nvSpPr>
        <p:spPr>
          <a:xfrm xmlns:a="http://schemas.openxmlformats.org/drawingml/2006/main">
            <a:off x="1200150" y="5301615"/>
            <a:ext cx="7783354" cy="609600"/>
          </a:xfrm>
          <a:prstGeom xmlns:a="http://schemas.openxmlformats.org/drawingml/2006/main" prst="roundRect">
            <a:avLst>
              <a:gd name="adj" fmla="val 9375"/>
            </a:avLst>
          </a:prstGeom>
          <a:solidFill xmlns:a="http://schemas.openxmlformats.org/drawingml/2006/main">
            <a:srgbClr val="8B5CF6">
              <a:alpha val="12549"/>
            </a:srgbClr>
          </a:solidFill>
          <a:ln xmlns:a="http://schemas.openxmlformats.org/drawingml/2006/main" w="9525">
            <a:solidFill>
              <a:srgbClr val="8B5CF6">
                <a:alpha val="53333"/>
              </a:srgbClr>
            </a:solidFill>
            <a:prstDash val="solid"/>
          </a:ln>
        </p:spPr>
      </p:sp>
      <p:sp>
        <p:nvSpPr>
          <p:cNvPr id="9" name="">
            <a:extLst xmlns:a="http://schemas.openxmlformats.org/drawingml/2006/main">
              <a:ext uri="{FF2B5EF4-FFF2-40B4-BE49-F238E27FC236}">
                <a16:creationId xmlns:a16="http://schemas.microsoft.com/office/drawing/2014/main" id="{9AC641DF-4361-4E62-88CD-2FBB4865AE41}"/>
              </a:ext>
            </a:extLst>
          </p:cNvPr>
          <p:cNvSpPr>
            <a:spLocks xmlns:a="http://schemas.openxmlformats.org/drawingml/2006/main" noGrp="1"/>
          </p:cNvSpPr>
          <p:nvPr/>
        </p:nvSpPr>
        <p:spPr>
          <a:xfrm xmlns:a="http://schemas.openxmlformats.org/drawingml/2006/main">
            <a:off x="1371600" y="5467350"/>
            <a:ext cx="74295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sockets : connId -&gt; sender</a:t>
            </a:r>
          </a:p>
        </p:txBody>
      </p:sp>
      <p:sp>
        <p:nvSpPr>
          <p:cNvPr id="10" name="">
            <a:extLst xmlns:a="http://schemas.openxmlformats.org/drawingml/2006/main">
              <a:ext uri="{FF2B5EF4-FFF2-40B4-BE49-F238E27FC236}">
                <a16:creationId xmlns:a16="http://schemas.microsoft.com/office/drawing/2014/main" id="{A9A722F1-D34D-423B-80DA-5039DDE6BB97}"/>
              </a:ext>
            </a:extLst>
          </p:cNvPr>
          <p:cNvSpPr>
            <a:spLocks xmlns:a="http://schemas.openxmlformats.org/drawingml/2006/main" noGrp="1"/>
          </p:cNvSpPr>
          <p:nvPr/>
        </p:nvSpPr>
        <p:spPr>
          <a:xfrm xmlns:a="http://schemas.openxmlformats.org/drawingml/2006/main">
            <a:off x="1200150" y="6063615"/>
            <a:ext cx="7783354" cy="609600"/>
          </a:xfrm>
          <a:prstGeom xmlns:a="http://schemas.openxmlformats.org/drawingml/2006/main" prst="roundRect">
            <a:avLst>
              <a:gd name="adj" fmla="val 9375"/>
            </a:avLst>
          </a:prstGeom>
          <a:solidFill xmlns:a="http://schemas.openxmlformats.org/drawingml/2006/main">
            <a:srgbClr val="34D399">
              <a:alpha val="12549"/>
            </a:srgbClr>
          </a:solidFill>
          <a:ln xmlns:a="http://schemas.openxmlformats.org/drawingml/2006/main" w="9525">
            <a:solidFill>
              <a:srgbClr val="34D399">
                <a:alpha val="53333"/>
              </a:srgbClr>
            </a:solidFill>
            <a:prstDash val="solid"/>
          </a:ln>
        </p:spPr>
      </p:sp>
      <p:sp>
        <p:nvSpPr>
          <p:cNvPr id="11" name="">
            <a:extLst xmlns:a="http://schemas.openxmlformats.org/drawingml/2006/main">
              <a:ext uri="{FF2B5EF4-FFF2-40B4-BE49-F238E27FC236}">
                <a16:creationId xmlns:a16="http://schemas.microsoft.com/office/drawing/2014/main" id="{A8705B03-24B0-4FFB-B66D-91F2B844BD17}"/>
              </a:ext>
            </a:extLst>
          </p:cNvPr>
          <p:cNvSpPr>
            <a:spLocks xmlns:a="http://schemas.openxmlformats.org/drawingml/2006/main" noGrp="1"/>
          </p:cNvSpPr>
          <p:nvPr/>
        </p:nvSpPr>
        <p:spPr>
          <a:xfrm xmlns:a="http://schemas.openxmlformats.org/drawingml/2006/main">
            <a:off x="1371600" y="6229350"/>
            <a:ext cx="74295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rooms : roomId -&gt; connIds</a:t>
            </a:r>
          </a:p>
        </p:txBody>
      </p:sp>
      <p:sp>
        <p:nvSpPr>
          <p:cNvPr id="12" name="">
            <a:extLst xmlns:a="http://schemas.openxmlformats.org/drawingml/2006/main">
              <a:ext uri="{FF2B5EF4-FFF2-40B4-BE49-F238E27FC236}">
                <a16:creationId xmlns:a16="http://schemas.microsoft.com/office/drawing/2014/main" id="{B87EADEE-4316-4835-9EA4-2030BD96F87C}"/>
              </a:ext>
            </a:extLst>
          </p:cNvPr>
          <p:cNvSpPr>
            <a:spLocks xmlns:a="http://schemas.openxmlformats.org/drawingml/2006/main" noGrp="1"/>
          </p:cNvSpPr>
          <p:nvPr/>
        </p:nvSpPr>
        <p:spPr>
          <a:xfrm xmlns:a="http://schemas.openxmlformats.org/drawingml/2006/main">
            <a:off x="1200150" y="6825615"/>
            <a:ext cx="7783354" cy="609600"/>
          </a:xfrm>
          <a:prstGeom xmlns:a="http://schemas.openxmlformats.org/drawingml/2006/main" prst="roundRect">
            <a:avLst>
              <a:gd name="adj" fmla="val 9375"/>
            </a:avLst>
          </a:prstGeom>
          <a:solidFill xmlns:a="http://schemas.openxmlformats.org/drawingml/2006/main">
            <a:srgbClr val="FBBF24">
              <a:alpha val="12549"/>
            </a:srgbClr>
          </a:solidFill>
          <a:ln xmlns:a="http://schemas.openxmlformats.org/drawingml/2006/main" w="9525">
            <a:solidFill>
              <a:srgbClr val="FBBF24">
                <a:alpha val="53333"/>
              </a:srgbClr>
            </a:solidFill>
            <a:prstDash val="solid"/>
          </a:ln>
        </p:spPr>
      </p:sp>
      <p:sp>
        <p:nvSpPr>
          <p:cNvPr id="13" name="">
            <a:extLst xmlns:a="http://schemas.openxmlformats.org/drawingml/2006/main">
              <a:ext uri="{FF2B5EF4-FFF2-40B4-BE49-F238E27FC236}">
                <a16:creationId xmlns:a16="http://schemas.microsoft.com/office/drawing/2014/main" id="{4D2306CA-A883-4F44-99DD-234FD6BFBCA1}"/>
              </a:ext>
            </a:extLst>
          </p:cNvPr>
          <p:cNvSpPr>
            <a:spLocks xmlns:a="http://schemas.openxmlformats.org/drawingml/2006/main" noGrp="1"/>
          </p:cNvSpPr>
          <p:nvPr/>
        </p:nvSpPr>
        <p:spPr>
          <a:xfrm xmlns:a="http://schemas.openxmlformats.org/drawingml/2006/main">
            <a:off x="1371600" y="6991350"/>
            <a:ext cx="74295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heartbeats : connId -&gt; time</a:t>
            </a:r>
          </a:p>
        </p:txBody>
      </p:sp>
      <p:sp>
        <p:nvSpPr>
          <p:cNvPr id="14" name="">
            <a:extLst xmlns:a="http://schemas.openxmlformats.org/drawingml/2006/main">
              <a:ext uri="{FF2B5EF4-FFF2-40B4-BE49-F238E27FC236}">
                <a16:creationId xmlns:a16="http://schemas.microsoft.com/office/drawing/2014/main" id="{243AB3DE-4E5B-4CD2-ADE1-85E0E503D986}"/>
              </a:ext>
            </a:extLst>
          </p:cNvPr>
          <p:cNvSpPr>
            <a:spLocks xmlns:a="http://schemas.openxmlformats.org/drawingml/2006/main" noGrp="1"/>
          </p:cNvSpPr>
          <p:nvPr/>
        </p:nvSpPr>
        <p:spPr>
          <a:xfrm xmlns:a="http://schemas.openxmlformats.org/drawingml/2006/main">
            <a:off x="9791700" y="4476750"/>
            <a:ext cx="104775" cy="104775"/>
          </a:xfrm>
          <a:prstGeom xmlns:a="http://schemas.openxmlformats.org/drawingml/2006/main" prst="ellipse">
            <a:avLst/>
          </a:prstGeom>
          <a:solidFill xmlns:a="http://schemas.openxmlformats.org/drawingml/2006/main">
            <a:srgbClr val="22D3EE"/>
          </a:solidFill>
          <a:ln xmlns:a="http://schemas.openxmlformats.org/drawingml/2006/main" w="0">
            <a:solidFill>
              <a:srgbClr val="22D3EE"/>
            </a:solidFill>
            <a:prstDash val="solid"/>
          </a:ln>
        </p:spPr>
      </p:sp>
      <p:sp>
        <p:nvSpPr>
          <p:cNvPr id="15" name="">
            <a:extLst xmlns:a="http://schemas.openxmlformats.org/drawingml/2006/main">
              <a:ext uri="{FF2B5EF4-FFF2-40B4-BE49-F238E27FC236}">
                <a16:creationId xmlns:a16="http://schemas.microsoft.com/office/drawing/2014/main" id="{1F7DDB16-8FA7-4622-BD59-E7D381394830}"/>
              </a:ext>
            </a:extLst>
          </p:cNvPr>
          <p:cNvSpPr>
            <a:spLocks xmlns:a="http://schemas.openxmlformats.org/drawingml/2006/main" noGrp="1"/>
          </p:cNvSpPr>
          <p:nvPr/>
        </p:nvSpPr>
        <p:spPr>
          <a:xfrm xmlns:a="http://schemas.openxmlformats.org/drawingml/2006/main">
            <a:off x="10020300" y="4476750"/>
            <a:ext cx="73914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DashMap : structures concurrentes sans Mutex global</a:t>
            </a:r>
          </a:p>
        </p:txBody>
      </p:sp>
      <p:sp>
        <p:nvSpPr>
          <p:cNvPr id="16" name="">
            <a:extLst xmlns:a="http://schemas.openxmlformats.org/drawingml/2006/main">
              <a:ext uri="{FF2B5EF4-FFF2-40B4-BE49-F238E27FC236}">
                <a16:creationId xmlns:a16="http://schemas.microsoft.com/office/drawing/2014/main" id="{189ABB10-9A61-4DEB-ADB9-8893DF7A6525}"/>
              </a:ext>
            </a:extLst>
          </p:cNvPr>
          <p:cNvSpPr>
            <a:spLocks xmlns:a="http://schemas.openxmlformats.org/drawingml/2006/main" noGrp="1"/>
          </p:cNvSpPr>
          <p:nvPr/>
        </p:nvSpPr>
        <p:spPr>
          <a:xfrm xmlns:a="http://schemas.openxmlformats.org/drawingml/2006/main">
            <a:off x="9791700" y="4953000"/>
            <a:ext cx="104775" cy="10477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17" name="">
            <a:extLst xmlns:a="http://schemas.openxmlformats.org/drawingml/2006/main">
              <a:ext uri="{FF2B5EF4-FFF2-40B4-BE49-F238E27FC236}">
                <a16:creationId xmlns:a16="http://schemas.microsoft.com/office/drawing/2014/main" id="{DE76FC7B-443C-48C3-B199-F55AFF4972E0}"/>
              </a:ext>
            </a:extLst>
          </p:cNvPr>
          <p:cNvSpPr>
            <a:spLocks xmlns:a="http://schemas.openxmlformats.org/drawingml/2006/main" noGrp="1"/>
          </p:cNvSpPr>
          <p:nvPr/>
        </p:nvSpPr>
        <p:spPr>
          <a:xfrm xmlns:a="http://schemas.openxmlformats.org/drawingml/2006/main">
            <a:off x="10020300" y="4953000"/>
            <a:ext cx="73914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Rooms : broadcast cible par canal ou DM</a:t>
            </a:r>
          </a:p>
        </p:txBody>
      </p:sp>
      <p:sp>
        <p:nvSpPr>
          <p:cNvPr id="18" name="">
            <a:extLst xmlns:a="http://schemas.openxmlformats.org/drawingml/2006/main">
              <a:ext uri="{FF2B5EF4-FFF2-40B4-BE49-F238E27FC236}">
                <a16:creationId xmlns:a16="http://schemas.microsoft.com/office/drawing/2014/main" id="{7995D613-0E7F-4B09-8DC5-65025D606414}"/>
              </a:ext>
            </a:extLst>
          </p:cNvPr>
          <p:cNvSpPr>
            <a:spLocks xmlns:a="http://schemas.openxmlformats.org/drawingml/2006/main" noGrp="1"/>
          </p:cNvSpPr>
          <p:nvPr/>
        </p:nvSpPr>
        <p:spPr>
          <a:xfrm xmlns:a="http://schemas.openxmlformats.org/drawingml/2006/main">
            <a:off x="9791700" y="5429250"/>
            <a:ext cx="104775" cy="104775"/>
          </a:xfrm>
          <a:prstGeom xmlns:a="http://schemas.openxmlformats.org/drawingml/2006/main" prst="ellipse">
            <a:avLst/>
          </a:prstGeom>
          <a:solidFill xmlns:a="http://schemas.openxmlformats.org/drawingml/2006/main">
            <a:srgbClr val="2F80FF"/>
          </a:solidFill>
          <a:ln xmlns:a="http://schemas.openxmlformats.org/drawingml/2006/main" w="0">
            <a:solidFill>
              <a:srgbClr val="2F80FF"/>
            </a:solidFill>
            <a:prstDash val="solid"/>
          </a:ln>
        </p:spPr>
      </p:sp>
      <p:sp>
        <p:nvSpPr>
          <p:cNvPr id="19" name="">
            <a:extLst xmlns:a="http://schemas.openxmlformats.org/drawingml/2006/main">
              <a:ext uri="{FF2B5EF4-FFF2-40B4-BE49-F238E27FC236}">
                <a16:creationId xmlns:a16="http://schemas.microsoft.com/office/drawing/2014/main" id="{20A5E6C6-3D4D-4721-9C23-798559895AE7}"/>
              </a:ext>
            </a:extLst>
          </p:cNvPr>
          <p:cNvSpPr>
            <a:spLocks xmlns:a="http://schemas.openxmlformats.org/drawingml/2006/main" noGrp="1"/>
          </p:cNvSpPr>
          <p:nvPr/>
        </p:nvSpPr>
        <p:spPr>
          <a:xfrm xmlns:a="http://schemas.openxmlformats.org/drawingml/2006/main">
            <a:off x="10020300" y="5429250"/>
            <a:ext cx="73914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Typing + presence + heartbeat</a:t>
            </a:r>
          </a:p>
        </p:txBody>
      </p:sp>
      <p:sp>
        <p:nvSpPr>
          <p:cNvPr id="20" name="">
            <a:extLst xmlns:a="http://schemas.openxmlformats.org/drawingml/2006/main">
              <a:ext uri="{FF2B5EF4-FFF2-40B4-BE49-F238E27FC236}">
                <a16:creationId xmlns:a16="http://schemas.microsoft.com/office/drawing/2014/main" id="{DB307F0A-5BC9-43CA-AA9A-E20ECE3B56F6}"/>
              </a:ext>
            </a:extLst>
          </p:cNvPr>
          <p:cNvSpPr>
            <a:spLocks xmlns:a="http://schemas.openxmlformats.org/drawingml/2006/main" noGrp="1"/>
          </p:cNvSpPr>
          <p:nvPr/>
        </p:nvSpPr>
        <p:spPr>
          <a:xfrm xmlns:a="http://schemas.openxmlformats.org/drawingml/2006/main">
            <a:off x="9791700" y="5905500"/>
            <a:ext cx="104775" cy="104775"/>
          </a:xfrm>
          <a:prstGeom xmlns:a="http://schemas.openxmlformats.org/drawingml/2006/main" prst="ellipse">
            <a:avLst/>
          </a:prstGeom>
          <a:solidFill xmlns:a="http://schemas.openxmlformats.org/drawingml/2006/main">
            <a:srgbClr val="8B5CF6"/>
          </a:solidFill>
          <a:ln xmlns:a="http://schemas.openxmlformats.org/drawingml/2006/main" w="0">
            <a:solidFill>
              <a:srgbClr val="8B5CF6"/>
            </a:solidFill>
            <a:prstDash val="solid"/>
          </a:ln>
        </p:spPr>
      </p:sp>
      <p:sp>
        <p:nvSpPr>
          <p:cNvPr id="21" name="">
            <a:extLst xmlns:a="http://schemas.openxmlformats.org/drawingml/2006/main">
              <a:ext uri="{FF2B5EF4-FFF2-40B4-BE49-F238E27FC236}">
                <a16:creationId xmlns:a16="http://schemas.microsoft.com/office/drawing/2014/main" id="{A849B4D3-B5E5-4C98-AC39-3CD5B280B78A}"/>
              </a:ext>
            </a:extLst>
          </p:cNvPr>
          <p:cNvSpPr>
            <a:spLocks xmlns:a="http://schemas.openxmlformats.org/drawingml/2006/main" noGrp="1"/>
          </p:cNvSpPr>
          <p:nvPr/>
        </p:nvSpPr>
        <p:spPr>
          <a:xfrm xmlns:a="http://schemas.openxmlformats.org/drawingml/2006/main">
            <a:off x="10020300" y="5905500"/>
            <a:ext cx="73914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Messages, reactions, pins et DMs</a:t>
            </a:r>
          </a:p>
        </p:txBody>
      </p:sp>
      <p:sp>
        <p:nvSpPr>
          <p:cNvPr id="22" name="">
            <a:extLst xmlns:a="http://schemas.openxmlformats.org/drawingml/2006/main">
              <a:ext uri="{FF2B5EF4-FFF2-40B4-BE49-F238E27FC236}">
                <a16:creationId xmlns:a16="http://schemas.microsoft.com/office/drawing/2014/main" id="{0718285F-2F23-4561-84A2-82C14C956298}"/>
              </a:ext>
            </a:extLst>
          </p:cNvPr>
          <p:cNvSpPr>
            <a:spLocks xmlns:a="http://schemas.openxmlformats.org/drawingml/2006/main" noGrp="1"/>
          </p:cNvSpPr>
          <p:nvPr/>
        </p:nvSpPr>
        <p:spPr>
          <a:xfrm xmlns:a="http://schemas.openxmlformats.org/drawingml/2006/main">
            <a:off x="9791700" y="6381750"/>
            <a:ext cx="104775" cy="104775"/>
          </a:xfrm>
          <a:prstGeom xmlns:a="http://schemas.openxmlformats.org/drawingml/2006/main" prst="ellipse">
            <a:avLst/>
          </a:prstGeom>
          <a:solidFill xmlns:a="http://schemas.openxmlformats.org/drawingml/2006/main">
            <a:srgbClr val="FBBF24"/>
          </a:solidFill>
          <a:ln xmlns:a="http://schemas.openxmlformats.org/drawingml/2006/main" w="0">
            <a:solidFill>
              <a:srgbClr val="FBBF24"/>
            </a:solidFill>
            <a:prstDash val="solid"/>
          </a:ln>
        </p:spPr>
      </p:sp>
      <p:sp>
        <p:nvSpPr>
          <p:cNvPr id="23" name="">
            <a:extLst xmlns:a="http://schemas.openxmlformats.org/drawingml/2006/main">
              <a:ext uri="{FF2B5EF4-FFF2-40B4-BE49-F238E27FC236}">
                <a16:creationId xmlns:a16="http://schemas.microsoft.com/office/drawing/2014/main" id="{AF359F07-0F8E-4D09-B522-E3524B7E7A54}"/>
              </a:ext>
            </a:extLst>
          </p:cNvPr>
          <p:cNvSpPr>
            <a:spLocks xmlns:a="http://schemas.openxmlformats.org/drawingml/2006/main" noGrp="1"/>
          </p:cNvSpPr>
          <p:nvPr/>
        </p:nvSpPr>
        <p:spPr>
          <a:xfrm xmlns:a="http://schemas.openxmlformats.org/drawingml/2006/main">
            <a:off x="10020300" y="6381750"/>
            <a:ext cx="73914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Protocole JSON type/payload valide cote front</a:t>
            </a:r>
          </a:p>
        </p:txBody>
      </p:sp>
      <p:sp>
        <p:nvSpPr>
          <p:cNvPr id="24" name="">
            <a:extLst xmlns:a="http://schemas.openxmlformats.org/drawingml/2006/main">
              <a:ext uri="{FF2B5EF4-FFF2-40B4-BE49-F238E27FC236}">
                <a16:creationId xmlns:a16="http://schemas.microsoft.com/office/drawing/2014/main" id="{3ACE689B-7DF6-4113-BEB8-EABF139DFD0B}"/>
              </a:ext>
            </a:extLst>
          </p:cNvPr>
          <p:cNvSpPr>
            <a:spLocks xmlns:a="http://schemas.openxmlformats.org/drawingml/2006/main" noGrp="1"/>
          </p:cNvSpPr>
          <p:nvPr/>
        </p:nvSpPr>
        <p:spPr>
          <a:xfrm xmlns:a="http://schemas.openxmlformats.org/drawingml/2006/main">
            <a:off x="876300" y="9448800"/>
            <a:ext cx="165354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i="0">
                <a:solidFill>
                  <a:srgbClr val="667085"/>
                </a:solidFill>
              </a:defRPr>
            </a:pPr>
            <a:r>
              <a:rPr sz="1125" b="0" i="0">
                <a:solidFill>
                  <a:srgbClr val="667085"/>
                </a:solidFill>
              </a:rPr>
              <a:t>Preuves : backend/src/ws/hub.rs, ws/connection.rs, ws/protocol.rs, frontend/lib/ws/types.ts</a:t>
            </a:r>
          </a:p>
        </p:txBody>
      </p:sp>
    </p:spTree>
    <p:extLst>
      <p:ext uri="{BB962C8B-B14F-4D97-AF65-F5344CB8AC3E}">
        <p14:creationId xmlns:p14="http://schemas.microsoft.com/office/powerpoint/2010/main" val="14075302"/>
      </p:ext>
    </p:extLst>
  </p:cSld>
</p:sld>
</file>

<file path=ppt/slides/slide7.xml><?xml version="1.0" encoding="utf-8"?>
<p:sld xmlns:p="http://schemas.openxmlformats.org/presentationml/2006/main">
  <p:cSld>
    <p:bg>
      <p:bgPr>
        <a:solidFill xmlns:a="http://schemas.openxmlformats.org/drawingml/2006/main">
          <a:srgbClr val="060A16"/>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DFFB7015-42E9-40CB-901E-ACC00412FCBC}"/>
              </a:ext>
            </a:extLst>
          </p:cNvPr>
          <p:cNvSpPr>
            <a:spLocks xmlns:a="http://schemas.openxmlformats.org/drawingml/2006/main" noGrp="1"/>
          </p:cNvSpPr>
          <p:nvPr/>
        </p:nvSpPr>
        <p:spPr>
          <a:xfrm xmlns:a="http://schemas.openxmlformats.org/drawingml/2006/main">
            <a:off x="876300" y="666750"/>
            <a:ext cx="165354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i="0">
                <a:solidFill>
                  <a:srgbClr val="F8FAFC"/>
                </a:solidFill>
              </a:defRPr>
            </a:pPr>
            <a:r>
              <a:rPr sz="4050" b="1" i="0">
                <a:solidFill>
                  <a:srgbClr val="F8FAFC"/>
                </a:solidFill>
              </a:rPr>
              <a:t>Bases de donnees</a:t>
            </a:r>
          </a:p>
        </p:txBody>
      </p:sp>
      <p:sp>
        <p:nvSpPr>
          <p:cNvPr id="2" name="slide-subtitle">
            <a:extLst xmlns:a="http://schemas.openxmlformats.org/drawingml/2006/main">
              <a:ext uri="{FF2B5EF4-FFF2-40B4-BE49-F238E27FC236}">
                <a16:creationId xmlns:a16="http://schemas.microsoft.com/office/drawing/2014/main" id="{3770CEAF-E872-477F-947D-F15BD845BCB3}"/>
              </a:ext>
            </a:extLst>
          </p:cNvPr>
          <p:cNvSpPr>
            <a:spLocks xmlns:a="http://schemas.openxmlformats.org/drawingml/2006/main" noGrp="1"/>
          </p:cNvSpPr>
          <p:nvPr/>
        </p:nvSpPr>
        <p:spPr>
          <a:xfrm xmlns:a="http://schemas.openxmlformats.org/drawingml/2006/main">
            <a:off x="876300" y="1409700"/>
            <a:ext cx="165354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i="0">
                <a:solidFill>
                  <a:srgbClr val="A7B0C6"/>
                </a:solidFill>
              </a:defRPr>
            </a:pPr>
            <a:r>
              <a:rPr sz="1725" b="0" i="0">
                <a:solidFill>
                  <a:srgbClr val="A7B0C6"/>
                </a:solidFill>
              </a:rPr>
              <a:t>PostgreSQL et MongoDB n'ont pas le meme role.</a:t>
            </a:r>
          </a:p>
        </p:txBody>
      </p:sp>
      <p:sp>
        <p:nvSpPr>
          <p:cNvPr id="3" name="">
            <a:extLst xmlns:a="http://schemas.openxmlformats.org/drawingml/2006/main">
              <a:ext uri="{FF2B5EF4-FFF2-40B4-BE49-F238E27FC236}">
                <a16:creationId xmlns:a16="http://schemas.microsoft.com/office/drawing/2014/main" id="{D9F96990-A3F6-4CF2-B753-B608F7AABEFD}"/>
              </a:ext>
            </a:extLst>
          </p:cNvPr>
          <p:cNvSpPr>
            <a:spLocks xmlns:a="http://schemas.openxmlformats.org/drawingml/2006/main" noGrp="1"/>
          </p:cNvSpPr>
          <p:nvPr/>
        </p:nvSpPr>
        <p:spPr>
          <a:xfrm xmlns:a="http://schemas.openxmlformats.org/drawingml/2006/main">
            <a:off x="876300" y="2004060"/>
            <a:ext cx="8105775" cy="7120890"/>
          </a:xfrm>
          <a:prstGeom xmlns:a="http://schemas.openxmlformats.org/drawingml/2006/main" prst="roundRect">
            <a:avLst>
              <a:gd name="adj" fmla="val 1070"/>
            </a:avLst>
          </a:prstGeom>
          <a:solidFill xmlns:a="http://schemas.openxmlformats.org/drawingml/2006/main">
            <a:srgbClr val="10182D"/>
          </a:solidFill>
          <a:ln xmlns:a="http://schemas.openxmlformats.org/drawingml/2006/main" w="9525">
            <a:solidFill>
              <a:srgbClr val="34D399"/>
            </a:solidFill>
            <a:prstDash val="solid"/>
          </a:ln>
        </p:spPr>
      </p:sp>
      <p:sp>
        <p:nvSpPr>
          <p:cNvPr id="4" name="">
            <a:extLst xmlns:a="http://schemas.openxmlformats.org/drawingml/2006/main">
              <a:ext uri="{FF2B5EF4-FFF2-40B4-BE49-F238E27FC236}">
                <a16:creationId xmlns:a16="http://schemas.microsoft.com/office/drawing/2014/main" id="{F16F5983-2073-4EA3-8DFA-37654C67B624}"/>
              </a:ext>
            </a:extLst>
          </p:cNvPr>
          <p:cNvSpPr>
            <a:spLocks xmlns:a="http://schemas.openxmlformats.org/drawingml/2006/main" noGrp="1"/>
          </p:cNvSpPr>
          <p:nvPr/>
        </p:nvSpPr>
        <p:spPr>
          <a:xfrm xmlns:a="http://schemas.openxmlformats.org/drawingml/2006/main">
            <a:off x="1200150" y="2286000"/>
            <a:ext cx="746760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150" b="1" i="0">
                <a:solidFill>
                  <a:srgbClr val="34D399"/>
                </a:solidFill>
              </a:defRPr>
            </a:pPr>
            <a:r>
              <a:rPr sz="3150" b="1" i="0">
                <a:solidFill>
                  <a:srgbClr val="34D399"/>
                </a:solidFill>
              </a:rPr>
              <a:t>PostgreSQL 16</a:t>
            </a:r>
          </a:p>
        </p:txBody>
      </p:sp>
      <p:sp>
        <p:nvSpPr>
          <p:cNvPr id="5" name="">
            <a:extLst xmlns:a="http://schemas.openxmlformats.org/drawingml/2006/main">
              <a:ext uri="{FF2B5EF4-FFF2-40B4-BE49-F238E27FC236}">
                <a16:creationId xmlns:a16="http://schemas.microsoft.com/office/drawing/2014/main" id="{4372817C-F74C-4B86-9A17-06CCA797D17A}"/>
              </a:ext>
            </a:extLst>
          </p:cNvPr>
          <p:cNvSpPr>
            <a:spLocks xmlns:a="http://schemas.openxmlformats.org/drawingml/2006/main" noGrp="1"/>
          </p:cNvSpPr>
          <p:nvPr/>
        </p:nvSpPr>
        <p:spPr>
          <a:xfrm xmlns:a="http://schemas.openxmlformats.org/drawingml/2006/main">
            <a:off x="1200150" y="2933700"/>
            <a:ext cx="104775" cy="10477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6" name="">
            <a:extLst xmlns:a="http://schemas.openxmlformats.org/drawingml/2006/main">
              <a:ext uri="{FF2B5EF4-FFF2-40B4-BE49-F238E27FC236}">
                <a16:creationId xmlns:a16="http://schemas.microsoft.com/office/drawing/2014/main" id="{4021233F-47E8-43D6-B9A5-EF699590360F}"/>
              </a:ext>
            </a:extLst>
          </p:cNvPr>
          <p:cNvSpPr>
            <a:spLocks xmlns:a="http://schemas.openxmlformats.org/drawingml/2006/main" noGrp="1"/>
          </p:cNvSpPr>
          <p:nvPr/>
        </p:nvSpPr>
        <p:spPr>
          <a:xfrm xmlns:a="http://schemas.openxmlformats.org/drawingml/2006/main">
            <a:off x="1447800" y="2933700"/>
            <a:ext cx="72199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Users, servers, channels</a:t>
            </a:r>
          </a:p>
        </p:txBody>
      </p:sp>
      <p:sp>
        <p:nvSpPr>
          <p:cNvPr id="7" name="">
            <a:extLst xmlns:a="http://schemas.openxmlformats.org/drawingml/2006/main">
              <a:ext uri="{FF2B5EF4-FFF2-40B4-BE49-F238E27FC236}">
                <a16:creationId xmlns:a16="http://schemas.microsoft.com/office/drawing/2014/main" id="{0125FD3B-9634-4BD9-9EC4-C2B2AC7E48E5}"/>
              </a:ext>
            </a:extLst>
          </p:cNvPr>
          <p:cNvSpPr>
            <a:spLocks xmlns:a="http://schemas.openxmlformats.org/drawingml/2006/main" noGrp="1"/>
          </p:cNvSpPr>
          <p:nvPr/>
        </p:nvSpPr>
        <p:spPr>
          <a:xfrm xmlns:a="http://schemas.openxmlformats.org/drawingml/2006/main">
            <a:off x="1200150" y="3390900"/>
            <a:ext cx="104775" cy="10477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8" name="">
            <a:extLst xmlns:a="http://schemas.openxmlformats.org/drawingml/2006/main">
              <a:ext uri="{FF2B5EF4-FFF2-40B4-BE49-F238E27FC236}">
                <a16:creationId xmlns:a16="http://schemas.microsoft.com/office/drawing/2014/main" id="{530D4CA1-60B9-4685-8C38-BEAD71150104}"/>
              </a:ext>
            </a:extLst>
          </p:cNvPr>
          <p:cNvSpPr>
            <a:spLocks xmlns:a="http://schemas.openxmlformats.org/drawingml/2006/main" noGrp="1"/>
          </p:cNvSpPr>
          <p:nvPr/>
        </p:nvSpPr>
        <p:spPr>
          <a:xfrm xmlns:a="http://schemas.openxmlformats.org/drawingml/2006/main">
            <a:off x="1447800" y="3390900"/>
            <a:ext cx="72199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Memberships, roles, invites, bans</a:t>
            </a:r>
          </a:p>
        </p:txBody>
      </p:sp>
      <p:sp>
        <p:nvSpPr>
          <p:cNvPr id="9" name="">
            <a:extLst xmlns:a="http://schemas.openxmlformats.org/drawingml/2006/main">
              <a:ext uri="{FF2B5EF4-FFF2-40B4-BE49-F238E27FC236}">
                <a16:creationId xmlns:a16="http://schemas.microsoft.com/office/drawing/2014/main" id="{223ACEC7-C5D1-414B-B45D-469F94EA7B6A}"/>
              </a:ext>
            </a:extLst>
          </p:cNvPr>
          <p:cNvSpPr>
            <a:spLocks xmlns:a="http://schemas.openxmlformats.org/drawingml/2006/main" noGrp="1"/>
          </p:cNvSpPr>
          <p:nvPr/>
        </p:nvSpPr>
        <p:spPr>
          <a:xfrm xmlns:a="http://schemas.openxmlformats.org/drawingml/2006/main">
            <a:off x="1200150" y="3848100"/>
            <a:ext cx="104775" cy="10477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10" name="">
            <a:extLst xmlns:a="http://schemas.openxmlformats.org/drawingml/2006/main">
              <a:ext uri="{FF2B5EF4-FFF2-40B4-BE49-F238E27FC236}">
                <a16:creationId xmlns:a16="http://schemas.microsoft.com/office/drawing/2014/main" id="{531F2066-54FE-4CB3-B364-3232DAD81913}"/>
              </a:ext>
            </a:extLst>
          </p:cNvPr>
          <p:cNvSpPr>
            <a:spLocks xmlns:a="http://schemas.openxmlformats.org/drawingml/2006/main" noGrp="1"/>
          </p:cNvSpPr>
          <p:nvPr/>
        </p:nvSpPr>
        <p:spPr>
          <a:xfrm xmlns:a="http://schemas.openxmlformats.org/drawingml/2006/main">
            <a:off x="1447800" y="3848100"/>
            <a:ext cx="72199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Contraintes relationnelles et coherence</a:t>
            </a:r>
          </a:p>
        </p:txBody>
      </p:sp>
      <p:sp>
        <p:nvSpPr>
          <p:cNvPr id="11" name="">
            <a:extLst xmlns:a="http://schemas.openxmlformats.org/drawingml/2006/main">
              <a:ext uri="{FF2B5EF4-FFF2-40B4-BE49-F238E27FC236}">
                <a16:creationId xmlns:a16="http://schemas.microsoft.com/office/drawing/2014/main" id="{113AD74C-6D64-491C-B359-A03E5DB725A2}"/>
              </a:ext>
            </a:extLst>
          </p:cNvPr>
          <p:cNvSpPr>
            <a:spLocks xmlns:a="http://schemas.openxmlformats.org/drawingml/2006/main" noGrp="1"/>
          </p:cNvSpPr>
          <p:nvPr/>
        </p:nvSpPr>
        <p:spPr>
          <a:xfrm xmlns:a="http://schemas.openxmlformats.org/drawingml/2006/main">
            <a:off x="1200150" y="4305300"/>
            <a:ext cx="104775" cy="10477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12" name="">
            <a:extLst xmlns:a="http://schemas.openxmlformats.org/drawingml/2006/main">
              <a:ext uri="{FF2B5EF4-FFF2-40B4-BE49-F238E27FC236}">
                <a16:creationId xmlns:a16="http://schemas.microsoft.com/office/drawing/2014/main" id="{FAAEC514-CD3D-46AC-97F2-57AFB657473B}"/>
              </a:ext>
            </a:extLst>
          </p:cNvPr>
          <p:cNvSpPr>
            <a:spLocks xmlns:a="http://schemas.openxmlformats.org/drawingml/2006/main" noGrp="1"/>
          </p:cNvSpPr>
          <p:nvPr/>
        </p:nvSpPr>
        <p:spPr>
          <a:xfrm xmlns:a="http://schemas.openxmlformats.org/drawingml/2006/main">
            <a:off x="1447800" y="4305300"/>
            <a:ext cx="72199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SQLx 0.8 pour requetes typees</a:t>
            </a:r>
          </a:p>
        </p:txBody>
      </p:sp>
      <p:sp>
        <p:nvSpPr>
          <p:cNvPr id="13" name="">
            <a:extLst xmlns:a="http://schemas.openxmlformats.org/drawingml/2006/main">
              <a:ext uri="{FF2B5EF4-FFF2-40B4-BE49-F238E27FC236}">
                <a16:creationId xmlns:a16="http://schemas.microsoft.com/office/drawing/2014/main" id="{E5590CEF-D857-4535-B83D-35E983EE7AEC}"/>
              </a:ext>
            </a:extLst>
          </p:cNvPr>
          <p:cNvSpPr>
            <a:spLocks xmlns:a="http://schemas.openxmlformats.org/drawingml/2006/main" noGrp="1"/>
          </p:cNvSpPr>
          <p:nvPr/>
        </p:nvSpPr>
        <p:spPr>
          <a:xfrm xmlns:a="http://schemas.openxmlformats.org/drawingml/2006/main">
            <a:off x="9305925" y="2004060"/>
            <a:ext cx="8105775" cy="7120890"/>
          </a:xfrm>
          <a:prstGeom xmlns:a="http://schemas.openxmlformats.org/drawingml/2006/main" prst="roundRect">
            <a:avLst>
              <a:gd name="adj" fmla="val 1070"/>
            </a:avLst>
          </a:prstGeom>
          <a:solidFill xmlns:a="http://schemas.openxmlformats.org/drawingml/2006/main">
            <a:srgbClr val="10182D"/>
          </a:solidFill>
          <a:ln xmlns:a="http://schemas.openxmlformats.org/drawingml/2006/main" w="9525">
            <a:solidFill>
              <a:srgbClr val="FBBF24"/>
            </a:solidFill>
            <a:prstDash val="solid"/>
          </a:ln>
        </p:spPr>
      </p:sp>
      <p:sp>
        <p:nvSpPr>
          <p:cNvPr id="14" name="">
            <a:extLst xmlns:a="http://schemas.openxmlformats.org/drawingml/2006/main">
              <a:ext uri="{FF2B5EF4-FFF2-40B4-BE49-F238E27FC236}">
                <a16:creationId xmlns:a16="http://schemas.microsoft.com/office/drawing/2014/main" id="{0CF05460-2502-47AF-B5DD-71C61C9FAFEC}"/>
              </a:ext>
            </a:extLst>
          </p:cNvPr>
          <p:cNvSpPr>
            <a:spLocks xmlns:a="http://schemas.openxmlformats.org/drawingml/2006/main" noGrp="1"/>
          </p:cNvSpPr>
          <p:nvPr/>
        </p:nvSpPr>
        <p:spPr>
          <a:xfrm xmlns:a="http://schemas.openxmlformats.org/drawingml/2006/main">
            <a:off x="9639300" y="2286000"/>
            <a:ext cx="746760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150" b="1" i="0">
                <a:solidFill>
                  <a:srgbClr val="FBBF24"/>
                </a:solidFill>
              </a:defRPr>
            </a:pPr>
            <a:r>
              <a:rPr sz="3150" b="1" i="0">
                <a:solidFill>
                  <a:srgbClr val="FBBF24"/>
                </a:solidFill>
              </a:rPr>
              <a:t>MongoDB 6</a:t>
            </a:r>
          </a:p>
        </p:txBody>
      </p:sp>
      <p:sp>
        <p:nvSpPr>
          <p:cNvPr id="15" name="">
            <a:extLst xmlns:a="http://schemas.openxmlformats.org/drawingml/2006/main">
              <a:ext uri="{FF2B5EF4-FFF2-40B4-BE49-F238E27FC236}">
                <a16:creationId xmlns:a16="http://schemas.microsoft.com/office/drawing/2014/main" id="{A46D6BC2-285B-40B8-80B1-06244D9BC2CC}"/>
              </a:ext>
            </a:extLst>
          </p:cNvPr>
          <p:cNvSpPr>
            <a:spLocks xmlns:a="http://schemas.openxmlformats.org/drawingml/2006/main" noGrp="1"/>
          </p:cNvSpPr>
          <p:nvPr/>
        </p:nvSpPr>
        <p:spPr>
          <a:xfrm xmlns:a="http://schemas.openxmlformats.org/drawingml/2006/main">
            <a:off x="9639300" y="2933700"/>
            <a:ext cx="104775" cy="104775"/>
          </a:xfrm>
          <a:prstGeom xmlns:a="http://schemas.openxmlformats.org/drawingml/2006/main" prst="ellipse">
            <a:avLst/>
          </a:prstGeom>
          <a:solidFill xmlns:a="http://schemas.openxmlformats.org/drawingml/2006/main">
            <a:srgbClr val="FBBF24"/>
          </a:solidFill>
          <a:ln xmlns:a="http://schemas.openxmlformats.org/drawingml/2006/main" w="0">
            <a:solidFill>
              <a:srgbClr val="FBBF24"/>
            </a:solidFill>
            <a:prstDash val="solid"/>
          </a:ln>
        </p:spPr>
      </p:sp>
      <p:sp>
        <p:nvSpPr>
          <p:cNvPr id="16" name="">
            <a:extLst xmlns:a="http://schemas.openxmlformats.org/drawingml/2006/main">
              <a:ext uri="{FF2B5EF4-FFF2-40B4-BE49-F238E27FC236}">
                <a16:creationId xmlns:a16="http://schemas.microsoft.com/office/drawing/2014/main" id="{6F5BAD4C-3EC9-4C36-9047-7D125DE2E0B8}"/>
              </a:ext>
            </a:extLst>
          </p:cNvPr>
          <p:cNvSpPr>
            <a:spLocks xmlns:a="http://schemas.openxmlformats.org/drawingml/2006/main" noGrp="1"/>
          </p:cNvSpPr>
          <p:nvPr/>
        </p:nvSpPr>
        <p:spPr>
          <a:xfrm xmlns:a="http://schemas.openxmlformats.org/drawingml/2006/main">
            <a:off x="9867900" y="2933700"/>
            <a:ext cx="72199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Messages et DMs</a:t>
            </a:r>
          </a:p>
        </p:txBody>
      </p:sp>
      <p:sp>
        <p:nvSpPr>
          <p:cNvPr id="17" name="">
            <a:extLst xmlns:a="http://schemas.openxmlformats.org/drawingml/2006/main">
              <a:ext uri="{FF2B5EF4-FFF2-40B4-BE49-F238E27FC236}">
                <a16:creationId xmlns:a16="http://schemas.microsoft.com/office/drawing/2014/main" id="{11631CE9-E2F9-492A-BB72-00EA9D9174FF}"/>
              </a:ext>
            </a:extLst>
          </p:cNvPr>
          <p:cNvSpPr>
            <a:spLocks xmlns:a="http://schemas.openxmlformats.org/drawingml/2006/main" noGrp="1"/>
          </p:cNvSpPr>
          <p:nvPr/>
        </p:nvSpPr>
        <p:spPr>
          <a:xfrm xmlns:a="http://schemas.openxmlformats.org/drawingml/2006/main">
            <a:off x="9639300" y="3390900"/>
            <a:ext cx="104775" cy="104775"/>
          </a:xfrm>
          <a:prstGeom xmlns:a="http://schemas.openxmlformats.org/drawingml/2006/main" prst="ellipse">
            <a:avLst/>
          </a:prstGeom>
          <a:solidFill xmlns:a="http://schemas.openxmlformats.org/drawingml/2006/main">
            <a:srgbClr val="FBBF24"/>
          </a:solidFill>
          <a:ln xmlns:a="http://schemas.openxmlformats.org/drawingml/2006/main" w="0">
            <a:solidFill>
              <a:srgbClr val="FBBF24"/>
            </a:solidFill>
            <a:prstDash val="solid"/>
          </a:ln>
        </p:spPr>
      </p:sp>
      <p:sp>
        <p:nvSpPr>
          <p:cNvPr id="18" name="">
            <a:extLst xmlns:a="http://schemas.openxmlformats.org/drawingml/2006/main">
              <a:ext uri="{FF2B5EF4-FFF2-40B4-BE49-F238E27FC236}">
                <a16:creationId xmlns:a16="http://schemas.microsoft.com/office/drawing/2014/main" id="{ABC0D906-7E65-4B9F-B778-F5529ADBCFA8}"/>
              </a:ext>
            </a:extLst>
          </p:cNvPr>
          <p:cNvSpPr>
            <a:spLocks xmlns:a="http://schemas.openxmlformats.org/drawingml/2006/main" noGrp="1"/>
          </p:cNvSpPr>
          <p:nvPr/>
        </p:nvSpPr>
        <p:spPr>
          <a:xfrm xmlns:a="http://schemas.openxmlformats.org/drawingml/2006/main">
            <a:off x="9867900" y="3390900"/>
            <a:ext cx="72199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Reactions, pins, historique</a:t>
            </a:r>
          </a:p>
        </p:txBody>
      </p:sp>
      <p:sp>
        <p:nvSpPr>
          <p:cNvPr id="19" name="">
            <a:extLst xmlns:a="http://schemas.openxmlformats.org/drawingml/2006/main">
              <a:ext uri="{FF2B5EF4-FFF2-40B4-BE49-F238E27FC236}">
                <a16:creationId xmlns:a16="http://schemas.microsoft.com/office/drawing/2014/main" id="{70256A8F-0F9D-4F74-9B05-3DF3852B1F89}"/>
              </a:ext>
            </a:extLst>
          </p:cNvPr>
          <p:cNvSpPr>
            <a:spLocks xmlns:a="http://schemas.openxmlformats.org/drawingml/2006/main" noGrp="1"/>
          </p:cNvSpPr>
          <p:nvPr/>
        </p:nvSpPr>
        <p:spPr>
          <a:xfrm xmlns:a="http://schemas.openxmlformats.org/drawingml/2006/main">
            <a:off x="9639300" y="3848100"/>
            <a:ext cx="104775" cy="104775"/>
          </a:xfrm>
          <a:prstGeom xmlns:a="http://schemas.openxmlformats.org/drawingml/2006/main" prst="ellipse">
            <a:avLst/>
          </a:prstGeom>
          <a:solidFill xmlns:a="http://schemas.openxmlformats.org/drawingml/2006/main">
            <a:srgbClr val="FBBF24"/>
          </a:solidFill>
          <a:ln xmlns:a="http://schemas.openxmlformats.org/drawingml/2006/main" w="0">
            <a:solidFill>
              <a:srgbClr val="FBBF24"/>
            </a:solidFill>
            <a:prstDash val="solid"/>
          </a:ln>
        </p:spPr>
      </p:sp>
      <p:sp>
        <p:nvSpPr>
          <p:cNvPr id="20" name="">
            <a:extLst xmlns:a="http://schemas.openxmlformats.org/drawingml/2006/main">
              <a:ext uri="{FF2B5EF4-FFF2-40B4-BE49-F238E27FC236}">
                <a16:creationId xmlns:a16="http://schemas.microsoft.com/office/drawing/2014/main" id="{2E358F69-37FA-46F0-80F7-9D336B150F2D}"/>
              </a:ext>
            </a:extLst>
          </p:cNvPr>
          <p:cNvSpPr>
            <a:spLocks xmlns:a="http://schemas.openxmlformats.org/drawingml/2006/main" noGrp="1"/>
          </p:cNvSpPr>
          <p:nvPr/>
        </p:nvSpPr>
        <p:spPr>
          <a:xfrm xmlns:a="http://schemas.openxmlformats.org/drawingml/2006/main">
            <a:off x="9867900" y="3848100"/>
            <a:ext cx="72199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Documents flexibles et ecritures frequentes</a:t>
            </a:r>
          </a:p>
        </p:txBody>
      </p:sp>
      <p:sp>
        <p:nvSpPr>
          <p:cNvPr id="21" name="">
            <a:extLst xmlns:a="http://schemas.openxmlformats.org/drawingml/2006/main">
              <a:ext uri="{FF2B5EF4-FFF2-40B4-BE49-F238E27FC236}">
                <a16:creationId xmlns:a16="http://schemas.microsoft.com/office/drawing/2014/main" id="{3029AD5A-E141-4BE9-A488-17C9078701A5}"/>
              </a:ext>
            </a:extLst>
          </p:cNvPr>
          <p:cNvSpPr>
            <a:spLocks xmlns:a="http://schemas.openxmlformats.org/drawingml/2006/main" noGrp="1"/>
          </p:cNvSpPr>
          <p:nvPr/>
        </p:nvSpPr>
        <p:spPr>
          <a:xfrm xmlns:a="http://schemas.openxmlformats.org/drawingml/2006/main">
            <a:off x="9639300" y="4305300"/>
            <a:ext cx="104775" cy="104775"/>
          </a:xfrm>
          <a:prstGeom xmlns:a="http://schemas.openxmlformats.org/drawingml/2006/main" prst="ellipse">
            <a:avLst/>
          </a:prstGeom>
          <a:solidFill xmlns:a="http://schemas.openxmlformats.org/drawingml/2006/main">
            <a:srgbClr val="FBBF24"/>
          </a:solidFill>
          <a:ln xmlns:a="http://schemas.openxmlformats.org/drawingml/2006/main" w="0">
            <a:solidFill>
              <a:srgbClr val="FBBF24"/>
            </a:solidFill>
            <a:prstDash val="solid"/>
          </a:ln>
        </p:spPr>
      </p:sp>
      <p:sp>
        <p:nvSpPr>
          <p:cNvPr id="22" name="">
            <a:extLst xmlns:a="http://schemas.openxmlformats.org/drawingml/2006/main">
              <a:ext uri="{FF2B5EF4-FFF2-40B4-BE49-F238E27FC236}">
                <a16:creationId xmlns:a16="http://schemas.microsoft.com/office/drawing/2014/main" id="{6746892D-F714-4487-9E94-3EA2B29F20F3}"/>
              </a:ext>
            </a:extLst>
          </p:cNvPr>
          <p:cNvSpPr>
            <a:spLocks xmlns:a="http://schemas.openxmlformats.org/drawingml/2006/main" noGrp="1"/>
          </p:cNvSpPr>
          <p:nvPr/>
        </p:nvSpPr>
        <p:spPr>
          <a:xfrm xmlns:a="http://schemas.openxmlformats.org/drawingml/2006/main">
            <a:off x="9867900" y="4305300"/>
            <a:ext cx="72199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Driver mongodb 2.8 cote Rust</a:t>
            </a:r>
          </a:p>
        </p:txBody>
      </p:sp>
      <p:sp>
        <p:nvSpPr>
          <p:cNvPr id="23" name="">
            <a:extLst xmlns:a="http://schemas.openxmlformats.org/drawingml/2006/main">
              <a:ext uri="{FF2B5EF4-FFF2-40B4-BE49-F238E27FC236}">
                <a16:creationId xmlns:a16="http://schemas.microsoft.com/office/drawing/2014/main" id="{4E5E0DBF-19B9-479A-8DC9-BA801D50AD91}"/>
              </a:ext>
            </a:extLst>
          </p:cNvPr>
          <p:cNvSpPr>
            <a:spLocks xmlns:a="http://schemas.openxmlformats.org/drawingml/2006/main" noGrp="1"/>
          </p:cNvSpPr>
          <p:nvPr/>
        </p:nvSpPr>
        <p:spPr>
          <a:xfrm xmlns:a="http://schemas.openxmlformats.org/drawingml/2006/main">
            <a:off x="876300" y="9448800"/>
            <a:ext cx="165354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i="0">
                <a:solidFill>
                  <a:srgbClr val="667085"/>
                </a:solidFill>
              </a:defRPr>
            </a:pPr>
            <a:r>
              <a:rPr sz="1125" b="0" i="0">
                <a:solidFill>
                  <a:srgbClr val="667085"/>
                </a:solidFill>
              </a:rPr>
              <a:t>Preuves : backend/docker-compose.yml, backend/database/migrations/*, backend/src/db/message_repo.rs</a:t>
            </a:r>
          </a:p>
        </p:txBody>
      </p:sp>
    </p:spTree>
    <p:extLst>
      <p:ext uri="{BB962C8B-B14F-4D97-AF65-F5344CB8AC3E}">
        <p14:creationId xmlns:p14="http://schemas.microsoft.com/office/powerpoint/2010/main" val="1080717681"/>
      </p:ext>
    </p:extLst>
  </p:cSld>
</p:sld>
</file>

<file path=ppt/slides/slide8.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322BFC19-951E-4AFB-89B8-EDC87933CE9B}"/>
              </a:ext>
            </a:extLst>
          </p:cNvPr>
          <p:cNvSpPr>
            <a:spLocks xmlns:a="http://schemas.openxmlformats.org/drawingml/2006/main" noGrp="1"/>
          </p:cNvSpPr>
          <p:nvPr/>
        </p:nvSpPr>
        <p:spPr>
          <a:xfrm xmlns:a="http://schemas.openxmlformats.org/drawingml/2006/main">
            <a:off x="876300" y="666750"/>
            <a:ext cx="165354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i="0">
                <a:solidFill>
                  <a:srgbClr val="F8FAFC"/>
                </a:solidFill>
              </a:defRPr>
            </a:pPr>
            <a:r>
              <a:rPr sz="4050" b="1" i="0">
                <a:solidFill>
                  <a:srgbClr val="F8FAFC"/>
                </a:solidFill>
              </a:rPr>
              <a:t>Frontend Next.js / React / TypeScript</a:t>
            </a:r>
          </a:p>
        </p:txBody>
      </p:sp>
      <p:sp>
        <p:nvSpPr>
          <p:cNvPr id="2" name="slide-subtitle">
            <a:extLst xmlns:a="http://schemas.openxmlformats.org/drawingml/2006/main">
              <a:ext uri="{FF2B5EF4-FFF2-40B4-BE49-F238E27FC236}">
                <a16:creationId xmlns:a16="http://schemas.microsoft.com/office/drawing/2014/main" id="{F2F08B17-90B6-4650-AC40-D65D9B6FA0A7}"/>
              </a:ext>
            </a:extLst>
          </p:cNvPr>
          <p:cNvSpPr>
            <a:spLocks xmlns:a="http://schemas.openxmlformats.org/drawingml/2006/main" noGrp="1"/>
          </p:cNvSpPr>
          <p:nvPr/>
        </p:nvSpPr>
        <p:spPr>
          <a:xfrm xmlns:a="http://schemas.openxmlformats.org/drawingml/2006/main">
            <a:off x="876300" y="1409700"/>
            <a:ext cx="165354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i="0">
                <a:solidFill>
                  <a:srgbClr val="A7B0C6"/>
                </a:solidFill>
              </a:defRPr>
            </a:pPr>
            <a:r>
              <a:rPr sz="1725" b="0" i="0">
                <a:solidFill>
                  <a:srgbClr val="A7B0C6"/>
                </a:solidFill>
              </a:rPr>
              <a:t>Un client typé, modulaire et valide aux frontieres.</a:t>
            </a:r>
          </a:p>
        </p:txBody>
      </p:sp>
      <p:sp>
        <p:nvSpPr>
          <p:cNvPr id="3" name="">
            <a:extLst xmlns:a="http://schemas.openxmlformats.org/drawingml/2006/main">
              <a:ext uri="{FF2B5EF4-FFF2-40B4-BE49-F238E27FC236}">
                <a16:creationId xmlns:a16="http://schemas.microsoft.com/office/drawing/2014/main" id="{43A7B8F3-5196-48A8-A3D6-9499B0160497}"/>
              </a:ext>
            </a:extLst>
          </p:cNvPr>
          <p:cNvSpPr>
            <a:spLocks xmlns:a="http://schemas.openxmlformats.org/drawingml/2006/main" noGrp="1"/>
          </p:cNvSpPr>
          <p:nvPr/>
        </p:nvSpPr>
        <p:spPr>
          <a:xfrm xmlns:a="http://schemas.openxmlformats.org/drawingml/2006/main">
            <a:off x="876300" y="3697605"/>
            <a:ext cx="7637145" cy="609600"/>
          </a:xfrm>
          <a:prstGeom xmlns:a="http://schemas.openxmlformats.org/drawingml/2006/main" prst="roundRect">
            <a:avLst>
              <a:gd name="adj" fmla="val 9375"/>
            </a:avLst>
          </a:prstGeom>
          <a:solidFill xmlns:a="http://schemas.openxmlformats.org/drawingml/2006/main">
            <a:srgbClr val="2F80FF">
              <a:alpha val="12549"/>
            </a:srgbClr>
          </a:solidFill>
          <a:ln xmlns:a="http://schemas.openxmlformats.org/drawingml/2006/main" w="9525">
            <a:solidFill>
              <a:srgbClr val="2F80FF">
                <a:alpha val="53333"/>
              </a:srgbClr>
            </a:solidFill>
            <a:prstDash val="solid"/>
          </a:ln>
        </p:spPr>
      </p:sp>
      <p:sp>
        <p:nvSpPr>
          <p:cNvPr id="4" name="">
            <a:extLst xmlns:a="http://schemas.openxmlformats.org/drawingml/2006/main">
              <a:ext uri="{FF2B5EF4-FFF2-40B4-BE49-F238E27FC236}">
                <a16:creationId xmlns:a16="http://schemas.microsoft.com/office/drawing/2014/main" id="{42E1ADF7-1C03-45F5-A063-1E4AE381C796}"/>
              </a:ext>
            </a:extLst>
          </p:cNvPr>
          <p:cNvSpPr>
            <a:spLocks xmlns:a="http://schemas.openxmlformats.org/drawingml/2006/main" noGrp="1"/>
          </p:cNvSpPr>
          <p:nvPr/>
        </p:nvSpPr>
        <p:spPr>
          <a:xfrm xmlns:a="http://schemas.openxmlformats.org/drawingml/2006/main">
            <a:off x="1047750" y="3867150"/>
            <a:ext cx="72771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Next.js 16 - App Router</a:t>
            </a:r>
          </a:p>
        </p:txBody>
      </p:sp>
      <p:sp>
        <p:nvSpPr>
          <p:cNvPr id="5" name="">
            <a:extLst xmlns:a="http://schemas.openxmlformats.org/drawingml/2006/main">
              <a:ext uri="{FF2B5EF4-FFF2-40B4-BE49-F238E27FC236}">
                <a16:creationId xmlns:a16="http://schemas.microsoft.com/office/drawing/2014/main" id="{5BD45AA0-38A7-4F27-93A0-381BD0C5A5CE}"/>
              </a:ext>
            </a:extLst>
          </p:cNvPr>
          <p:cNvSpPr>
            <a:spLocks xmlns:a="http://schemas.openxmlformats.org/drawingml/2006/main" noGrp="1"/>
          </p:cNvSpPr>
          <p:nvPr/>
        </p:nvSpPr>
        <p:spPr>
          <a:xfrm xmlns:a="http://schemas.openxmlformats.org/drawingml/2006/main">
            <a:off x="876300" y="4478655"/>
            <a:ext cx="7637145" cy="609600"/>
          </a:xfrm>
          <a:prstGeom xmlns:a="http://schemas.openxmlformats.org/drawingml/2006/main" prst="roundRect">
            <a:avLst>
              <a:gd name="adj" fmla="val 9375"/>
            </a:avLst>
          </a:prstGeom>
          <a:solidFill xmlns:a="http://schemas.openxmlformats.org/drawingml/2006/main">
            <a:srgbClr val="8B5CF6">
              <a:alpha val="12549"/>
            </a:srgbClr>
          </a:solidFill>
          <a:ln xmlns:a="http://schemas.openxmlformats.org/drawingml/2006/main" w="9525">
            <a:solidFill>
              <a:srgbClr val="8B5CF6">
                <a:alpha val="53333"/>
              </a:srgbClr>
            </a:solidFill>
            <a:prstDash val="solid"/>
          </a:ln>
        </p:spPr>
      </p:sp>
      <p:sp>
        <p:nvSpPr>
          <p:cNvPr id="6" name="">
            <a:extLst xmlns:a="http://schemas.openxmlformats.org/drawingml/2006/main">
              <a:ext uri="{FF2B5EF4-FFF2-40B4-BE49-F238E27FC236}">
                <a16:creationId xmlns:a16="http://schemas.microsoft.com/office/drawing/2014/main" id="{773072AC-5434-47B1-B7E6-5221204F0A1A}"/>
              </a:ext>
            </a:extLst>
          </p:cNvPr>
          <p:cNvSpPr>
            <a:spLocks xmlns:a="http://schemas.openxmlformats.org/drawingml/2006/main" noGrp="1"/>
          </p:cNvSpPr>
          <p:nvPr/>
        </p:nvSpPr>
        <p:spPr>
          <a:xfrm xmlns:a="http://schemas.openxmlformats.org/drawingml/2006/main">
            <a:off x="1047750" y="4648200"/>
            <a:ext cx="72771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React 19 - UI composants</a:t>
            </a:r>
          </a:p>
        </p:txBody>
      </p:sp>
      <p:sp>
        <p:nvSpPr>
          <p:cNvPr id="7" name="">
            <a:extLst xmlns:a="http://schemas.openxmlformats.org/drawingml/2006/main">
              <a:ext uri="{FF2B5EF4-FFF2-40B4-BE49-F238E27FC236}">
                <a16:creationId xmlns:a16="http://schemas.microsoft.com/office/drawing/2014/main" id="{BDAACA18-17C3-43C2-9CB4-C5B69862AF3E}"/>
              </a:ext>
            </a:extLst>
          </p:cNvPr>
          <p:cNvSpPr>
            <a:spLocks xmlns:a="http://schemas.openxmlformats.org/drawingml/2006/main" noGrp="1"/>
          </p:cNvSpPr>
          <p:nvPr/>
        </p:nvSpPr>
        <p:spPr>
          <a:xfrm xmlns:a="http://schemas.openxmlformats.org/drawingml/2006/main">
            <a:off x="876300" y="5259705"/>
            <a:ext cx="7637145" cy="609600"/>
          </a:xfrm>
          <a:prstGeom xmlns:a="http://schemas.openxmlformats.org/drawingml/2006/main" prst="roundRect">
            <a:avLst>
              <a:gd name="adj" fmla="val 9375"/>
            </a:avLst>
          </a:prstGeom>
          <a:solidFill xmlns:a="http://schemas.openxmlformats.org/drawingml/2006/main">
            <a:srgbClr val="22D3EE">
              <a:alpha val="12549"/>
            </a:srgbClr>
          </a:solidFill>
          <a:ln xmlns:a="http://schemas.openxmlformats.org/drawingml/2006/main" w="9525">
            <a:solidFill>
              <a:srgbClr val="22D3EE">
                <a:alpha val="53333"/>
              </a:srgbClr>
            </a:solidFill>
            <a:prstDash val="solid"/>
          </a:ln>
        </p:spPr>
      </p:sp>
      <p:sp>
        <p:nvSpPr>
          <p:cNvPr id="8" name="">
            <a:extLst xmlns:a="http://schemas.openxmlformats.org/drawingml/2006/main">
              <a:ext uri="{FF2B5EF4-FFF2-40B4-BE49-F238E27FC236}">
                <a16:creationId xmlns:a16="http://schemas.microsoft.com/office/drawing/2014/main" id="{BB8DDF95-5BBF-4016-AF41-1872440C743C}"/>
              </a:ext>
            </a:extLst>
          </p:cNvPr>
          <p:cNvSpPr>
            <a:spLocks xmlns:a="http://schemas.openxmlformats.org/drawingml/2006/main" noGrp="1"/>
          </p:cNvSpPr>
          <p:nvPr/>
        </p:nvSpPr>
        <p:spPr>
          <a:xfrm xmlns:a="http://schemas.openxmlformats.org/drawingml/2006/main">
            <a:off x="1047750" y="5429250"/>
            <a:ext cx="72771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TypeScript - typage statique</a:t>
            </a:r>
          </a:p>
        </p:txBody>
      </p:sp>
      <p:sp>
        <p:nvSpPr>
          <p:cNvPr id="9" name="">
            <a:extLst xmlns:a="http://schemas.openxmlformats.org/drawingml/2006/main">
              <a:ext uri="{FF2B5EF4-FFF2-40B4-BE49-F238E27FC236}">
                <a16:creationId xmlns:a16="http://schemas.microsoft.com/office/drawing/2014/main" id="{1047156F-FE63-4F3F-A71D-0D8EB45BBE0B}"/>
              </a:ext>
            </a:extLst>
          </p:cNvPr>
          <p:cNvSpPr>
            <a:spLocks xmlns:a="http://schemas.openxmlformats.org/drawingml/2006/main" noGrp="1"/>
          </p:cNvSpPr>
          <p:nvPr/>
        </p:nvSpPr>
        <p:spPr>
          <a:xfrm xmlns:a="http://schemas.openxmlformats.org/drawingml/2006/main">
            <a:off x="876300" y="6040755"/>
            <a:ext cx="7637145" cy="609600"/>
          </a:xfrm>
          <a:prstGeom xmlns:a="http://schemas.openxmlformats.org/drawingml/2006/main" prst="roundRect">
            <a:avLst>
              <a:gd name="adj" fmla="val 9375"/>
            </a:avLst>
          </a:prstGeom>
          <a:solidFill xmlns:a="http://schemas.openxmlformats.org/drawingml/2006/main">
            <a:srgbClr val="34D399">
              <a:alpha val="12549"/>
            </a:srgbClr>
          </a:solidFill>
          <a:ln xmlns:a="http://schemas.openxmlformats.org/drawingml/2006/main" w="9525">
            <a:solidFill>
              <a:srgbClr val="34D399">
                <a:alpha val="53333"/>
              </a:srgbClr>
            </a:solidFill>
            <a:prstDash val="solid"/>
          </a:ln>
        </p:spPr>
      </p:sp>
      <p:sp>
        <p:nvSpPr>
          <p:cNvPr id="10" name="">
            <a:extLst xmlns:a="http://schemas.openxmlformats.org/drawingml/2006/main">
              <a:ext uri="{FF2B5EF4-FFF2-40B4-BE49-F238E27FC236}">
                <a16:creationId xmlns:a16="http://schemas.microsoft.com/office/drawing/2014/main" id="{C45316BA-C97A-4264-9E42-C4A85B771FB9}"/>
              </a:ext>
            </a:extLst>
          </p:cNvPr>
          <p:cNvSpPr>
            <a:spLocks xmlns:a="http://schemas.openxmlformats.org/drawingml/2006/main" noGrp="1"/>
          </p:cNvSpPr>
          <p:nvPr/>
        </p:nvSpPr>
        <p:spPr>
          <a:xfrm xmlns:a="http://schemas.openxmlformats.org/drawingml/2006/main">
            <a:off x="1047750" y="6210300"/>
            <a:ext cx="72771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Zustand - 11 stores</a:t>
            </a:r>
          </a:p>
        </p:txBody>
      </p:sp>
      <p:sp>
        <p:nvSpPr>
          <p:cNvPr id="11" name="">
            <a:extLst xmlns:a="http://schemas.openxmlformats.org/drawingml/2006/main">
              <a:ext uri="{FF2B5EF4-FFF2-40B4-BE49-F238E27FC236}">
                <a16:creationId xmlns:a16="http://schemas.microsoft.com/office/drawing/2014/main" id="{5035B0F5-314E-4776-8BE6-B6F1CAFE3636}"/>
              </a:ext>
            </a:extLst>
          </p:cNvPr>
          <p:cNvSpPr>
            <a:spLocks xmlns:a="http://schemas.openxmlformats.org/drawingml/2006/main" noGrp="1"/>
          </p:cNvSpPr>
          <p:nvPr/>
        </p:nvSpPr>
        <p:spPr>
          <a:xfrm xmlns:a="http://schemas.openxmlformats.org/drawingml/2006/main">
            <a:off x="876300" y="6821805"/>
            <a:ext cx="7637145" cy="609600"/>
          </a:xfrm>
          <a:prstGeom xmlns:a="http://schemas.openxmlformats.org/drawingml/2006/main" prst="roundRect">
            <a:avLst>
              <a:gd name="adj" fmla="val 9375"/>
            </a:avLst>
          </a:prstGeom>
          <a:solidFill xmlns:a="http://schemas.openxmlformats.org/drawingml/2006/main">
            <a:srgbClr val="FBBF24">
              <a:alpha val="12549"/>
            </a:srgbClr>
          </a:solidFill>
          <a:ln xmlns:a="http://schemas.openxmlformats.org/drawingml/2006/main" w="9525">
            <a:solidFill>
              <a:srgbClr val="FBBF24">
                <a:alpha val="53333"/>
              </a:srgbClr>
            </a:solidFill>
            <a:prstDash val="solid"/>
          </a:ln>
        </p:spPr>
      </p:sp>
      <p:sp>
        <p:nvSpPr>
          <p:cNvPr id="12" name="">
            <a:extLst xmlns:a="http://schemas.openxmlformats.org/drawingml/2006/main">
              <a:ext uri="{FF2B5EF4-FFF2-40B4-BE49-F238E27FC236}">
                <a16:creationId xmlns:a16="http://schemas.microsoft.com/office/drawing/2014/main" id="{1FFAF48A-0EEF-42EA-AF9F-C9762BF84D41}"/>
              </a:ext>
            </a:extLst>
          </p:cNvPr>
          <p:cNvSpPr>
            <a:spLocks xmlns:a="http://schemas.openxmlformats.org/drawingml/2006/main" noGrp="1"/>
          </p:cNvSpPr>
          <p:nvPr/>
        </p:nvSpPr>
        <p:spPr>
          <a:xfrm xmlns:a="http://schemas.openxmlformats.org/drawingml/2006/main">
            <a:off x="1047750" y="6991350"/>
            <a:ext cx="72771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Zod - validation API + WS</a:t>
            </a:r>
          </a:p>
        </p:txBody>
      </p:sp>
      <p:sp>
        <p:nvSpPr>
          <p:cNvPr id="13" name="">
            <a:extLst xmlns:a="http://schemas.openxmlformats.org/drawingml/2006/main">
              <a:ext uri="{FF2B5EF4-FFF2-40B4-BE49-F238E27FC236}">
                <a16:creationId xmlns:a16="http://schemas.microsoft.com/office/drawing/2014/main" id="{7E567F8A-B181-43BC-910A-D23D2E574643}"/>
              </a:ext>
            </a:extLst>
          </p:cNvPr>
          <p:cNvSpPr>
            <a:spLocks xmlns:a="http://schemas.openxmlformats.org/drawingml/2006/main" noGrp="1"/>
          </p:cNvSpPr>
          <p:nvPr/>
        </p:nvSpPr>
        <p:spPr>
          <a:xfrm xmlns:a="http://schemas.openxmlformats.org/drawingml/2006/main">
            <a:off x="8972550" y="4476750"/>
            <a:ext cx="104775" cy="104775"/>
          </a:xfrm>
          <a:prstGeom xmlns:a="http://schemas.openxmlformats.org/drawingml/2006/main" prst="ellipse">
            <a:avLst/>
          </a:prstGeom>
          <a:solidFill xmlns:a="http://schemas.openxmlformats.org/drawingml/2006/main">
            <a:srgbClr val="2F80FF"/>
          </a:solidFill>
          <a:ln xmlns:a="http://schemas.openxmlformats.org/drawingml/2006/main" w="0">
            <a:solidFill>
              <a:srgbClr val="2F80FF"/>
            </a:solidFill>
            <a:prstDash val="solid"/>
          </a:ln>
        </p:spPr>
      </p:sp>
      <p:sp>
        <p:nvSpPr>
          <p:cNvPr id="14" name="">
            <a:extLst xmlns:a="http://schemas.openxmlformats.org/drawingml/2006/main">
              <a:ext uri="{FF2B5EF4-FFF2-40B4-BE49-F238E27FC236}">
                <a16:creationId xmlns:a16="http://schemas.microsoft.com/office/drawing/2014/main" id="{7C506F14-F151-437C-A21E-52896D6BA718}"/>
              </a:ext>
            </a:extLst>
          </p:cNvPr>
          <p:cNvSpPr>
            <a:spLocks xmlns:a="http://schemas.openxmlformats.org/drawingml/2006/main" noGrp="1"/>
          </p:cNvSpPr>
          <p:nvPr/>
        </p:nvSpPr>
        <p:spPr>
          <a:xfrm xmlns:a="http://schemas.openxmlformats.org/drawingml/2006/main">
            <a:off x="9201150" y="4476750"/>
            <a:ext cx="82105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Rewrites /api vers le backend Rust</a:t>
            </a:r>
          </a:p>
        </p:txBody>
      </p:sp>
      <p:sp>
        <p:nvSpPr>
          <p:cNvPr id="15" name="">
            <a:extLst xmlns:a="http://schemas.openxmlformats.org/drawingml/2006/main">
              <a:ext uri="{FF2B5EF4-FFF2-40B4-BE49-F238E27FC236}">
                <a16:creationId xmlns:a16="http://schemas.microsoft.com/office/drawing/2014/main" id="{402159F7-3EF4-4441-8CDE-932C4497D08B}"/>
              </a:ext>
            </a:extLst>
          </p:cNvPr>
          <p:cNvSpPr>
            <a:spLocks xmlns:a="http://schemas.openxmlformats.org/drawingml/2006/main" noGrp="1"/>
          </p:cNvSpPr>
          <p:nvPr/>
        </p:nvSpPr>
        <p:spPr>
          <a:xfrm xmlns:a="http://schemas.openxmlformats.org/drawingml/2006/main">
            <a:off x="8972550" y="4953000"/>
            <a:ext cx="104775" cy="10477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16" name="">
            <a:extLst xmlns:a="http://schemas.openxmlformats.org/drawingml/2006/main">
              <a:ext uri="{FF2B5EF4-FFF2-40B4-BE49-F238E27FC236}">
                <a16:creationId xmlns:a16="http://schemas.microsoft.com/office/drawing/2014/main" id="{FCC49C1B-8C39-4AE2-AF81-D2EDDF20427C}"/>
              </a:ext>
            </a:extLst>
          </p:cNvPr>
          <p:cNvSpPr>
            <a:spLocks xmlns:a="http://schemas.openxmlformats.org/drawingml/2006/main" noGrp="1"/>
          </p:cNvSpPr>
          <p:nvPr/>
        </p:nvSpPr>
        <p:spPr>
          <a:xfrm xmlns:a="http://schemas.openxmlformats.org/drawingml/2006/main">
            <a:off x="9201150" y="4953000"/>
            <a:ext cx="82105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Stores separes : auth, messages, DM, presence, typing</a:t>
            </a:r>
          </a:p>
        </p:txBody>
      </p:sp>
      <p:sp>
        <p:nvSpPr>
          <p:cNvPr id="17" name="">
            <a:extLst xmlns:a="http://schemas.openxmlformats.org/drawingml/2006/main">
              <a:ext uri="{FF2B5EF4-FFF2-40B4-BE49-F238E27FC236}">
                <a16:creationId xmlns:a16="http://schemas.microsoft.com/office/drawing/2014/main" id="{AEFE1249-DA50-4C78-B138-A05A05B0481C}"/>
              </a:ext>
            </a:extLst>
          </p:cNvPr>
          <p:cNvSpPr>
            <a:spLocks xmlns:a="http://schemas.openxmlformats.org/drawingml/2006/main" noGrp="1"/>
          </p:cNvSpPr>
          <p:nvPr/>
        </p:nvSpPr>
        <p:spPr>
          <a:xfrm xmlns:a="http://schemas.openxmlformats.org/drawingml/2006/main">
            <a:off x="8972550" y="5429250"/>
            <a:ext cx="104775" cy="104775"/>
          </a:xfrm>
          <a:prstGeom xmlns:a="http://schemas.openxmlformats.org/drawingml/2006/main" prst="ellipse">
            <a:avLst/>
          </a:prstGeom>
          <a:solidFill xmlns:a="http://schemas.openxmlformats.org/drawingml/2006/main">
            <a:srgbClr val="FBBF24"/>
          </a:solidFill>
          <a:ln xmlns:a="http://schemas.openxmlformats.org/drawingml/2006/main" w="0">
            <a:solidFill>
              <a:srgbClr val="FBBF24"/>
            </a:solidFill>
            <a:prstDash val="solid"/>
          </a:ln>
        </p:spPr>
      </p:sp>
      <p:sp>
        <p:nvSpPr>
          <p:cNvPr id="18" name="">
            <a:extLst xmlns:a="http://schemas.openxmlformats.org/drawingml/2006/main">
              <a:ext uri="{FF2B5EF4-FFF2-40B4-BE49-F238E27FC236}">
                <a16:creationId xmlns:a16="http://schemas.microsoft.com/office/drawing/2014/main" id="{5A125A80-884B-4B75-9034-A5368EC892F6}"/>
              </a:ext>
            </a:extLst>
          </p:cNvPr>
          <p:cNvSpPr>
            <a:spLocks xmlns:a="http://schemas.openxmlformats.org/drawingml/2006/main" noGrp="1"/>
          </p:cNvSpPr>
          <p:nvPr/>
        </p:nvSpPr>
        <p:spPr>
          <a:xfrm xmlns:a="http://schemas.openxmlformats.org/drawingml/2006/main">
            <a:off x="9201150" y="5429250"/>
            <a:ext cx="82105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Zod parse les reponses API et ServerEventSchema</a:t>
            </a:r>
          </a:p>
        </p:txBody>
      </p:sp>
      <p:sp>
        <p:nvSpPr>
          <p:cNvPr id="19" name="">
            <a:extLst xmlns:a="http://schemas.openxmlformats.org/drawingml/2006/main">
              <a:ext uri="{FF2B5EF4-FFF2-40B4-BE49-F238E27FC236}">
                <a16:creationId xmlns:a16="http://schemas.microsoft.com/office/drawing/2014/main" id="{C89DA7BE-0314-4B0A-8F6D-7A76C1C6C0F4}"/>
              </a:ext>
            </a:extLst>
          </p:cNvPr>
          <p:cNvSpPr>
            <a:spLocks xmlns:a="http://schemas.openxmlformats.org/drawingml/2006/main" noGrp="1"/>
          </p:cNvSpPr>
          <p:nvPr/>
        </p:nvSpPr>
        <p:spPr>
          <a:xfrm xmlns:a="http://schemas.openxmlformats.org/drawingml/2006/main">
            <a:off x="8972550" y="5905500"/>
            <a:ext cx="104775" cy="104775"/>
          </a:xfrm>
          <a:prstGeom xmlns:a="http://schemas.openxmlformats.org/drawingml/2006/main" prst="ellipse">
            <a:avLst/>
          </a:prstGeom>
          <a:solidFill xmlns:a="http://schemas.openxmlformats.org/drawingml/2006/main">
            <a:srgbClr val="8B5CF6"/>
          </a:solidFill>
          <a:ln xmlns:a="http://schemas.openxmlformats.org/drawingml/2006/main" w="0">
            <a:solidFill>
              <a:srgbClr val="8B5CF6"/>
            </a:solidFill>
            <a:prstDash val="solid"/>
          </a:ln>
        </p:spPr>
      </p:sp>
      <p:sp>
        <p:nvSpPr>
          <p:cNvPr id="20" name="">
            <a:extLst xmlns:a="http://schemas.openxmlformats.org/drawingml/2006/main">
              <a:ext uri="{FF2B5EF4-FFF2-40B4-BE49-F238E27FC236}">
                <a16:creationId xmlns:a16="http://schemas.microsoft.com/office/drawing/2014/main" id="{88EA1FFA-B6C8-4B77-9BA5-DAC6BCE1E33B}"/>
              </a:ext>
            </a:extLst>
          </p:cNvPr>
          <p:cNvSpPr>
            <a:spLocks xmlns:a="http://schemas.openxmlformats.org/drawingml/2006/main" noGrp="1"/>
          </p:cNvSpPr>
          <p:nvPr/>
        </p:nvSpPr>
        <p:spPr>
          <a:xfrm xmlns:a="http://schemas.openxmlformats.org/drawingml/2006/main">
            <a:off x="9201150" y="5905500"/>
            <a:ext cx="82105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Tailwind CSS 4 + shadcn/ui + Radix</a:t>
            </a:r>
          </a:p>
        </p:txBody>
      </p:sp>
      <p:sp>
        <p:nvSpPr>
          <p:cNvPr id="21" name="">
            <a:extLst xmlns:a="http://schemas.openxmlformats.org/drawingml/2006/main">
              <a:ext uri="{FF2B5EF4-FFF2-40B4-BE49-F238E27FC236}">
                <a16:creationId xmlns:a16="http://schemas.microsoft.com/office/drawing/2014/main" id="{9E0E0745-8868-4C06-8518-4CDED4C49418}"/>
              </a:ext>
            </a:extLst>
          </p:cNvPr>
          <p:cNvSpPr>
            <a:spLocks xmlns:a="http://schemas.openxmlformats.org/drawingml/2006/main" noGrp="1"/>
          </p:cNvSpPr>
          <p:nvPr/>
        </p:nvSpPr>
        <p:spPr>
          <a:xfrm xmlns:a="http://schemas.openxmlformats.org/drawingml/2006/main">
            <a:off x="8972550" y="6381750"/>
            <a:ext cx="104775" cy="104775"/>
          </a:xfrm>
          <a:prstGeom xmlns:a="http://schemas.openxmlformats.org/drawingml/2006/main" prst="ellipse">
            <a:avLst/>
          </a:prstGeom>
          <a:solidFill xmlns:a="http://schemas.openxmlformats.org/drawingml/2006/main">
            <a:srgbClr val="22D3EE"/>
          </a:solidFill>
          <a:ln xmlns:a="http://schemas.openxmlformats.org/drawingml/2006/main" w="0">
            <a:solidFill>
              <a:srgbClr val="22D3EE"/>
            </a:solidFill>
            <a:prstDash val="solid"/>
          </a:ln>
        </p:spPr>
      </p:sp>
      <p:sp>
        <p:nvSpPr>
          <p:cNvPr id="22" name="">
            <a:extLst xmlns:a="http://schemas.openxmlformats.org/drawingml/2006/main">
              <a:ext uri="{FF2B5EF4-FFF2-40B4-BE49-F238E27FC236}">
                <a16:creationId xmlns:a16="http://schemas.microsoft.com/office/drawing/2014/main" id="{5004EC3D-C197-41EF-9F64-47E8136B5162}"/>
              </a:ext>
            </a:extLst>
          </p:cNvPr>
          <p:cNvSpPr>
            <a:spLocks xmlns:a="http://schemas.openxmlformats.org/drawingml/2006/main" noGrp="1"/>
          </p:cNvSpPr>
          <p:nvPr/>
        </p:nvSpPr>
        <p:spPr>
          <a:xfrm xmlns:a="http://schemas.openxmlformats.org/drawingml/2006/main">
            <a:off x="9201150" y="6381750"/>
            <a:ext cx="82105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lucide-react, sonner, emoji-mart, framer-motion</a:t>
            </a:r>
          </a:p>
        </p:txBody>
      </p:sp>
      <p:sp>
        <p:nvSpPr>
          <p:cNvPr id="23" name="">
            <a:extLst xmlns:a="http://schemas.openxmlformats.org/drawingml/2006/main">
              <a:ext uri="{FF2B5EF4-FFF2-40B4-BE49-F238E27FC236}">
                <a16:creationId xmlns:a16="http://schemas.microsoft.com/office/drawing/2014/main" id="{C4C1253B-5A55-48BF-BBF4-9BDE24FBD24A}"/>
              </a:ext>
            </a:extLst>
          </p:cNvPr>
          <p:cNvSpPr>
            <a:spLocks xmlns:a="http://schemas.openxmlformats.org/drawingml/2006/main" noGrp="1"/>
          </p:cNvSpPr>
          <p:nvPr/>
        </p:nvSpPr>
        <p:spPr>
          <a:xfrm xmlns:a="http://schemas.openxmlformats.org/drawingml/2006/main">
            <a:off x="876300" y="9448800"/>
            <a:ext cx="165354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i="0">
                <a:solidFill>
                  <a:srgbClr val="667085"/>
                </a:solidFill>
              </a:defRPr>
            </a:pPr>
            <a:r>
              <a:rPr sz="1125" b="0" i="0">
                <a:solidFill>
                  <a:srgbClr val="667085"/>
                </a:solidFill>
              </a:rPr>
              <a:t>Preuves : frontend/real-time-chat/package.json, next.config.ts, store/*, lib/ws/types.ts</a:t>
            </a:r>
          </a:p>
        </p:txBody>
      </p:sp>
    </p:spTree>
    <p:extLst>
      <p:ext uri="{BB962C8B-B14F-4D97-AF65-F5344CB8AC3E}">
        <p14:creationId xmlns:p14="http://schemas.microsoft.com/office/powerpoint/2010/main" val="117556367"/>
      </p:ext>
    </p:extLst>
  </p:cSld>
</p:sld>
</file>

<file path=ppt/slides/slide9.xml><?xml version="1.0" encoding="utf-8"?>
<p:sld xmlns:p="http://schemas.openxmlformats.org/presentationml/2006/main">
  <p:cSld>
    <p:bg>
      <p:bgPr>
        <a:solidFill xmlns:a="http://schemas.openxmlformats.org/drawingml/2006/main">
          <a:srgbClr val="060A16"/>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882CB677-DA84-488B-903A-F5F6787E4677}"/>
              </a:ext>
            </a:extLst>
          </p:cNvPr>
          <p:cNvSpPr>
            <a:spLocks xmlns:a="http://schemas.openxmlformats.org/drawingml/2006/main" noGrp="1"/>
          </p:cNvSpPr>
          <p:nvPr/>
        </p:nvSpPr>
        <p:spPr>
          <a:xfrm xmlns:a="http://schemas.openxmlformats.org/drawingml/2006/main">
            <a:off x="876300" y="666750"/>
            <a:ext cx="165354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i="0">
                <a:solidFill>
                  <a:srgbClr val="F8FAFC"/>
                </a:solidFill>
              </a:defRPr>
            </a:pPr>
            <a:r>
              <a:rPr sz="4050" b="1" i="0">
                <a:solidFill>
                  <a:srgbClr val="F8FAFC"/>
                </a:solidFill>
              </a:rPr>
              <a:t>Desktop Electron</a:t>
            </a:r>
          </a:p>
        </p:txBody>
      </p:sp>
      <p:sp>
        <p:nvSpPr>
          <p:cNvPr id="2" name="slide-subtitle">
            <a:extLst xmlns:a="http://schemas.openxmlformats.org/drawingml/2006/main">
              <a:ext uri="{FF2B5EF4-FFF2-40B4-BE49-F238E27FC236}">
                <a16:creationId xmlns:a16="http://schemas.microsoft.com/office/drawing/2014/main" id="{B47BA008-41CE-450C-8DEE-7B3DA123B67E}"/>
              </a:ext>
            </a:extLst>
          </p:cNvPr>
          <p:cNvSpPr>
            <a:spLocks xmlns:a="http://schemas.openxmlformats.org/drawingml/2006/main" noGrp="1"/>
          </p:cNvSpPr>
          <p:nvPr/>
        </p:nvSpPr>
        <p:spPr>
          <a:xfrm xmlns:a="http://schemas.openxmlformats.org/drawingml/2006/main">
            <a:off x="876300" y="1409700"/>
            <a:ext cx="165354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i="0">
                <a:solidFill>
                  <a:srgbClr val="A7B0C6"/>
                </a:solidFill>
              </a:defRPr>
            </a:pPr>
            <a:r>
              <a:rPr sz="1725" b="0" i="0">
                <a:solidFill>
                  <a:srgbClr val="A7B0C6"/>
                </a:solidFill>
              </a:rPr>
              <a:t>Un client desktop sans dupliquer l'interface web.</a:t>
            </a:r>
          </a:p>
        </p:txBody>
      </p:sp>
      <p:sp>
        <p:nvSpPr>
          <p:cNvPr id="3" name="">
            <a:extLst xmlns:a="http://schemas.openxmlformats.org/drawingml/2006/main">
              <a:ext uri="{FF2B5EF4-FFF2-40B4-BE49-F238E27FC236}">
                <a16:creationId xmlns:a16="http://schemas.microsoft.com/office/drawing/2014/main" id="{CD4C063C-590B-4583-999C-01EBB18D120D}"/>
              </a:ext>
            </a:extLst>
          </p:cNvPr>
          <p:cNvSpPr>
            <a:spLocks xmlns:a="http://schemas.openxmlformats.org/drawingml/2006/main" noGrp="1"/>
          </p:cNvSpPr>
          <p:nvPr/>
        </p:nvSpPr>
        <p:spPr>
          <a:xfrm xmlns:a="http://schemas.openxmlformats.org/drawingml/2006/main">
            <a:off x="876300" y="3674745"/>
            <a:ext cx="8001000" cy="1333500"/>
          </a:xfrm>
          <a:prstGeom xmlns:a="http://schemas.openxmlformats.org/drawingml/2006/main" prst="roundRect">
            <a:avLst>
              <a:gd name="adj" fmla="val 4286"/>
            </a:avLst>
          </a:prstGeom>
          <a:solidFill xmlns:a="http://schemas.openxmlformats.org/drawingml/2006/main">
            <a:srgbClr val="10182D"/>
          </a:solidFill>
          <a:ln xmlns:a="http://schemas.openxmlformats.org/drawingml/2006/main" w="9525">
            <a:solidFill>
              <a:srgbClr val="2F80FF">
                <a:alpha val="40000"/>
              </a:srgbClr>
            </a:solidFill>
            <a:prstDash val="solid"/>
          </a:ln>
        </p:spPr>
      </p:sp>
      <p:sp>
        <p:nvSpPr>
          <p:cNvPr id="4" name="">
            <a:extLst xmlns:a="http://schemas.openxmlformats.org/drawingml/2006/main">
              <a:ext uri="{FF2B5EF4-FFF2-40B4-BE49-F238E27FC236}">
                <a16:creationId xmlns:a16="http://schemas.microsoft.com/office/drawing/2014/main" id="{E11A7052-9E2C-40AB-B678-9BFCD4841D14}"/>
              </a:ext>
            </a:extLst>
          </p:cNvPr>
          <p:cNvSpPr>
            <a:spLocks xmlns:a="http://schemas.openxmlformats.org/drawingml/2006/main" noGrp="1"/>
          </p:cNvSpPr>
          <p:nvPr/>
        </p:nvSpPr>
        <p:spPr>
          <a:xfrm xmlns:a="http://schemas.openxmlformats.org/drawingml/2006/main">
            <a:off x="1143000" y="3886200"/>
            <a:ext cx="74676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i="0">
                <a:solidFill>
                  <a:srgbClr val="2F80FF"/>
                </a:solidFill>
              </a:defRPr>
            </a:pPr>
            <a:r>
              <a:rPr sz="1650" b="1" i="0">
                <a:solidFill>
                  <a:srgbClr val="2F80FF"/>
                </a:solidFill>
              </a:rPr>
              <a:t>Web app</a:t>
            </a:r>
          </a:p>
        </p:txBody>
      </p:sp>
      <p:sp>
        <p:nvSpPr>
          <p:cNvPr id="5" name="">
            <a:extLst xmlns:a="http://schemas.openxmlformats.org/drawingml/2006/main">
              <a:ext uri="{FF2B5EF4-FFF2-40B4-BE49-F238E27FC236}">
                <a16:creationId xmlns:a16="http://schemas.microsoft.com/office/drawing/2014/main" id="{805D7503-6C9B-4F74-BB78-0F86656A1039}"/>
              </a:ext>
            </a:extLst>
          </p:cNvPr>
          <p:cNvSpPr>
            <a:spLocks xmlns:a="http://schemas.openxmlformats.org/drawingml/2006/main" noGrp="1"/>
          </p:cNvSpPr>
          <p:nvPr/>
        </p:nvSpPr>
        <p:spPr>
          <a:xfrm xmlns:a="http://schemas.openxmlformats.org/drawingml/2006/main">
            <a:off x="1143000" y="4229100"/>
            <a:ext cx="74676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F8FAFC"/>
                </a:solidFill>
              </a:defRPr>
            </a:pPr>
            <a:r>
              <a:rPr sz="1800" b="0" i="0">
                <a:solidFill>
                  <a:srgbClr val="F8FAFC"/>
                </a:solidFill>
              </a:rPr>
              <a:t>Next.js charge l'experience EpiTalk</a:t>
            </a:r>
          </a:p>
        </p:txBody>
      </p:sp>
      <p:sp>
        <p:nvSpPr>
          <p:cNvPr id="6" name="">
            <a:extLst xmlns:a="http://schemas.openxmlformats.org/drawingml/2006/main">
              <a:ext uri="{FF2B5EF4-FFF2-40B4-BE49-F238E27FC236}">
                <a16:creationId xmlns:a16="http://schemas.microsoft.com/office/drawing/2014/main" id="{BC886095-0621-47C2-9D5C-EF5C3C67A58F}"/>
              </a:ext>
            </a:extLst>
          </p:cNvPr>
          <p:cNvSpPr>
            <a:spLocks xmlns:a="http://schemas.openxmlformats.org/drawingml/2006/main" noGrp="1"/>
          </p:cNvSpPr>
          <p:nvPr/>
        </p:nvSpPr>
        <p:spPr>
          <a:xfrm xmlns:a="http://schemas.openxmlformats.org/drawingml/2006/main">
            <a:off x="876300" y="5162550"/>
            <a:ext cx="80010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i="0">
                <a:solidFill>
                  <a:srgbClr val="22D3EE"/>
                </a:solidFill>
              </a:defRPr>
            </a:pPr>
            <a:r>
              <a:rPr sz="4050" b="1" i="0">
                <a:solidFill>
                  <a:srgbClr val="22D3EE"/>
                </a:solidFill>
              </a:rPr>
              <a:t>-&gt;</a:t>
            </a:r>
          </a:p>
        </p:txBody>
      </p:sp>
      <p:sp>
        <p:nvSpPr>
          <p:cNvPr id="7" name="">
            <a:extLst xmlns:a="http://schemas.openxmlformats.org/drawingml/2006/main">
              <a:ext uri="{FF2B5EF4-FFF2-40B4-BE49-F238E27FC236}">
                <a16:creationId xmlns:a16="http://schemas.microsoft.com/office/drawing/2014/main" id="{C41DF193-CE85-4816-AE94-3785F73C14AA}"/>
              </a:ext>
            </a:extLst>
          </p:cNvPr>
          <p:cNvSpPr>
            <a:spLocks xmlns:a="http://schemas.openxmlformats.org/drawingml/2006/main" noGrp="1"/>
          </p:cNvSpPr>
          <p:nvPr/>
        </p:nvSpPr>
        <p:spPr>
          <a:xfrm xmlns:a="http://schemas.openxmlformats.org/drawingml/2006/main">
            <a:off x="876300" y="5930265"/>
            <a:ext cx="8001000" cy="1524000"/>
          </a:xfrm>
          <a:prstGeom xmlns:a="http://schemas.openxmlformats.org/drawingml/2006/main" prst="roundRect">
            <a:avLst>
              <a:gd name="adj" fmla="val 3750"/>
            </a:avLst>
          </a:prstGeom>
          <a:solidFill xmlns:a="http://schemas.openxmlformats.org/drawingml/2006/main">
            <a:srgbClr val="10182D"/>
          </a:solidFill>
          <a:ln xmlns:a="http://schemas.openxmlformats.org/drawingml/2006/main" w="9525">
            <a:solidFill>
              <a:srgbClr val="8B5CF6">
                <a:alpha val="40000"/>
              </a:srgbClr>
            </a:solidFill>
            <a:prstDash val="solid"/>
          </a:ln>
        </p:spPr>
      </p:sp>
      <p:sp>
        <p:nvSpPr>
          <p:cNvPr id="8" name="">
            <a:extLst xmlns:a="http://schemas.openxmlformats.org/drawingml/2006/main">
              <a:ext uri="{FF2B5EF4-FFF2-40B4-BE49-F238E27FC236}">
                <a16:creationId xmlns:a16="http://schemas.microsoft.com/office/drawing/2014/main" id="{7FD64685-F19B-4E2C-A3B3-931869E7A1E9}"/>
              </a:ext>
            </a:extLst>
          </p:cNvPr>
          <p:cNvSpPr>
            <a:spLocks xmlns:a="http://schemas.openxmlformats.org/drawingml/2006/main" noGrp="1"/>
          </p:cNvSpPr>
          <p:nvPr/>
        </p:nvSpPr>
        <p:spPr>
          <a:xfrm xmlns:a="http://schemas.openxmlformats.org/drawingml/2006/main">
            <a:off x="1143000" y="6134100"/>
            <a:ext cx="74676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i="0">
                <a:solidFill>
                  <a:srgbClr val="8B5CF6"/>
                </a:solidFill>
              </a:defRPr>
            </a:pPr>
            <a:r>
              <a:rPr sz="1650" b="1" i="0">
                <a:solidFill>
                  <a:srgbClr val="8B5CF6"/>
                </a:solidFill>
              </a:rPr>
              <a:t>Electron</a:t>
            </a:r>
          </a:p>
        </p:txBody>
      </p:sp>
      <p:sp>
        <p:nvSpPr>
          <p:cNvPr id="9" name="">
            <a:extLst xmlns:a="http://schemas.openxmlformats.org/drawingml/2006/main">
              <a:ext uri="{FF2B5EF4-FFF2-40B4-BE49-F238E27FC236}">
                <a16:creationId xmlns:a16="http://schemas.microsoft.com/office/drawing/2014/main" id="{E918D045-613F-49A7-B148-B08FB210B6AF}"/>
              </a:ext>
            </a:extLst>
          </p:cNvPr>
          <p:cNvSpPr>
            <a:spLocks xmlns:a="http://schemas.openxmlformats.org/drawingml/2006/main" noGrp="1"/>
          </p:cNvSpPr>
          <p:nvPr/>
        </p:nvSpPr>
        <p:spPr>
          <a:xfrm xmlns:a="http://schemas.openxmlformats.org/drawingml/2006/main">
            <a:off x="1143000" y="6477000"/>
            <a:ext cx="74676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F8FAFC"/>
                </a:solidFill>
              </a:defRPr>
            </a:pPr>
            <a:r>
              <a:rPr sz="1800" b="0" i="0">
                <a:solidFill>
                  <a:srgbClr val="F8FAFC"/>
                </a:solidFill>
              </a:rPr>
              <a:t>BrowserWindow + menu + notifications natives</a:t>
            </a:r>
          </a:p>
        </p:txBody>
      </p:sp>
      <p:sp>
        <p:nvSpPr>
          <p:cNvPr id="10" name="">
            <a:extLst xmlns:a="http://schemas.openxmlformats.org/drawingml/2006/main">
              <a:ext uri="{FF2B5EF4-FFF2-40B4-BE49-F238E27FC236}">
                <a16:creationId xmlns:a16="http://schemas.microsoft.com/office/drawing/2014/main" id="{1DBF3339-1F82-4BF0-989C-EF9EE78F1A03}"/>
              </a:ext>
            </a:extLst>
          </p:cNvPr>
          <p:cNvSpPr>
            <a:spLocks xmlns:a="http://schemas.openxmlformats.org/drawingml/2006/main" noGrp="1"/>
          </p:cNvSpPr>
          <p:nvPr/>
        </p:nvSpPr>
        <p:spPr>
          <a:xfrm xmlns:a="http://schemas.openxmlformats.org/drawingml/2006/main">
            <a:off x="9410700" y="4438650"/>
            <a:ext cx="104775" cy="104775"/>
          </a:xfrm>
          <a:prstGeom xmlns:a="http://schemas.openxmlformats.org/drawingml/2006/main" prst="ellipse">
            <a:avLst/>
          </a:prstGeom>
          <a:solidFill xmlns:a="http://schemas.openxmlformats.org/drawingml/2006/main">
            <a:srgbClr val="8B5CF6"/>
          </a:solidFill>
          <a:ln xmlns:a="http://schemas.openxmlformats.org/drawingml/2006/main" w="0">
            <a:solidFill>
              <a:srgbClr val="8B5CF6"/>
            </a:solidFill>
            <a:prstDash val="solid"/>
          </a:ln>
        </p:spPr>
      </p:sp>
      <p:sp>
        <p:nvSpPr>
          <p:cNvPr id="11" name="">
            <a:extLst xmlns:a="http://schemas.openxmlformats.org/drawingml/2006/main">
              <a:ext uri="{FF2B5EF4-FFF2-40B4-BE49-F238E27FC236}">
                <a16:creationId xmlns:a16="http://schemas.microsoft.com/office/drawing/2014/main" id="{56A61AF4-32A7-479F-A798-D66E89C2DDEA}"/>
              </a:ext>
            </a:extLst>
          </p:cNvPr>
          <p:cNvSpPr>
            <a:spLocks xmlns:a="http://schemas.openxmlformats.org/drawingml/2006/main" noGrp="1"/>
          </p:cNvSpPr>
          <p:nvPr/>
        </p:nvSpPr>
        <p:spPr>
          <a:xfrm xmlns:a="http://schemas.openxmlformats.org/drawingml/2006/main">
            <a:off x="9658350" y="4438650"/>
            <a:ext cx="77724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Electron 32 wrappe l'URL de l'application web</a:t>
            </a:r>
          </a:p>
        </p:txBody>
      </p:sp>
      <p:sp>
        <p:nvSpPr>
          <p:cNvPr id="12" name="">
            <a:extLst xmlns:a="http://schemas.openxmlformats.org/drawingml/2006/main">
              <a:ext uri="{FF2B5EF4-FFF2-40B4-BE49-F238E27FC236}">
                <a16:creationId xmlns:a16="http://schemas.microsoft.com/office/drawing/2014/main" id="{5540FE45-4119-4BF5-889E-C826B03896BA}"/>
              </a:ext>
            </a:extLst>
          </p:cNvPr>
          <p:cNvSpPr>
            <a:spLocks xmlns:a="http://schemas.openxmlformats.org/drawingml/2006/main" noGrp="1"/>
          </p:cNvSpPr>
          <p:nvPr/>
        </p:nvSpPr>
        <p:spPr>
          <a:xfrm xmlns:a="http://schemas.openxmlformats.org/drawingml/2006/main">
            <a:off x="9410700" y="4933950"/>
            <a:ext cx="104775" cy="104775"/>
          </a:xfrm>
          <a:prstGeom xmlns:a="http://schemas.openxmlformats.org/drawingml/2006/main" prst="ellipse">
            <a:avLst/>
          </a:prstGeom>
          <a:solidFill xmlns:a="http://schemas.openxmlformats.org/drawingml/2006/main">
            <a:srgbClr val="2F80FF"/>
          </a:solidFill>
          <a:ln xmlns:a="http://schemas.openxmlformats.org/drawingml/2006/main" w="0">
            <a:solidFill>
              <a:srgbClr val="2F80FF"/>
            </a:solidFill>
            <a:prstDash val="solid"/>
          </a:ln>
        </p:spPr>
      </p:sp>
      <p:sp>
        <p:nvSpPr>
          <p:cNvPr id="13" name="">
            <a:extLst xmlns:a="http://schemas.openxmlformats.org/drawingml/2006/main">
              <a:ext uri="{FF2B5EF4-FFF2-40B4-BE49-F238E27FC236}">
                <a16:creationId xmlns:a16="http://schemas.microsoft.com/office/drawing/2014/main" id="{098602BD-97D3-4063-BF9C-AA2B3852196E}"/>
              </a:ext>
            </a:extLst>
          </p:cNvPr>
          <p:cNvSpPr>
            <a:spLocks xmlns:a="http://schemas.openxmlformats.org/drawingml/2006/main" noGrp="1"/>
          </p:cNvSpPr>
          <p:nvPr/>
        </p:nvSpPr>
        <p:spPr>
          <a:xfrm xmlns:a="http://schemas.openxmlformats.org/drawingml/2006/main">
            <a:off x="9658350" y="4933950"/>
            <a:ext cx="77724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Zero duplication de code frontend</a:t>
            </a:r>
          </a:p>
        </p:txBody>
      </p:sp>
      <p:sp>
        <p:nvSpPr>
          <p:cNvPr id="14" name="">
            <a:extLst xmlns:a="http://schemas.openxmlformats.org/drawingml/2006/main">
              <a:ext uri="{FF2B5EF4-FFF2-40B4-BE49-F238E27FC236}">
                <a16:creationId xmlns:a16="http://schemas.microsoft.com/office/drawing/2014/main" id="{8360772E-6913-4E44-9872-8206E2C7D59B}"/>
              </a:ext>
            </a:extLst>
          </p:cNvPr>
          <p:cNvSpPr>
            <a:spLocks xmlns:a="http://schemas.openxmlformats.org/drawingml/2006/main" noGrp="1"/>
          </p:cNvSpPr>
          <p:nvPr/>
        </p:nvSpPr>
        <p:spPr>
          <a:xfrm xmlns:a="http://schemas.openxmlformats.org/drawingml/2006/main">
            <a:off x="9410700" y="5429250"/>
            <a:ext cx="104775" cy="104775"/>
          </a:xfrm>
          <a:prstGeom xmlns:a="http://schemas.openxmlformats.org/drawingml/2006/main" prst="ellipse">
            <a:avLst/>
          </a:prstGeom>
          <a:solidFill xmlns:a="http://schemas.openxmlformats.org/drawingml/2006/main">
            <a:srgbClr val="22D3EE"/>
          </a:solidFill>
          <a:ln xmlns:a="http://schemas.openxmlformats.org/drawingml/2006/main" w="0">
            <a:solidFill>
              <a:srgbClr val="22D3EE"/>
            </a:solidFill>
            <a:prstDash val="solid"/>
          </a:ln>
        </p:spPr>
      </p:sp>
      <p:sp>
        <p:nvSpPr>
          <p:cNvPr id="15" name="">
            <a:extLst xmlns:a="http://schemas.openxmlformats.org/drawingml/2006/main">
              <a:ext uri="{FF2B5EF4-FFF2-40B4-BE49-F238E27FC236}">
                <a16:creationId xmlns:a16="http://schemas.microsoft.com/office/drawing/2014/main" id="{3E3AB594-DE06-4E82-A18F-841760A2D220}"/>
              </a:ext>
            </a:extLst>
          </p:cNvPr>
          <p:cNvSpPr>
            <a:spLocks xmlns:a="http://schemas.openxmlformats.org/drawingml/2006/main" noGrp="1"/>
          </p:cNvSpPr>
          <p:nvPr/>
        </p:nvSpPr>
        <p:spPr>
          <a:xfrm xmlns:a="http://schemas.openxmlformats.org/drawingml/2006/main">
            <a:off x="9658350" y="5429250"/>
            <a:ext cx="77724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Notifications systeme via API Notification</a:t>
            </a:r>
          </a:p>
        </p:txBody>
      </p:sp>
      <p:sp>
        <p:nvSpPr>
          <p:cNvPr id="16" name="">
            <a:extLst xmlns:a="http://schemas.openxmlformats.org/drawingml/2006/main">
              <a:ext uri="{FF2B5EF4-FFF2-40B4-BE49-F238E27FC236}">
                <a16:creationId xmlns:a16="http://schemas.microsoft.com/office/drawing/2014/main" id="{3CDBAF41-B2F1-4776-9BB8-FDEED91986F7}"/>
              </a:ext>
            </a:extLst>
          </p:cNvPr>
          <p:cNvSpPr>
            <a:spLocks xmlns:a="http://schemas.openxmlformats.org/drawingml/2006/main" noGrp="1"/>
          </p:cNvSpPr>
          <p:nvPr/>
        </p:nvSpPr>
        <p:spPr>
          <a:xfrm xmlns:a="http://schemas.openxmlformats.org/drawingml/2006/main">
            <a:off x="9410700" y="5924550"/>
            <a:ext cx="104775" cy="10477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17" name="">
            <a:extLst xmlns:a="http://schemas.openxmlformats.org/drawingml/2006/main">
              <a:ext uri="{FF2B5EF4-FFF2-40B4-BE49-F238E27FC236}">
                <a16:creationId xmlns:a16="http://schemas.microsoft.com/office/drawing/2014/main" id="{CF4E3FE3-D8CD-468C-A329-C4C7AF3AE5FB}"/>
              </a:ext>
            </a:extLst>
          </p:cNvPr>
          <p:cNvSpPr>
            <a:spLocks xmlns:a="http://schemas.openxmlformats.org/drawingml/2006/main" noGrp="1"/>
          </p:cNvSpPr>
          <p:nvPr/>
        </p:nvSpPr>
        <p:spPr>
          <a:xfrm xmlns:a="http://schemas.openxmlformats.org/drawingml/2006/main">
            <a:off x="9658350" y="5924550"/>
            <a:ext cx="77724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Menu applicatif localise fr/en</a:t>
            </a:r>
          </a:p>
        </p:txBody>
      </p:sp>
      <p:sp>
        <p:nvSpPr>
          <p:cNvPr id="18" name="">
            <a:extLst xmlns:a="http://schemas.openxmlformats.org/drawingml/2006/main">
              <a:ext uri="{FF2B5EF4-FFF2-40B4-BE49-F238E27FC236}">
                <a16:creationId xmlns:a16="http://schemas.microsoft.com/office/drawing/2014/main" id="{59680683-615B-4923-BD15-1CC5EA0A8B27}"/>
              </a:ext>
            </a:extLst>
          </p:cNvPr>
          <p:cNvSpPr>
            <a:spLocks xmlns:a="http://schemas.openxmlformats.org/drawingml/2006/main" noGrp="1"/>
          </p:cNvSpPr>
          <p:nvPr/>
        </p:nvSpPr>
        <p:spPr>
          <a:xfrm xmlns:a="http://schemas.openxmlformats.org/drawingml/2006/main">
            <a:off x="9410700" y="6419850"/>
            <a:ext cx="104775" cy="104775"/>
          </a:xfrm>
          <a:prstGeom xmlns:a="http://schemas.openxmlformats.org/drawingml/2006/main" prst="ellipse">
            <a:avLst/>
          </a:prstGeom>
          <a:solidFill xmlns:a="http://schemas.openxmlformats.org/drawingml/2006/main">
            <a:srgbClr val="FBBF24"/>
          </a:solidFill>
          <a:ln xmlns:a="http://schemas.openxmlformats.org/drawingml/2006/main" w="0">
            <a:solidFill>
              <a:srgbClr val="FBBF24"/>
            </a:solidFill>
            <a:prstDash val="solid"/>
          </a:ln>
        </p:spPr>
      </p:sp>
      <p:sp>
        <p:nvSpPr>
          <p:cNvPr id="19" name="">
            <a:extLst xmlns:a="http://schemas.openxmlformats.org/drawingml/2006/main">
              <a:ext uri="{FF2B5EF4-FFF2-40B4-BE49-F238E27FC236}">
                <a16:creationId xmlns:a16="http://schemas.microsoft.com/office/drawing/2014/main" id="{DD275F20-4564-4DF9-ACF3-11CB95870760}"/>
              </a:ext>
            </a:extLst>
          </p:cNvPr>
          <p:cNvSpPr>
            <a:spLocks xmlns:a="http://schemas.openxmlformats.org/drawingml/2006/main" noGrp="1"/>
          </p:cNvSpPr>
          <p:nvPr/>
        </p:nvSpPr>
        <p:spPr>
          <a:xfrm xmlns:a="http://schemas.openxmlformats.org/drawingml/2006/main">
            <a:off x="9658350" y="6419850"/>
            <a:ext cx="77724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contextIsolation: true</a:t>
            </a:r>
          </a:p>
        </p:txBody>
      </p:sp>
      <p:sp>
        <p:nvSpPr>
          <p:cNvPr id="20" name="">
            <a:extLst xmlns:a="http://schemas.openxmlformats.org/drawingml/2006/main">
              <a:ext uri="{FF2B5EF4-FFF2-40B4-BE49-F238E27FC236}">
                <a16:creationId xmlns:a16="http://schemas.microsoft.com/office/drawing/2014/main" id="{0F7E3A94-443D-4D51-9616-5214E729952D}"/>
              </a:ext>
            </a:extLst>
          </p:cNvPr>
          <p:cNvSpPr>
            <a:spLocks xmlns:a="http://schemas.openxmlformats.org/drawingml/2006/main" noGrp="1"/>
          </p:cNvSpPr>
          <p:nvPr/>
        </p:nvSpPr>
        <p:spPr>
          <a:xfrm xmlns:a="http://schemas.openxmlformats.org/drawingml/2006/main">
            <a:off x="876300" y="9448800"/>
            <a:ext cx="165354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i="0">
                <a:solidFill>
                  <a:srgbClr val="667085"/>
                </a:solidFill>
              </a:defRPr>
            </a:pPr>
            <a:r>
              <a:rPr sz="1125" b="0" i="0">
                <a:solidFill>
                  <a:srgbClr val="667085"/>
                </a:solidFill>
              </a:rPr>
              <a:t>Preuves : desktop-app/package.json, desktop-app/main.js, desktop-app/src/notifications.js</a:t>
            </a:r>
          </a:p>
        </p:txBody>
      </p:sp>
    </p:spTree>
    <p:extLst>
      <p:ext uri="{BB962C8B-B14F-4D97-AF65-F5344CB8AC3E}">
        <p14:creationId xmlns:p14="http://schemas.microsoft.com/office/powerpoint/2010/main" val="440439738"/>
      </p:ext>
    </p:extLst>
  </p:cSld>
</p:sld>
</file>

<file path=ppt/slides/slide10.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88D604AB-0684-4174-910B-6FA69E3C0769}"/>
              </a:ext>
            </a:extLst>
          </p:cNvPr>
          <p:cNvSpPr>
            <a:spLocks xmlns:a="http://schemas.openxmlformats.org/drawingml/2006/main" noGrp="1"/>
          </p:cNvSpPr>
          <p:nvPr/>
        </p:nvSpPr>
        <p:spPr>
          <a:xfrm xmlns:a="http://schemas.openxmlformats.org/drawingml/2006/main">
            <a:off x="876300" y="666750"/>
            <a:ext cx="165354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i="0">
                <a:solidFill>
                  <a:srgbClr val="F8FAFC"/>
                </a:solidFill>
              </a:defRPr>
            </a:pPr>
            <a:r>
              <a:rPr sz="4050" b="1" i="0">
                <a:solidFill>
                  <a:srgbClr val="F8FAFC"/>
                </a:solidFill>
              </a:rPr>
              <a:t>Infrastructure / CI-CD</a:t>
            </a:r>
          </a:p>
        </p:txBody>
      </p:sp>
      <p:sp>
        <p:nvSpPr>
          <p:cNvPr id="2" name="slide-subtitle">
            <a:extLst xmlns:a="http://schemas.openxmlformats.org/drawingml/2006/main">
              <a:ext uri="{FF2B5EF4-FFF2-40B4-BE49-F238E27FC236}">
                <a16:creationId xmlns:a16="http://schemas.microsoft.com/office/drawing/2014/main" id="{40164FE1-3BC7-45C2-A69A-A4C834736A3E}"/>
              </a:ext>
            </a:extLst>
          </p:cNvPr>
          <p:cNvSpPr>
            <a:spLocks xmlns:a="http://schemas.openxmlformats.org/drawingml/2006/main" noGrp="1"/>
          </p:cNvSpPr>
          <p:nvPr/>
        </p:nvSpPr>
        <p:spPr>
          <a:xfrm xmlns:a="http://schemas.openxmlformats.org/drawingml/2006/main">
            <a:off x="876300" y="1409700"/>
            <a:ext cx="165354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i="0">
                <a:solidFill>
                  <a:srgbClr val="A7B0C6"/>
                </a:solidFill>
              </a:defRPr>
            </a:pPr>
            <a:r>
              <a:rPr sz="1725" b="0" i="0">
                <a:solidFill>
                  <a:srgbClr val="A7B0C6"/>
                </a:solidFill>
              </a:rPr>
              <a:t>Docker pour l'environnement, GitHub Actions pour la qualite et l'image.</a:t>
            </a:r>
          </a:p>
        </p:txBody>
      </p:sp>
      <p:sp>
        <p:nvSpPr>
          <p:cNvPr id="3" name="">
            <a:extLst xmlns:a="http://schemas.openxmlformats.org/drawingml/2006/main">
              <a:ext uri="{FF2B5EF4-FFF2-40B4-BE49-F238E27FC236}">
                <a16:creationId xmlns:a16="http://schemas.microsoft.com/office/drawing/2014/main" id="{1DDA1E07-D676-46A4-9B3A-ADC7383A2946}"/>
              </a:ext>
            </a:extLst>
          </p:cNvPr>
          <p:cNvSpPr>
            <a:spLocks xmlns:a="http://schemas.openxmlformats.org/drawingml/2006/main" noGrp="1"/>
          </p:cNvSpPr>
          <p:nvPr/>
        </p:nvSpPr>
        <p:spPr>
          <a:xfrm xmlns:a="http://schemas.openxmlformats.org/drawingml/2006/main">
            <a:off x="876300" y="3735705"/>
            <a:ext cx="7656286" cy="609600"/>
          </a:xfrm>
          <a:prstGeom xmlns:a="http://schemas.openxmlformats.org/drawingml/2006/main" prst="roundRect">
            <a:avLst>
              <a:gd name="adj" fmla="val 9375"/>
            </a:avLst>
          </a:prstGeom>
          <a:solidFill xmlns:a="http://schemas.openxmlformats.org/drawingml/2006/main">
            <a:srgbClr val="2F80FF">
              <a:alpha val="12549"/>
            </a:srgbClr>
          </a:solidFill>
          <a:ln xmlns:a="http://schemas.openxmlformats.org/drawingml/2006/main" w="9525">
            <a:solidFill>
              <a:srgbClr val="2F80FF">
                <a:alpha val="53333"/>
              </a:srgbClr>
            </a:solidFill>
            <a:prstDash val="solid"/>
          </a:ln>
        </p:spPr>
      </p:sp>
      <p:sp>
        <p:nvSpPr>
          <p:cNvPr id="4" name="">
            <a:extLst xmlns:a="http://schemas.openxmlformats.org/drawingml/2006/main">
              <a:ext uri="{FF2B5EF4-FFF2-40B4-BE49-F238E27FC236}">
                <a16:creationId xmlns:a16="http://schemas.microsoft.com/office/drawing/2014/main" id="{E76F4364-8275-4915-A3D1-709C42A5C382}"/>
              </a:ext>
            </a:extLst>
          </p:cNvPr>
          <p:cNvSpPr>
            <a:spLocks xmlns:a="http://schemas.openxmlformats.org/drawingml/2006/main" noGrp="1"/>
          </p:cNvSpPr>
          <p:nvPr/>
        </p:nvSpPr>
        <p:spPr>
          <a:xfrm xmlns:a="http://schemas.openxmlformats.org/drawingml/2006/main">
            <a:off x="1047750" y="3905250"/>
            <a:ext cx="73152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Docker Compose</a:t>
            </a:r>
          </a:p>
        </p:txBody>
      </p:sp>
      <p:sp>
        <p:nvSpPr>
          <p:cNvPr id="5" name="">
            <a:extLst xmlns:a="http://schemas.openxmlformats.org/drawingml/2006/main">
              <a:ext uri="{FF2B5EF4-FFF2-40B4-BE49-F238E27FC236}">
                <a16:creationId xmlns:a16="http://schemas.microsoft.com/office/drawing/2014/main" id="{E3731631-53E3-44AC-B7FD-FD27D64E2244}"/>
              </a:ext>
            </a:extLst>
          </p:cNvPr>
          <p:cNvSpPr>
            <a:spLocks xmlns:a="http://schemas.openxmlformats.org/drawingml/2006/main" noGrp="1"/>
          </p:cNvSpPr>
          <p:nvPr/>
        </p:nvSpPr>
        <p:spPr>
          <a:xfrm xmlns:a="http://schemas.openxmlformats.org/drawingml/2006/main">
            <a:off x="876300" y="4497705"/>
            <a:ext cx="7656286" cy="609600"/>
          </a:xfrm>
          <a:prstGeom xmlns:a="http://schemas.openxmlformats.org/drawingml/2006/main" prst="roundRect">
            <a:avLst>
              <a:gd name="adj" fmla="val 9375"/>
            </a:avLst>
          </a:prstGeom>
          <a:solidFill xmlns:a="http://schemas.openxmlformats.org/drawingml/2006/main">
            <a:srgbClr val="8B5CF6">
              <a:alpha val="12549"/>
            </a:srgbClr>
          </a:solidFill>
          <a:ln xmlns:a="http://schemas.openxmlformats.org/drawingml/2006/main" w="9525">
            <a:solidFill>
              <a:srgbClr val="8B5CF6">
                <a:alpha val="53333"/>
              </a:srgbClr>
            </a:solidFill>
            <a:prstDash val="solid"/>
          </a:ln>
        </p:spPr>
      </p:sp>
      <p:sp>
        <p:nvSpPr>
          <p:cNvPr id="6" name="">
            <a:extLst xmlns:a="http://schemas.openxmlformats.org/drawingml/2006/main">
              <a:ext uri="{FF2B5EF4-FFF2-40B4-BE49-F238E27FC236}">
                <a16:creationId xmlns:a16="http://schemas.microsoft.com/office/drawing/2014/main" id="{696B6F8B-0023-4D66-B0D2-99479B6D1A4C}"/>
              </a:ext>
            </a:extLst>
          </p:cNvPr>
          <p:cNvSpPr>
            <a:spLocks xmlns:a="http://schemas.openxmlformats.org/drawingml/2006/main" noGrp="1"/>
          </p:cNvSpPr>
          <p:nvPr/>
        </p:nvSpPr>
        <p:spPr>
          <a:xfrm xmlns:a="http://schemas.openxmlformats.org/drawingml/2006/main">
            <a:off x="1047750" y="4667250"/>
            <a:ext cx="73152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Backend Rust</a:t>
            </a:r>
          </a:p>
        </p:txBody>
      </p:sp>
      <p:sp>
        <p:nvSpPr>
          <p:cNvPr id="7" name="">
            <a:extLst xmlns:a="http://schemas.openxmlformats.org/drawingml/2006/main">
              <a:ext uri="{FF2B5EF4-FFF2-40B4-BE49-F238E27FC236}">
                <a16:creationId xmlns:a16="http://schemas.microsoft.com/office/drawing/2014/main" id="{35299EE1-4884-4E0D-9EA6-34531C377DEE}"/>
              </a:ext>
            </a:extLst>
          </p:cNvPr>
          <p:cNvSpPr>
            <a:spLocks xmlns:a="http://schemas.openxmlformats.org/drawingml/2006/main" noGrp="1"/>
          </p:cNvSpPr>
          <p:nvPr/>
        </p:nvSpPr>
        <p:spPr>
          <a:xfrm xmlns:a="http://schemas.openxmlformats.org/drawingml/2006/main">
            <a:off x="876300" y="5259705"/>
            <a:ext cx="7656286" cy="609600"/>
          </a:xfrm>
          <a:prstGeom xmlns:a="http://schemas.openxmlformats.org/drawingml/2006/main" prst="roundRect">
            <a:avLst>
              <a:gd name="adj" fmla="val 9375"/>
            </a:avLst>
          </a:prstGeom>
          <a:solidFill xmlns:a="http://schemas.openxmlformats.org/drawingml/2006/main">
            <a:srgbClr val="34D399">
              <a:alpha val="12549"/>
            </a:srgbClr>
          </a:solidFill>
          <a:ln xmlns:a="http://schemas.openxmlformats.org/drawingml/2006/main" w="9525">
            <a:solidFill>
              <a:srgbClr val="34D399">
                <a:alpha val="53333"/>
              </a:srgbClr>
            </a:solidFill>
            <a:prstDash val="solid"/>
          </a:ln>
        </p:spPr>
      </p:sp>
      <p:sp>
        <p:nvSpPr>
          <p:cNvPr id="8" name="">
            <a:extLst xmlns:a="http://schemas.openxmlformats.org/drawingml/2006/main">
              <a:ext uri="{FF2B5EF4-FFF2-40B4-BE49-F238E27FC236}">
                <a16:creationId xmlns:a16="http://schemas.microsoft.com/office/drawing/2014/main" id="{3D212E30-FADC-4FD3-A06C-A9695909C0A4}"/>
              </a:ext>
            </a:extLst>
          </p:cNvPr>
          <p:cNvSpPr>
            <a:spLocks xmlns:a="http://schemas.openxmlformats.org/drawingml/2006/main" noGrp="1"/>
          </p:cNvSpPr>
          <p:nvPr/>
        </p:nvSpPr>
        <p:spPr>
          <a:xfrm xmlns:a="http://schemas.openxmlformats.org/drawingml/2006/main">
            <a:off x="1047750" y="5429250"/>
            <a:ext cx="73152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PostgreSQL 16 + MongoDB 6</a:t>
            </a:r>
          </a:p>
        </p:txBody>
      </p:sp>
      <p:sp>
        <p:nvSpPr>
          <p:cNvPr id="9" name="">
            <a:extLst xmlns:a="http://schemas.openxmlformats.org/drawingml/2006/main">
              <a:ext uri="{FF2B5EF4-FFF2-40B4-BE49-F238E27FC236}">
                <a16:creationId xmlns:a16="http://schemas.microsoft.com/office/drawing/2014/main" id="{CB045304-BF17-4373-A883-E4BFD28B83C9}"/>
              </a:ext>
            </a:extLst>
          </p:cNvPr>
          <p:cNvSpPr>
            <a:spLocks xmlns:a="http://schemas.openxmlformats.org/drawingml/2006/main" noGrp="1"/>
          </p:cNvSpPr>
          <p:nvPr/>
        </p:nvSpPr>
        <p:spPr>
          <a:xfrm xmlns:a="http://schemas.openxmlformats.org/drawingml/2006/main">
            <a:off x="876300" y="6021705"/>
            <a:ext cx="7656286" cy="609600"/>
          </a:xfrm>
          <a:prstGeom xmlns:a="http://schemas.openxmlformats.org/drawingml/2006/main" prst="roundRect">
            <a:avLst>
              <a:gd name="adj" fmla="val 9375"/>
            </a:avLst>
          </a:prstGeom>
          <a:solidFill xmlns:a="http://schemas.openxmlformats.org/drawingml/2006/main">
            <a:srgbClr val="22D3EE">
              <a:alpha val="12549"/>
            </a:srgbClr>
          </a:solidFill>
          <a:ln xmlns:a="http://schemas.openxmlformats.org/drawingml/2006/main" w="9525">
            <a:solidFill>
              <a:srgbClr val="22D3EE">
                <a:alpha val="53333"/>
              </a:srgbClr>
            </a:solidFill>
            <a:prstDash val="solid"/>
          </a:ln>
        </p:spPr>
      </p:sp>
      <p:sp>
        <p:nvSpPr>
          <p:cNvPr id="10" name="">
            <a:extLst xmlns:a="http://schemas.openxmlformats.org/drawingml/2006/main">
              <a:ext uri="{FF2B5EF4-FFF2-40B4-BE49-F238E27FC236}">
                <a16:creationId xmlns:a16="http://schemas.microsoft.com/office/drawing/2014/main" id="{047A68FE-5FF2-4185-8688-A736837A25B7}"/>
              </a:ext>
            </a:extLst>
          </p:cNvPr>
          <p:cNvSpPr>
            <a:spLocks xmlns:a="http://schemas.openxmlformats.org/drawingml/2006/main" noGrp="1"/>
          </p:cNvSpPr>
          <p:nvPr/>
        </p:nvSpPr>
        <p:spPr>
          <a:xfrm xmlns:a="http://schemas.openxmlformats.org/drawingml/2006/main">
            <a:off x="1047750" y="6191250"/>
            <a:ext cx="73152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GitHub Actions</a:t>
            </a:r>
          </a:p>
        </p:txBody>
      </p:sp>
      <p:sp>
        <p:nvSpPr>
          <p:cNvPr id="11" name="">
            <a:extLst xmlns:a="http://schemas.openxmlformats.org/drawingml/2006/main">
              <a:ext uri="{FF2B5EF4-FFF2-40B4-BE49-F238E27FC236}">
                <a16:creationId xmlns:a16="http://schemas.microsoft.com/office/drawing/2014/main" id="{201F61AD-030F-488C-B402-EA2563509084}"/>
              </a:ext>
            </a:extLst>
          </p:cNvPr>
          <p:cNvSpPr>
            <a:spLocks xmlns:a="http://schemas.openxmlformats.org/drawingml/2006/main" noGrp="1"/>
          </p:cNvSpPr>
          <p:nvPr/>
        </p:nvSpPr>
        <p:spPr>
          <a:xfrm xmlns:a="http://schemas.openxmlformats.org/drawingml/2006/main">
            <a:off x="876300" y="6783705"/>
            <a:ext cx="7656286" cy="609600"/>
          </a:xfrm>
          <a:prstGeom xmlns:a="http://schemas.openxmlformats.org/drawingml/2006/main" prst="roundRect">
            <a:avLst>
              <a:gd name="adj" fmla="val 9375"/>
            </a:avLst>
          </a:prstGeom>
          <a:solidFill xmlns:a="http://schemas.openxmlformats.org/drawingml/2006/main">
            <a:srgbClr val="FBBF24">
              <a:alpha val="12549"/>
            </a:srgbClr>
          </a:solidFill>
          <a:ln xmlns:a="http://schemas.openxmlformats.org/drawingml/2006/main" w="9525">
            <a:solidFill>
              <a:srgbClr val="FBBF24">
                <a:alpha val="53333"/>
              </a:srgbClr>
            </a:solidFill>
            <a:prstDash val="solid"/>
          </a:ln>
        </p:spPr>
      </p:sp>
      <p:sp>
        <p:nvSpPr>
          <p:cNvPr id="12" name="">
            <a:extLst xmlns:a="http://schemas.openxmlformats.org/drawingml/2006/main">
              <a:ext uri="{FF2B5EF4-FFF2-40B4-BE49-F238E27FC236}">
                <a16:creationId xmlns:a16="http://schemas.microsoft.com/office/drawing/2014/main" id="{A2DCA0F6-E91B-401D-813B-95C3EEED1C10}"/>
              </a:ext>
            </a:extLst>
          </p:cNvPr>
          <p:cNvSpPr>
            <a:spLocks xmlns:a="http://schemas.openxmlformats.org/drawingml/2006/main" noGrp="1"/>
          </p:cNvSpPr>
          <p:nvPr/>
        </p:nvSpPr>
        <p:spPr>
          <a:xfrm xmlns:a="http://schemas.openxmlformats.org/drawingml/2006/main">
            <a:off x="1047750" y="6953250"/>
            <a:ext cx="73152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1" i="0">
                <a:solidFill>
                  <a:srgbClr val="F8FAFC"/>
                </a:solidFill>
              </a:defRPr>
            </a:pPr>
            <a:r>
              <a:rPr sz="1725" b="1" i="0">
                <a:solidFill>
                  <a:srgbClr val="F8FAFC"/>
                </a:solidFill>
              </a:rPr>
              <a:t>GHCR</a:t>
            </a:r>
          </a:p>
        </p:txBody>
      </p:sp>
      <p:sp>
        <p:nvSpPr>
          <p:cNvPr id="13" name="">
            <a:extLst xmlns:a="http://schemas.openxmlformats.org/drawingml/2006/main">
              <a:ext uri="{FF2B5EF4-FFF2-40B4-BE49-F238E27FC236}">
                <a16:creationId xmlns:a16="http://schemas.microsoft.com/office/drawing/2014/main" id="{FA2F7238-117F-42B8-A7F9-8019AFF6B31C}"/>
              </a:ext>
            </a:extLst>
          </p:cNvPr>
          <p:cNvSpPr>
            <a:spLocks xmlns:a="http://schemas.openxmlformats.org/drawingml/2006/main" noGrp="1"/>
          </p:cNvSpPr>
          <p:nvPr/>
        </p:nvSpPr>
        <p:spPr>
          <a:xfrm xmlns:a="http://schemas.openxmlformats.org/drawingml/2006/main">
            <a:off x="8991600" y="4476750"/>
            <a:ext cx="104775" cy="104775"/>
          </a:xfrm>
          <a:prstGeom xmlns:a="http://schemas.openxmlformats.org/drawingml/2006/main" prst="ellipse">
            <a:avLst/>
          </a:prstGeom>
          <a:solidFill xmlns:a="http://schemas.openxmlformats.org/drawingml/2006/main">
            <a:srgbClr val="2F80FF"/>
          </a:solidFill>
          <a:ln xmlns:a="http://schemas.openxmlformats.org/drawingml/2006/main" w="0">
            <a:solidFill>
              <a:srgbClr val="2F80FF"/>
            </a:solidFill>
            <a:prstDash val="solid"/>
          </a:ln>
        </p:spPr>
      </p:sp>
      <p:sp>
        <p:nvSpPr>
          <p:cNvPr id="14" name="">
            <a:extLst xmlns:a="http://schemas.openxmlformats.org/drawingml/2006/main">
              <a:ext uri="{FF2B5EF4-FFF2-40B4-BE49-F238E27FC236}">
                <a16:creationId xmlns:a16="http://schemas.microsoft.com/office/drawing/2014/main" id="{7EDBA534-4532-487C-BD9F-CFB33682C4DA}"/>
              </a:ext>
            </a:extLst>
          </p:cNvPr>
          <p:cNvSpPr>
            <a:spLocks xmlns:a="http://schemas.openxmlformats.org/drawingml/2006/main" noGrp="1"/>
          </p:cNvSpPr>
          <p:nvPr/>
        </p:nvSpPr>
        <p:spPr>
          <a:xfrm xmlns:a="http://schemas.openxmlformats.org/drawingml/2006/main">
            <a:off x="9220200" y="4476750"/>
            <a:ext cx="8191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docker-compose : backend, PostgreSQL, MongoDB, Adminer</a:t>
            </a:r>
          </a:p>
        </p:txBody>
      </p:sp>
      <p:sp>
        <p:nvSpPr>
          <p:cNvPr id="15" name="">
            <a:extLst xmlns:a="http://schemas.openxmlformats.org/drawingml/2006/main">
              <a:ext uri="{FF2B5EF4-FFF2-40B4-BE49-F238E27FC236}">
                <a16:creationId xmlns:a16="http://schemas.microsoft.com/office/drawing/2014/main" id="{811F9BE6-64F3-4D52-A72C-991411EC111A}"/>
              </a:ext>
            </a:extLst>
          </p:cNvPr>
          <p:cNvSpPr>
            <a:spLocks xmlns:a="http://schemas.openxmlformats.org/drawingml/2006/main" noGrp="1"/>
          </p:cNvSpPr>
          <p:nvPr/>
        </p:nvSpPr>
        <p:spPr>
          <a:xfrm xmlns:a="http://schemas.openxmlformats.org/drawingml/2006/main">
            <a:off x="8991600" y="4953000"/>
            <a:ext cx="104775" cy="104775"/>
          </a:xfrm>
          <a:prstGeom xmlns:a="http://schemas.openxmlformats.org/drawingml/2006/main" prst="ellipse">
            <a:avLst/>
          </a:prstGeom>
          <a:solidFill xmlns:a="http://schemas.openxmlformats.org/drawingml/2006/main">
            <a:srgbClr val="8B5CF6"/>
          </a:solidFill>
          <a:ln xmlns:a="http://schemas.openxmlformats.org/drawingml/2006/main" w="0">
            <a:solidFill>
              <a:srgbClr val="8B5CF6"/>
            </a:solidFill>
            <a:prstDash val="solid"/>
          </a:ln>
        </p:spPr>
      </p:sp>
      <p:sp>
        <p:nvSpPr>
          <p:cNvPr id="16" name="">
            <a:extLst xmlns:a="http://schemas.openxmlformats.org/drawingml/2006/main">
              <a:ext uri="{FF2B5EF4-FFF2-40B4-BE49-F238E27FC236}">
                <a16:creationId xmlns:a16="http://schemas.microsoft.com/office/drawing/2014/main" id="{A86D0FFA-4ED3-4392-8180-C271785FF7EB}"/>
              </a:ext>
            </a:extLst>
          </p:cNvPr>
          <p:cNvSpPr>
            <a:spLocks xmlns:a="http://schemas.openxmlformats.org/drawingml/2006/main" noGrp="1"/>
          </p:cNvSpPr>
          <p:nvPr/>
        </p:nvSpPr>
        <p:spPr>
          <a:xfrm xmlns:a="http://schemas.openxmlformats.org/drawingml/2006/main">
            <a:off x="9220200" y="4953000"/>
            <a:ext cx="8191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Dockerfile multi-stage : rust:1.84-slim -&gt; debian slim</a:t>
            </a:r>
          </a:p>
        </p:txBody>
      </p:sp>
      <p:sp>
        <p:nvSpPr>
          <p:cNvPr id="17" name="">
            <a:extLst xmlns:a="http://schemas.openxmlformats.org/drawingml/2006/main">
              <a:ext uri="{FF2B5EF4-FFF2-40B4-BE49-F238E27FC236}">
                <a16:creationId xmlns:a16="http://schemas.microsoft.com/office/drawing/2014/main" id="{70BC409D-7078-4BB9-B30D-C046BD5DA959}"/>
              </a:ext>
            </a:extLst>
          </p:cNvPr>
          <p:cNvSpPr>
            <a:spLocks xmlns:a="http://schemas.openxmlformats.org/drawingml/2006/main" noGrp="1"/>
          </p:cNvSpPr>
          <p:nvPr/>
        </p:nvSpPr>
        <p:spPr>
          <a:xfrm xmlns:a="http://schemas.openxmlformats.org/drawingml/2006/main">
            <a:off x="8991600" y="5429250"/>
            <a:ext cx="104775" cy="104775"/>
          </a:xfrm>
          <a:prstGeom xmlns:a="http://schemas.openxmlformats.org/drawingml/2006/main" prst="ellipse">
            <a:avLst/>
          </a:prstGeom>
          <a:solidFill xmlns:a="http://schemas.openxmlformats.org/drawingml/2006/main">
            <a:srgbClr val="22D3EE"/>
          </a:solidFill>
          <a:ln xmlns:a="http://schemas.openxmlformats.org/drawingml/2006/main" w="0">
            <a:solidFill>
              <a:srgbClr val="22D3EE"/>
            </a:solidFill>
            <a:prstDash val="solid"/>
          </a:ln>
        </p:spPr>
      </p:sp>
      <p:sp>
        <p:nvSpPr>
          <p:cNvPr id="18" name="">
            <a:extLst xmlns:a="http://schemas.openxmlformats.org/drawingml/2006/main">
              <a:ext uri="{FF2B5EF4-FFF2-40B4-BE49-F238E27FC236}">
                <a16:creationId xmlns:a16="http://schemas.microsoft.com/office/drawing/2014/main" id="{07770503-94A0-486B-96C4-E8B5C19DA85E}"/>
              </a:ext>
            </a:extLst>
          </p:cNvPr>
          <p:cNvSpPr>
            <a:spLocks xmlns:a="http://schemas.openxmlformats.org/drawingml/2006/main" noGrp="1"/>
          </p:cNvSpPr>
          <p:nvPr/>
        </p:nvSpPr>
        <p:spPr>
          <a:xfrm xmlns:a="http://schemas.openxmlformats.org/drawingml/2006/main">
            <a:off x="9220200" y="5429250"/>
            <a:ext cx="8191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CI : rustfmt, clippy, build release, tests avec BDD</a:t>
            </a:r>
          </a:p>
        </p:txBody>
      </p:sp>
      <p:sp>
        <p:nvSpPr>
          <p:cNvPr id="19" name="">
            <a:extLst xmlns:a="http://schemas.openxmlformats.org/drawingml/2006/main">
              <a:ext uri="{FF2B5EF4-FFF2-40B4-BE49-F238E27FC236}">
                <a16:creationId xmlns:a16="http://schemas.microsoft.com/office/drawing/2014/main" id="{E79222F8-1EBB-4802-9A0A-FCB9E2783B56}"/>
              </a:ext>
            </a:extLst>
          </p:cNvPr>
          <p:cNvSpPr>
            <a:spLocks xmlns:a="http://schemas.openxmlformats.org/drawingml/2006/main" noGrp="1"/>
          </p:cNvSpPr>
          <p:nvPr/>
        </p:nvSpPr>
        <p:spPr>
          <a:xfrm xmlns:a="http://schemas.openxmlformats.org/drawingml/2006/main">
            <a:off x="8991600" y="5905500"/>
            <a:ext cx="104775" cy="104775"/>
          </a:xfrm>
          <a:prstGeom xmlns:a="http://schemas.openxmlformats.org/drawingml/2006/main" prst="ellipse">
            <a:avLst/>
          </a:prstGeom>
          <a:solidFill xmlns:a="http://schemas.openxmlformats.org/drawingml/2006/main">
            <a:srgbClr val="FBBF24"/>
          </a:solidFill>
          <a:ln xmlns:a="http://schemas.openxmlformats.org/drawingml/2006/main" w="0">
            <a:solidFill>
              <a:srgbClr val="FBBF24"/>
            </a:solidFill>
            <a:prstDash val="solid"/>
          </a:ln>
        </p:spPr>
      </p:sp>
      <p:sp>
        <p:nvSpPr>
          <p:cNvPr id="20" name="">
            <a:extLst xmlns:a="http://schemas.openxmlformats.org/drawingml/2006/main">
              <a:ext uri="{FF2B5EF4-FFF2-40B4-BE49-F238E27FC236}">
                <a16:creationId xmlns:a16="http://schemas.microsoft.com/office/drawing/2014/main" id="{56FCA0FA-3139-4BBD-BE28-73105EF7D002}"/>
              </a:ext>
            </a:extLst>
          </p:cNvPr>
          <p:cNvSpPr>
            <a:spLocks xmlns:a="http://schemas.openxmlformats.org/drawingml/2006/main" noGrp="1"/>
          </p:cNvSpPr>
          <p:nvPr/>
        </p:nvSpPr>
        <p:spPr>
          <a:xfrm xmlns:a="http://schemas.openxmlformats.org/drawingml/2006/main">
            <a:off x="9220200" y="5905500"/>
            <a:ext cx="8191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Deploy : build image Docker et push vers GHCR</a:t>
            </a:r>
          </a:p>
        </p:txBody>
      </p:sp>
      <p:sp>
        <p:nvSpPr>
          <p:cNvPr id="21" name="">
            <a:extLst xmlns:a="http://schemas.openxmlformats.org/drawingml/2006/main">
              <a:ext uri="{FF2B5EF4-FFF2-40B4-BE49-F238E27FC236}">
                <a16:creationId xmlns:a16="http://schemas.microsoft.com/office/drawing/2014/main" id="{9BD09009-B1D8-4161-A6EF-164F837DE7D5}"/>
              </a:ext>
            </a:extLst>
          </p:cNvPr>
          <p:cNvSpPr>
            <a:spLocks xmlns:a="http://schemas.openxmlformats.org/drawingml/2006/main" noGrp="1"/>
          </p:cNvSpPr>
          <p:nvPr/>
        </p:nvSpPr>
        <p:spPr>
          <a:xfrm xmlns:a="http://schemas.openxmlformats.org/drawingml/2006/main">
            <a:off x="8991600" y="6381750"/>
            <a:ext cx="104775" cy="10477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22" name="">
            <a:extLst xmlns:a="http://schemas.openxmlformats.org/drawingml/2006/main">
              <a:ext uri="{FF2B5EF4-FFF2-40B4-BE49-F238E27FC236}">
                <a16:creationId xmlns:a16="http://schemas.microsoft.com/office/drawing/2014/main" id="{EBA1D990-738B-451E-9950-2519F2B3D588}"/>
              </a:ext>
            </a:extLst>
          </p:cNvPr>
          <p:cNvSpPr>
            <a:spLocks xmlns:a="http://schemas.openxmlformats.org/drawingml/2006/main" noGrp="1"/>
          </p:cNvSpPr>
          <p:nvPr/>
        </p:nvSpPr>
        <p:spPr>
          <a:xfrm xmlns:a="http://schemas.openxmlformats.org/drawingml/2006/main">
            <a:off x="9220200" y="6381750"/>
            <a:ext cx="8191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Workflows : ci.yml, deploy.yml, ws_test.yml</a:t>
            </a:r>
          </a:p>
        </p:txBody>
      </p:sp>
      <p:sp>
        <p:nvSpPr>
          <p:cNvPr id="23" name="">
            <a:extLst xmlns:a="http://schemas.openxmlformats.org/drawingml/2006/main">
              <a:ext uri="{FF2B5EF4-FFF2-40B4-BE49-F238E27FC236}">
                <a16:creationId xmlns:a16="http://schemas.microsoft.com/office/drawing/2014/main" id="{19CE2085-92F7-4BB3-B78E-971CB72BB05A}"/>
              </a:ext>
            </a:extLst>
          </p:cNvPr>
          <p:cNvSpPr>
            <a:spLocks xmlns:a="http://schemas.openxmlformats.org/drawingml/2006/main" noGrp="1"/>
          </p:cNvSpPr>
          <p:nvPr/>
        </p:nvSpPr>
        <p:spPr>
          <a:xfrm xmlns:a="http://schemas.openxmlformats.org/drawingml/2006/main">
            <a:off x="876300" y="9448800"/>
            <a:ext cx="165354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i="0">
                <a:solidFill>
                  <a:srgbClr val="667085"/>
                </a:solidFill>
              </a:defRPr>
            </a:pPr>
            <a:r>
              <a:rPr sz="1125" b="0" i="0">
                <a:solidFill>
                  <a:srgbClr val="667085"/>
                </a:solidFill>
              </a:rPr>
              <a:t>Preuves : backend/Dockerfile, backend/docker-compose.yml, .github/workflows/*</a:t>
            </a:r>
          </a:p>
        </p:txBody>
      </p:sp>
    </p:spTree>
    <p:extLst>
      <p:ext uri="{BB962C8B-B14F-4D97-AF65-F5344CB8AC3E}">
        <p14:creationId xmlns:p14="http://schemas.microsoft.com/office/powerpoint/2010/main" val="2118556357"/>
      </p:ext>
    </p:extLst>
  </p:cSld>
</p:sld>
</file>

<file path=ppt/slides/slide11.xml><?xml version="1.0" encoding="utf-8"?>
<p:sld xmlns:p="http://schemas.openxmlformats.org/presentationml/2006/main">
  <p:cSld>
    <p:bg>
      <p:bgPr>
        <a:solidFill xmlns:a="http://schemas.openxmlformats.org/drawingml/2006/main">
          <a:srgbClr val="060A16"/>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2EB7D4D9-40E7-423B-A2F4-BF4AD9C0D605}"/>
              </a:ext>
            </a:extLst>
          </p:cNvPr>
          <p:cNvSpPr>
            <a:spLocks xmlns:a="http://schemas.openxmlformats.org/drawingml/2006/main" noGrp="1"/>
          </p:cNvSpPr>
          <p:nvPr/>
        </p:nvSpPr>
        <p:spPr>
          <a:xfrm xmlns:a="http://schemas.openxmlformats.org/drawingml/2006/main">
            <a:off x="876300" y="666750"/>
            <a:ext cx="165354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i="0">
                <a:solidFill>
                  <a:srgbClr val="F8FAFC"/>
                </a:solidFill>
              </a:defRPr>
            </a:pPr>
            <a:r>
              <a:rPr sz="4050" b="1" i="0">
                <a:solidFill>
                  <a:srgbClr val="F8FAFC"/>
                </a:solidFill>
              </a:rPr>
              <a:t>Tests et qualite</a:t>
            </a:r>
          </a:p>
        </p:txBody>
      </p:sp>
      <p:sp>
        <p:nvSpPr>
          <p:cNvPr id="2" name="slide-subtitle">
            <a:extLst xmlns:a="http://schemas.openxmlformats.org/drawingml/2006/main">
              <a:ext uri="{FF2B5EF4-FFF2-40B4-BE49-F238E27FC236}">
                <a16:creationId xmlns:a16="http://schemas.microsoft.com/office/drawing/2014/main" id="{13505D3B-C9A7-4F30-BE2E-E5B25143E0B4}"/>
              </a:ext>
            </a:extLst>
          </p:cNvPr>
          <p:cNvSpPr>
            <a:spLocks xmlns:a="http://schemas.openxmlformats.org/drawingml/2006/main" noGrp="1"/>
          </p:cNvSpPr>
          <p:nvPr/>
        </p:nvSpPr>
        <p:spPr>
          <a:xfrm xmlns:a="http://schemas.openxmlformats.org/drawingml/2006/main">
            <a:off x="876300" y="1409700"/>
            <a:ext cx="165354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i="0">
                <a:solidFill>
                  <a:srgbClr val="A7B0C6"/>
                </a:solidFill>
              </a:defRPr>
            </a:pPr>
            <a:r>
              <a:rPr sz="1725" b="0" i="0">
                <a:solidFill>
                  <a:srgbClr val="A7B0C6"/>
                </a:solidFill>
              </a:rPr>
              <a:t>La qualite couvre backend, frontend, desktop et temps reel.</a:t>
            </a:r>
          </a:p>
        </p:txBody>
      </p:sp>
      <p:sp>
        <p:nvSpPr>
          <p:cNvPr id="3" name="">
            <a:extLst xmlns:a="http://schemas.openxmlformats.org/drawingml/2006/main">
              <a:ext uri="{FF2B5EF4-FFF2-40B4-BE49-F238E27FC236}">
                <a16:creationId xmlns:a16="http://schemas.microsoft.com/office/drawing/2014/main" id="{78013206-B7A2-4FE8-8991-8A7D1238F390}"/>
              </a:ext>
            </a:extLst>
          </p:cNvPr>
          <p:cNvSpPr>
            <a:spLocks xmlns:a="http://schemas.openxmlformats.org/drawingml/2006/main" noGrp="1"/>
          </p:cNvSpPr>
          <p:nvPr/>
        </p:nvSpPr>
        <p:spPr>
          <a:xfrm xmlns:a="http://schemas.openxmlformats.org/drawingml/2006/main">
            <a:off x="876300" y="2004060"/>
            <a:ext cx="5359400" cy="6256020"/>
          </a:xfrm>
          <a:prstGeom xmlns:a="http://schemas.openxmlformats.org/drawingml/2006/main" prst="roundRect">
            <a:avLst>
              <a:gd name="adj" fmla="val 1066"/>
            </a:avLst>
          </a:prstGeom>
          <a:solidFill xmlns:a="http://schemas.openxmlformats.org/drawingml/2006/main">
            <a:srgbClr val="10182D"/>
          </a:solidFill>
          <a:ln xmlns:a="http://schemas.openxmlformats.org/drawingml/2006/main" w="9525">
            <a:solidFill>
              <a:srgbClr val="8B5CF6">
                <a:alpha val="40000"/>
              </a:srgbClr>
            </a:solidFill>
            <a:prstDash val="solid"/>
          </a:ln>
        </p:spPr>
      </p:sp>
      <p:sp>
        <p:nvSpPr>
          <p:cNvPr id="4" name="">
            <a:extLst xmlns:a="http://schemas.openxmlformats.org/drawingml/2006/main">
              <a:ext uri="{FF2B5EF4-FFF2-40B4-BE49-F238E27FC236}">
                <a16:creationId xmlns:a16="http://schemas.microsoft.com/office/drawing/2014/main" id="{8970D6F9-7897-4456-9A14-0E1EC116E4E7}"/>
              </a:ext>
            </a:extLst>
          </p:cNvPr>
          <p:cNvSpPr>
            <a:spLocks xmlns:a="http://schemas.openxmlformats.org/drawingml/2006/main" noGrp="1"/>
          </p:cNvSpPr>
          <p:nvPr/>
        </p:nvSpPr>
        <p:spPr>
          <a:xfrm xmlns:a="http://schemas.openxmlformats.org/drawingml/2006/main">
            <a:off x="1143000" y="2209800"/>
            <a:ext cx="48196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i="0">
                <a:solidFill>
                  <a:srgbClr val="8B5CF6"/>
                </a:solidFill>
              </a:defRPr>
            </a:pPr>
            <a:r>
              <a:rPr sz="1650" b="1" i="0">
                <a:solidFill>
                  <a:srgbClr val="8B5CF6"/>
                </a:solidFill>
              </a:rPr>
              <a:t>Backend Rust</a:t>
            </a:r>
          </a:p>
        </p:txBody>
      </p:sp>
      <p:sp>
        <p:nvSpPr>
          <p:cNvPr id="5" name="">
            <a:extLst xmlns:a="http://schemas.openxmlformats.org/drawingml/2006/main">
              <a:ext uri="{FF2B5EF4-FFF2-40B4-BE49-F238E27FC236}">
                <a16:creationId xmlns:a16="http://schemas.microsoft.com/office/drawing/2014/main" id="{820915BF-7F78-408D-AE92-1B16596C9A48}"/>
              </a:ext>
            </a:extLst>
          </p:cNvPr>
          <p:cNvSpPr>
            <a:spLocks xmlns:a="http://schemas.openxmlformats.org/drawingml/2006/main" noGrp="1"/>
          </p:cNvSpPr>
          <p:nvPr/>
        </p:nvSpPr>
        <p:spPr>
          <a:xfrm xmlns:a="http://schemas.openxmlformats.org/drawingml/2006/main">
            <a:off x="1143000" y="2552700"/>
            <a:ext cx="4819650" cy="857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Tests unitaires</a:t>
            </a:r>
          </a:p>
          <a:p xmlns:a="http://schemas.openxmlformats.org/drawingml/2006/main">
            <a:pPr>
              <a:defRPr sz="1875" b="0" i="0">
                <a:solidFill>
                  <a:srgbClr val="F8FAFC"/>
                </a:solidFill>
              </a:defRPr>
            </a:pPr>
            <a:r>
              <a:rPr sz="1875" b="0" i="0">
                <a:solidFill>
                  <a:srgbClr val="F8FAFC"/>
                </a:solidFill>
              </a:rPr>
              <a:t>Integration tests</a:t>
            </a:r>
          </a:p>
          <a:p xmlns:a="http://schemas.openxmlformats.org/drawingml/2006/main">
            <a:pPr>
              <a:defRPr sz="1875" b="0" i="0">
                <a:solidFill>
                  <a:srgbClr val="F8FAFC"/>
                </a:solidFill>
              </a:defRPr>
            </a:pPr>
            <a:r>
              <a:rPr sz="1875" b="0" i="0">
                <a:solidFill>
                  <a:srgbClr val="F8FAFC"/>
                </a:solidFill>
              </a:rPr>
              <a:t>PostgreSQL + MongoDB</a:t>
            </a:r>
          </a:p>
        </p:txBody>
      </p:sp>
      <p:sp>
        <p:nvSpPr>
          <p:cNvPr id="6" name="">
            <a:extLst xmlns:a="http://schemas.openxmlformats.org/drawingml/2006/main">
              <a:ext uri="{FF2B5EF4-FFF2-40B4-BE49-F238E27FC236}">
                <a16:creationId xmlns:a16="http://schemas.microsoft.com/office/drawing/2014/main" id="{FE31346E-39DF-4BCF-94B6-BF2436A35791}"/>
              </a:ext>
            </a:extLst>
          </p:cNvPr>
          <p:cNvSpPr>
            <a:spLocks xmlns:a="http://schemas.openxmlformats.org/drawingml/2006/main" noGrp="1"/>
          </p:cNvSpPr>
          <p:nvPr/>
        </p:nvSpPr>
        <p:spPr>
          <a:xfrm xmlns:a="http://schemas.openxmlformats.org/drawingml/2006/main">
            <a:off x="6464300" y="2004060"/>
            <a:ext cx="5359400" cy="6256020"/>
          </a:xfrm>
          <a:prstGeom xmlns:a="http://schemas.openxmlformats.org/drawingml/2006/main" prst="roundRect">
            <a:avLst>
              <a:gd name="adj" fmla="val 1066"/>
            </a:avLst>
          </a:prstGeom>
          <a:solidFill xmlns:a="http://schemas.openxmlformats.org/drawingml/2006/main">
            <a:srgbClr val="10182D"/>
          </a:solidFill>
          <a:ln xmlns:a="http://schemas.openxmlformats.org/drawingml/2006/main" w="9525">
            <a:solidFill>
              <a:srgbClr val="22D3EE">
                <a:alpha val="40000"/>
              </a:srgbClr>
            </a:solidFill>
            <a:prstDash val="solid"/>
          </a:ln>
        </p:spPr>
      </p:sp>
      <p:sp>
        <p:nvSpPr>
          <p:cNvPr id="7" name="">
            <a:extLst xmlns:a="http://schemas.openxmlformats.org/drawingml/2006/main">
              <a:ext uri="{FF2B5EF4-FFF2-40B4-BE49-F238E27FC236}">
                <a16:creationId xmlns:a16="http://schemas.microsoft.com/office/drawing/2014/main" id="{F6AF7BD9-9E33-480E-9107-1B4587254808}"/>
              </a:ext>
            </a:extLst>
          </p:cNvPr>
          <p:cNvSpPr>
            <a:spLocks xmlns:a="http://schemas.openxmlformats.org/drawingml/2006/main" noGrp="1"/>
          </p:cNvSpPr>
          <p:nvPr/>
        </p:nvSpPr>
        <p:spPr>
          <a:xfrm xmlns:a="http://schemas.openxmlformats.org/drawingml/2006/main">
            <a:off x="6724650" y="2209800"/>
            <a:ext cx="48196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i="0">
                <a:solidFill>
                  <a:srgbClr val="22D3EE"/>
                </a:solidFill>
              </a:defRPr>
            </a:pPr>
            <a:r>
              <a:rPr sz="1650" b="1" i="0">
                <a:solidFill>
                  <a:srgbClr val="22D3EE"/>
                </a:solidFill>
              </a:rPr>
              <a:t>WebSocket</a:t>
            </a:r>
          </a:p>
        </p:txBody>
      </p:sp>
      <p:sp>
        <p:nvSpPr>
          <p:cNvPr id="8" name="">
            <a:extLst xmlns:a="http://schemas.openxmlformats.org/drawingml/2006/main">
              <a:ext uri="{FF2B5EF4-FFF2-40B4-BE49-F238E27FC236}">
                <a16:creationId xmlns:a16="http://schemas.microsoft.com/office/drawing/2014/main" id="{D0144E1E-A20B-450A-BCCE-494BA029583B}"/>
              </a:ext>
            </a:extLst>
          </p:cNvPr>
          <p:cNvSpPr>
            <a:spLocks xmlns:a="http://schemas.openxmlformats.org/drawingml/2006/main" noGrp="1"/>
          </p:cNvSpPr>
          <p:nvPr/>
        </p:nvSpPr>
        <p:spPr>
          <a:xfrm xmlns:a="http://schemas.openxmlformats.org/drawingml/2006/main">
            <a:off x="6724650" y="2552700"/>
            <a:ext cx="4819650" cy="857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Binaire ws_test</a:t>
            </a:r>
          </a:p>
          <a:p xmlns:a="http://schemas.openxmlformats.org/drawingml/2006/main">
            <a:pPr>
              <a:defRPr sz="1875" b="0" i="0">
                <a:solidFill>
                  <a:srgbClr val="F8FAFC"/>
                </a:solidFill>
              </a:defRPr>
            </a:pPr>
            <a:r>
              <a:rPr sz="1875" b="0" i="0">
                <a:solidFill>
                  <a:srgbClr val="F8FAFC"/>
                </a:solidFill>
              </a:rPr>
              <a:t>Flow typing / presence</a:t>
            </a:r>
          </a:p>
          <a:p xmlns:a="http://schemas.openxmlformats.org/drawingml/2006/main">
            <a:pPr>
              <a:defRPr sz="1875" b="0" i="0">
                <a:solidFill>
                  <a:srgbClr val="F8FAFC"/>
                </a:solidFill>
              </a:defRPr>
            </a:pPr>
            <a:r>
              <a:rPr sz="1875" b="0" i="0">
                <a:solidFill>
                  <a:srgbClr val="F8FAFC"/>
                </a:solidFill>
              </a:rPr>
              <a:t>Messages et DMs</a:t>
            </a:r>
          </a:p>
        </p:txBody>
      </p:sp>
      <p:sp>
        <p:nvSpPr>
          <p:cNvPr id="9" name="">
            <a:extLst xmlns:a="http://schemas.openxmlformats.org/drawingml/2006/main">
              <a:ext uri="{FF2B5EF4-FFF2-40B4-BE49-F238E27FC236}">
                <a16:creationId xmlns:a16="http://schemas.microsoft.com/office/drawing/2014/main" id="{736D5211-CB3B-4A12-B859-FDB9F565B9F3}"/>
              </a:ext>
            </a:extLst>
          </p:cNvPr>
          <p:cNvSpPr>
            <a:spLocks xmlns:a="http://schemas.openxmlformats.org/drawingml/2006/main" noGrp="1"/>
          </p:cNvSpPr>
          <p:nvPr/>
        </p:nvSpPr>
        <p:spPr>
          <a:xfrm xmlns:a="http://schemas.openxmlformats.org/drawingml/2006/main">
            <a:off x="12052300" y="2004060"/>
            <a:ext cx="5359400" cy="6256020"/>
          </a:xfrm>
          <a:prstGeom xmlns:a="http://schemas.openxmlformats.org/drawingml/2006/main" prst="roundRect">
            <a:avLst>
              <a:gd name="adj" fmla="val 1066"/>
            </a:avLst>
          </a:prstGeom>
          <a:solidFill xmlns:a="http://schemas.openxmlformats.org/drawingml/2006/main">
            <a:srgbClr val="10182D"/>
          </a:solidFill>
          <a:ln xmlns:a="http://schemas.openxmlformats.org/drawingml/2006/main" w="9525">
            <a:solidFill>
              <a:srgbClr val="2F80FF">
                <a:alpha val="40000"/>
              </a:srgbClr>
            </a:solidFill>
            <a:prstDash val="solid"/>
          </a:ln>
        </p:spPr>
      </p:sp>
      <p:sp>
        <p:nvSpPr>
          <p:cNvPr id="10" name="">
            <a:extLst xmlns:a="http://schemas.openxmlformats.org/drawingml/2006/main">
              <a:ext uri="{FF2B5EF4-FFF2-40B4-BE49-F238E27FC236}">
                <a16:creationId xmlns:a16="http://schemas.microsoft.com/office/drawing/2014/main" id="{E4976437-A003-4A75-97E3-F2529313AA5E}"/>
              </a:ext>
            </a:extLst>
          </p:cNvPr>
          <p:cNvSpPr>
            <a:spLocks xmlns:a="http://schemas.openxmlformats.org/drawingml/2006/main" noGrp="1"/>
          </p:cNvSpPr>
          <p:nvPr/>
        </p:nvSpPr>
        <p:spPr>
          <a:xfrm xmlns:a="http://schemas.openxmlformats.org/drawingml/2006/main">
            <a:off x="12325350" y="2209800"/>
            <a:ext cx="48196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i="0">
                <a:solidFill>
                  <a:srgbClr val="2F80FF"/>
                </a:solidFill>
              </a:defRPr>
            </a:pPr>
            <a:r>
              <a:rPr sz="1650" b="1" i="0">
                <a:solidFill>
                  <a:srgbClr val="2F80FF"/>
                </a:solidFill>
              </a:rPr>
              <a:t>Frontend + Desktop</a:t>
            </a:r>
          </a:p>
        </p:txBody>
      </p:sp>
      <p:sp>
        <p:nvSpPr>
          <p:cNvPr id="11" name="">
            <a:extLst xmlns:a="http://schemas.openxmlformats.org/drawingml/2006/main">
              <a:ext uri="{FF2B5EF4-FFF2-40B4-BE49-F238E27FC236}">
                <a16:creationId xmlns:a16="http://schemas.microsoft.com/office/drawing/2014/main" id="{C299F691-5CD5-4273-9D16-C5391A5AA394}"/>
              </a:ext>
            </a:extLst>
          </p:cNvPr>
          <p:cNvSpPr>
            <a:spLocks xmlns:a="http://schemas.openxmlformats.org/drawingml/2006/main" noGrp="1"/>
          </p:cNvSpPr>
          <p:nvPr/>
        </p:nvSpPr>
        <p:spPr>
          <a:xfrm xmlns:a="http://schemas.openxmlformats.org/drawingml/2006/main">
            <a:off x="12325350" y="2552700"/>
            <a:ext cx="4819650" cy="857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F8FAFC"/>
                </a:solidFill>
              </a:defRPr>
            </a:pPr>
            <a:r>
              <a:rPr sz="1875" b="0" i="0">
                <a:solidFill>
                  <a:srgbClr val="F8FAFC"/>
                </a:solidFill>
              </a:rPr>
              <a:t>Vitest 4</a:t>
            </a:r>
          </a:p>
          <a:p xmlns:a="http://schemas.openxmlformats.org/drawingml/2006/main">
            <a:pPr>
              <a:defRPr sz="1875" b="0" i="0">
                <a:solidFill>
                  <a:srgbClr val="F8FAFC"/>
                </a:solidFill>
              </a:defRPr>
            </a:pPr>
            <a:r>
              <a:rPr sz="1875" b="0" i="0">
                <a:solidFill>
                  <a:srgbClr val="F8FAFC"/>
                </a:solidFill>
              </a:rPr>
              <a:t>Testing Library</a:t>
            </a:r>
          </a:p>
          <a:p xmlns:a="http://schemas.openxmlformats.org/drawingml/2006/main">
            <a:pPr>
              <a:defRPr sz="1875" b="0" i="0">
                <a:solidFill>
                  <a:srgbClr val="F8FAFC"/>
                </a:solidFill>
              </a:defRPr>
            </a:pPr>
            <a:r>
              <a:rPr sz="1875" b="0" i="0">
                <a:solidFill>
                  <a:srgbClr val="F8FAFC"/>
                </a:solidFill>
              </a:rPr>
              <a:t>coverage-v8</a:t>
            </a:r>
          </a:p>
        </p:txBody>
      </p:sp>
      <p:sp>
        <p:nvSpPr>
          <p:cNvPr id="12" name="">
            <a:extLst xmlns:a="http://schemas.openxmlformats.org/drawingml/2006/main">
              <a:ext uri="{FF2B5EF4-FFF2-40B4-BE49-F238E27FC236}">
                <a16:creationId xmlns:a16="http://schemas.microsoft.com/office/drawing/2014/main" id="{D416F091-5241-4F9C-8371-F0753C80C745}"/>
              </a:ext>
            </a:extLst>
          </p:cNvPr>
          <p:cNvSpPr>
            <a:spLocks xmlns:a="http://schemas.openxmlformats.org/drawingml/2006/main" noGrp="1"/>
          </p:cNvSpPr>
          <p:nvPr/>
        </p:nvSpPr>
        <p:spPr>
          <a:xfrm xmlns:a="http://schemas.openxmlformats.org/drawingml/2006/main">
            <a:off x="876300" y="8583930"/>
            <a:ext cx="838962" cy="346710"/>
          </a:xfrm>
          <a:prstGeom xmlns:a="http://schemas.openxmlformats.org/drawingml/2006/main" prst="roundRect">
            <a:avLst>
              <a:gd name="adj" fmla="val 50000"/>
            </a:avLst>
          </a:prstGeom>
          <a:solidFill xmlns:a="http://schemas.openxmlformats.org/drawingml/2006/main">
            <a:srgbClr val="34D399">
              <a:alpha val="13333"/>
            </a:srgbClr>
          </a:solidFill>
          <a:ln xmlns:a="http://schemas.openxmlformats.org/drawingml/2006/main" w="9525">
            <a:solidFill>
              <a:srgbClr val="34D399">
                <a:alpha val="53333"/>
              </a:srgbClr>
            </a:solidFill>
            <a:prstDash val="solid"/>
          </a:ln>
        </p:spPr>
      </p:sp>
      <p:sp>
        <p:nvSpPr>
          <p:cNvPr id="13" name="">
            <a:extLst xmlns:a="http://schemas.openxmlformats.org/drawingml/2006/main">
              <a:ext uri="{FF2B5EF4-FFF2-40B4-BE49-F238E27FC236}">
                <a16:creationId xmlns:a16="http://schemas.microsoft.com/office/drawing/2014/main" id="{8E58A08D-C879-48AF-BEB4-00975B1BBC57}"/>
              </a:ext>
            </a:extLst>
          </p:cNvPr>
          <p:cNvSpPr>
            <a:spLocks xmlns:a="http://schemas.openxmlformats.org/drawingml/2006/main" noGrp="1"/>
          </p:cNvSpPr>
          <p:nvPr/>
        </p:nvSpPr>
        <p:spPr>
          <a:xfrm xmlns:a="http://schemas.openxmlformats.org/drawingml/2006/main">
            <a:off x="1047750" y="8667750"/>
            <a:ext cx="4953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i="0">
                <a:solidFill>
                  <a:srgbClr val="34D399"/>
                </a:solidFill>
              </a:defRPr>
            </a:pPr>
            <a:r>
              <a:rPr sz="1275" b="1" i="0">
                <a:solidFill>
                  <a:srgbClr val="34D399"/>
                </a:solidFill>
              </a:rPr>
              <a:t>rustfmt</a:t>
            </a:r>
          </a:p>
        </p:txBody>
      </p:sp>
      <p:sp>
        <p:nvSpPr>
          <p:cNvPr id="14" name="">
            <a:extLst xmlns:a="http://schemas.openxmlformats.org/drawingml/2006/main">
              <a:ext uri="{FF2B5EF4-FFF2-40B4-BE49-F238E27FC236}">
                <a16:creationId xmlns:a16="http://schemas.microsoft.com/office/drawing/2014/main" id="{A6E38C19-77FF-4C61-8162-1F01C985DE05}"/>
              </a:ext>
            </a:extLst>
          </p:cNvPr>
          <p:cNvSpPr>
            <a:spLocks xmlns:a="http://schemas.openxmlformats.org/drawingml/2006/main" noGrp="1"/>
          </p:cNvSpPr>
          <p:nvPr/>
        </p:nvSpPr>
        <p:spPr>
          <a:xfrm xmlns:a="http://schemas.openxmlformats.org/drawingml/2006/main">
            <a:off x="1905762" y="8583930"/>
            <a:ext cx="1576102" cy="346710"/>
          </a:xfrm>
          <a:prstGeom xmlns:a="http://schemas.openxmlformats.org/drawingml/2006/main" prst="roundRect">
            <a:avLst>
              <a:gd name="adj" fmla="val 50000"/>
            </a:avLst>
          </a:prstGeom>
          <a:solidFill xmlns:a="http://schemas.openxmlformats.org/drawingml/2006/main">
            <a:srgbClr val="34D399">
              <a:alpha val="13333"/>
            </a:srgbClr>
          </a:solidFill>
          <a:ln xmlns:a="http://schemas.openxmlformats.org/drawingml/2006/main" w="9525">
            <a:solidFill>
              <a:srgbClr val="34D399">
                <a:alpha val="53333"/>
              </a:srgbClr>
            </a:solidFill>
            <a:prstDash val="solid"/>
          </a:ln>
        </p:spPr>
      </p:sp>
      <p:sp>
        <p:nvSpPr>
          <p:cNvPr id="15" name="">
            <a:extLst xmlns:a="http://schemas.openxmlformats.org/drawingml/2006/main">
              <a:ext uri="{FF2B5EF4-FFF2-40B4-BE49-F238E27FC236}">
                <a16:creationId xmlns:a16="http://schemas.microsoft.com/office/drawing/2014/main" id="{FF95B513-93A1-4B50-B5E9-1B5450791ECD}"/>
              </a:ext>
            </a:extLst>
          </p:cNvPr>
          <p:cNvSpPr>
            <a:spLocks xmlns:a="http://schemas.openxmlformats.org/drawingml/2006/main" noGrp="1"/>
          </p:cNvSpPr>
          <p:nvPr/>
        </p:nvSpPr>
        <p:spPr>
          <a:xfrm xmlns:a="http://schemas.openxmlformats.org/drawingml/2006/main">
            <a:off x="2076450" y="8667750"/>
            <a:ext cx="12382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i="0">
                <a:solidFill>
                  <a:srgbClr val="34D399"/>
                </a:solidFill>
              </a:defRPr>
            </a:pPr>
            <a:r>
              <a:rPr sz="1275" b="1" i="0">
                <a:solidFill>
                  <a:srgbClr val="34D399"/>
                </a:solidFill>
              </a:rPr>
              <a:t>clippy -D warnings</a:t>
            </a:r>
          </a:p>
        </p:txBody>
      </p:sp>
      <p:sp>
        <p:nvSpPr>
          <p:cNvPr id="16" name="">
            <a:extLst xmlns:a="http://schemas.openxmlformats.org/drawingml/2006/main">
              <a:ext uri="{FF2B5EF4-FFF2-40B4-BE49-F238E27FC236}">
                <a16:creationId xmlns:a16="http://schemas.microsoft.com/office/drawing/2014/main" id="{93F37656-2AAC-4405-8959-7F94D36B988B}"/>
              </a:ext>
            </a:extLst>
          </p:cNvPr>
          <p:cNvSpPr>
            <a:spLocks xmlns:a="http://schemas.openxmlformats.org/drawingml/2006/main" noGrp="1"/>
          </p:cNvSpPr>
          <p:nvPr/>
        </p:nvSpPr>
        <p:spPr>
          <a:xfrm xmlns:a="http://schemas.openxmlformats.org/drawingml/2006/main">
            <a:off x="3672364" y="8583930"/>
            <a:ext cx="998601" cy="346710"/>
          </a:xfrm>
          <a:prstGeom xmlns:a="http://schemas.openxmlformats.org/drawingml/2006/main" prst="roundRect">
            <a:avLst>
              <a:gd name="adj" fmla="val 50000"/>
            </a:avLst>
          </a:prstGeom>
          <a:solidFill xmlns:a="http://schemas.openxmlformats.org/drawingml/2006/main">
            <a:srgbClr val="34D399">
              <a:alpha val="13333"/>
            </a:srgbClr>
          </a:solidFill>
          <a:ln xmlns:a="http://schemas.openxmlformats.org/drawingml/2006/main" w="9525">
            <a:solidFill>
              <a:srgbClr val="34D399">
                <a:alpha val="53333"/>
              </a:srgbClr>
            </a:solidFill>
            <a:prstDash val="solid"/>
          </a:ln>
        </p:spPr>
      </p:sp>
      <p:sp>
        <p:nvSpPr>
          <p:cNvPr id="17" name="">
            <a:extLst xmlns:a="http://schemas.openxmlformats.org/drawingml/2006/main">
              <a:ext uri="{FF2B5EF4-FFF2-40B4-BE49-F238E27FC236}">
                <a16:creationId xmlns:a16="http://schemas.microsoft.com/office/drawing/2014/main" id="{A9B3E213-A99E-4B23-B771-B0CD8A462A9A}"/>
              </a:ext>
            </a:extLst>
          </p:cNvPr>
          <p:cNvSpPr>
            <a:spLocks xmlns:a="http://schemas.openxmlformats.org/drawingml/2006/main" noGrp="1"/>
          </p:cNvSpPr>
          <p:nvPr/>
        </p:nvSpPr>
        <p:spPr>
          <a:xfrm xmlns:a="http://schemas.openxmlformats.org/drawingml/2006/main">
            <a:off x="3848100" y="8667750"/>
            <a:ext cx="6477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i="0">
                <a:solidFill>
                  <a:srgbClr val="34D399"/>
                </a:solidFill>
              </a:defRPr>
            </a:pPr>
            <a:r>
              <a:rPr sz="1275" b="1" i="0">
                <a:solidFill>
                  <a:srgbClr val="34D399"/>
                </a:solidFill>
              </a:rPr>
              <a:t>cargo test</a:t>
            </a:r>
          </a:p>
        </p:txBody>
      </p:sp>
      <p:sp>
        <p:nvSpPr>
          <p:cNvPr id="18" name="">
            <a:extLst xmlns:a="http://schemas.openxmlformats.org/drawingml/2006/main">
              <a:ext uri="{FF2B5EF4-FFF2-40B4-BE49-F238E27FC236}">
                <a16:creationId xmlns:a16="http://schemas.microsoft.com/office/drawing/2014/main" id="{71C76A79-D11A-4562-A135-17CEBF80AD81}"/>
              </a:ext>
            </a:extLst>
          </p:cNvPr>
          <p:cNvSpPr>
            <a:spLocks xmlns:a="http://schemas.openxmlformats.org/drawingml/2006/main" noGrp="1"/>
          </p:cNvSpPr>
          <p:nvPr/>
        </p:nvSpPr>
        <p:spPr>
          <a:xfrm xmlns:a="http://schemas.openxmlformats.org/drawingml/2006/main">
            <a:off x="4861465" y="8583930"/>
            <a:ext cx="713803" cy="541020"/>
          </a:xfrm>
          <a:prstGeom xmlns:a="http://schemas.openxmlformats.org/drawingml/2006/main" prst="roundRect">
            <a:avLst>
              <a:gd name="adj" fmla="val 50000"/>
            </a:avLst>
          </a:prstGeom>
          <a:solidFill xmlns:a="http://schemas.openxmlformats.org/drawingml/2006/main">
            <a:srgbClr val="34D399">
              <a:alpha val="13333"/>
            </a:srgbClr>
          </a:solidFill>
          <a:ln xmlns:a="http://schemas.openxmlformats.org/drawingml/2006/main" w="9525">
            <a:solidFill>
              <a:srgbClr val="34D399">
                <a:alpha val="53333"/>
              </a:srgbClr>
            </a:solidFill>
            <a:prstDash val="solid"/>
          </a:ln>
        </p:spPr>
      </p:sp>
      <p:sp>
        <p:nvSpPr>
          <p:cNvPr id="19" name="">
            <a:extLst xmlns:a="http://schemas.openxmlformats.org/drawingml/2006/main">
              <a:ext uri="{FF2B5EF4-FFF2-40B4-BE49-F238E27FC236}">
                <a16:creationId xmlns:a16="http://schemas.microsoft.com/office/drawing/2014/main" id="{8991DC65-DDC4-4EFE-8891-2EAF8943892E}"/>
              </a:ext>
            </a:extLst>
          </p:cNvPr>
          <p:cNvSpPr>
            <a:spLocks xmlns:a="http://schemas.openxmlformats.org/drawingml/2006/main" noGrp="1"/>
          </p:cNvSpPr>
          <p:nvPr/>
        </p:nvSpPr>
        <p:spPr>
          <a:xfrm xmlns:a="http://schemas.openxmlformats.org/drawingml/2006/main">
            <a:off x="5029200" y="8667750"/>
            <a:ext cx="36195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i="0">
                <a:solidFill>
                  <a:srgbClr val="34D399"/>
                </a:solidFill>
              </a:defRPr>
            </a:pPr>
            <a:r>
              <a:rPr sz="1275" b="1" i="0">
                <a:solidFill>
                  <a:srgbClr val="34D399"/>
                </a:solidFill>
              </a:rPr>
              <a:t>vitest</a:t>
            </a:r>
          </a:p>
        </p:txBody>
      </p:sp>
      <p:sp>
        <p:nvSpPr>
          <p:cNvPr id="20" name="">
            <a:extLst xmlns:a="http://schemas.openxmlformats.org/drawingml/2006/main">
              <a:ext uri="{FF2B5EF4-FFF2-40B4-BE49-F238E27FC236}">
                <a16:creationId xmlns:a16="http://schemas.microsoft.com/office/drawing/2014/main" id="{35E2DAF8-C09C-4F1B-A6BB-62672CE028DB}"/>
              </a:ext>
            </a:extLst>
          </p:cNvPr>
          <p:cNvSpPr>
            <a:spLocks xmlns:a="http://schemas.openxmlformats.org/drawingml/2006/main" noGrp="1"/>
          </p:cNvSpPr>
          <p:nvPr/>
        </p:nvSpPr>
        <p:spPr>
          <a:xfrm xmlns:a="http://schemas.openxmlformats.org/drawingml/2006/main">
            <a:off x="876300" y="9448800"/>
            <a:ext cx="165354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b="0" i="0">
                <a:solidFill>
                  <a:srgbClr val="667085"/>
                </a:solidFill>
              </a:defRPr>
            </a:pPr>
            <a:r>
              <a:rPr sz="1125" b="0" i="0">
                <a:solidFill>
                  <a:srgbClr val="667085"/>
                </a:solidFill>
              </a:rPr>
              <a:t>Preuves : backend/src/tests/*, integration_tests.rs, frontend vitest configs, desktop-app/package.json</a:t>
            </a:r>
          </a:p>
        </p:txBody>
      </p:sp>
    </p:spTree>
    <p:extLst>
      <p:ext uri="{BB962C8B-B14F-4D97-AF65-F5344CB8AC3E}">
        <p14:creationId xmlns:p14="http://schemas.microsoft.com/office/powerpoint/2010/main" val="833402538"/>
      </p:ext>
    </p:extLst>
  </p:cSld>
</p:sld>
</file>

<file path=ppt/slides/slide12.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78C427EB-BB22-4E9B-B8D3-500A6BA06A83}"/>
              </a:ext>
            </a:extLst>
          </p:cNvPr>
          <p:cNvSpPr>
            <a:spLocks xmlns:a="http://schemas.openxmlformats.org/drawingml/2006/main" noGrp="1"/>
          </p:cNvSpPr>
          <p:nvPr/>
        </p:nvSpPr>
        <p:spPr>
          <a:xfrm xmlns:a="http://schemas.openxmlformats.org/drawingml/2006/main">
            <a:off x="876300" y="666750"/>
            <a:ext cx="165354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i="0">
                <a:solidFill>
                  <a:srgbClr val="F8FAFC"/>
                </a:solidFill>
              </a:defRPr>
            </a:pPr>
            <a:r>
              <a:rPr sz="4050" b="1" i="0">
                <a:solidFill>
                  <a:srgbClr val="F8FAFC"/>
                </a:solidFill>
              </a:rPr>
              <a:t>Limites et ameliorations</a:t>
            </a:r>
          </a:p>
        </p:txBody>
      </p:sp>
      <p:sp>
        <p:nvSpPr>
          <p:cNvPr id="2" name="slide-subtitle">
            <a:extLst xmlns:a="http://schemas.openxmlformats.org/drawingml/2006/main">
              <a:ext uri="{FF2B5EF4-FFF2-40B4-BE49-F238E27FC236}">
                <a16:creationId xmlns:a16="http://schemas.microsoft.com/office/drawing/2014/main" id="{8CED6916-002D-4B8E-B493-4AED7F2E877A}"/>
              </a:ext>
            </a:extLst>
          </p:cNvPr>
          <p:cNvSpPr>
            <a:spLocks xmlns:a="http://schemas.openxmlformats.org/drawingml/2006/main" noGrp="1"/>
          </p:cNvSpPr>
          <p:nvPr/>
        </p:nvSpPr>
        <p:spPr>
          <a:xfrm xmlns:a="http://schemas.openxmlformats.org/drawingml/2006/main">
            <a:off x="876300" y="1409700"/>
            <a:ext cx="165354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i="0">
                <a:solidFill>
                  <a:srgbClr val="A7B0C6"/>
                </a:solidFill>
              </a:defRPr>
            </a:pPr>
            <a:r>
              <a:rPr sz="1725" b="0" i="0">
                <a:solidFill>
                  <a:srgbClr val="A7B0C6"/>
                </a:solidFill>
              </a:rPr>
              <a:t>Les limites sont identifiees et transformables en plan d'action.</a:t>
            </a:r>
          </a:p>
        </p:txBody>
      </p:sp>
      <p:sp>
        <p:nvSpPr>
          <p:cNvPr id="3" name="">
            <a:extLst xmlns:a="http://schemas.openxmlformats.org/drawingml/2006/main">
              <a:ext uri="{FF2B5EF4-FFF2-40B4-BE49-F238E27FC236}">
                <a16:creationId xmlns:a16="http://schemas.microsoft.com/office/drawing/2014/main" id="{F1BB67FF-67FA-4523-B875-C4FB04D31876}"/>
              </a:ext>
            </a:extLst>
          </p:cNvPr>
          <p:cNvSpPr>
            <a:spLocks xmlns:a="http://schemas.openxmlformats.org/drawingml/2006/main" noGrp="1"/>
          </p:cNvSpPr>
          <p:nvPr/>
        </p:nvSpPr>
        <p:spPr>
          <a:xfrm xmlns:a="http://schemas.openxmlformats.org/drawingml/2006/main">
            <a:off x="876300" y="2004060"/>
            <a:ext cx="8134350" cy="3381375"/>
          </a:xfrm>
          <a:prstGeom xmlns:a="http://schemas.openxmlformats.org/drawingml/2006/main" prst="roundRect">
            <a:avLst>
              <a:gd name="adj" fmla="val 1690"/>
            </a:avLst>
          </a:prstGeom>
          <a:solidFill xmlns:a="http://schemas.openxmlformats.org/drawingml/2006/main">
            <a:srgbClr val="10182D"/>
          </a:solidFill>
          <a:ln xmlns:a="http://schemas.openxmlformats.org/drawingml/2006/main" w="9525">
            <a:solidFill>
              <a:srgbClr val="FBBF24">
                <a:alpha val="40000"/>
              </a:srgbClr>
            </a:solidFill>
            <a:prstDash val="solid"/>
          </a:ln>
        </p:spPr>
      </p:sp>
      <p:sp>
        <p:nvSpPr>
          <p:cNvPr id="4" name="">
            <a:extLst xmlns:a="http://schemas.openxmlformats.org/drawingml/2006/main">
              <a:ext uri="{FF2B5EF4-FFF2-40B4-BE49-F238E27FC236}">
                <a16:creationId xmlns:a16="http://schemas.microsoft.com/office/drawing/2014/main" id="{5C3B8CB1-8A19-4897-8B62-E59A37C590D1}"/>
              </a:ext>
            </a:extLst>
          </p:cNvPr>
          <p:cNvSpPr>
            <a:spLocks xmlns:a="http://schemas.openxmlformats.org/drawingml/2006/main" noGrp="1"/>
          </p:cNvSpPr>
          <p:nvPr/>
        </p:nvSpPr>
        <p:spPr>
          <a:xfrm xmlns:a="http://schemas.openxmlformats.org/drawingml/2006/main">
            <a:off x="1143000" y="2209800"/>
            <a:ext cx="76009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i="0">
                <a:solidFill>
                  <a:srgbClr val="FBBF24"/>
                </a:solidFill>
              </a:defRPr>
            </a:pPr>
            <a:r>
              <a:rPr sz="1650" b="1" i="0">
                <a:solidFill>
                  <a:srgbClr val="FBBF24"/>
                </a:solidFill>
              </a:rPr>
              <a:t>Deploiement prod</a:t>
            </a:r>
          </a:p>
        </p:txBody>
      </p:sp>
      <p:sp>
        <p:nvSpPr>
          <p:cNvPr id="5" name="">
            <a:extLst xmlns:a="http://schemas.openxmlformats.org/drawingml/2006/main">
              <a:ext uri="{FF2B5EF4-FFF2-40B4-BE49-F238E27FC236}">
                <a16:creationId xmlns:a16="http://schemas.microsoft.com/office/drawing/2014/main" id="{27864D22-6D70-44AF-AE0C-1DA5D6F3E116}"/>
              </a:ext>
            </a:extLst>
          </p:cNvPr>
          <p:cNvSpPr>
            <a:spLocks xmlns:a="http://schemas.openxmlformats.org/drawingml/2006/main" noGrp="1"/>
          </p:cNvSpPr>
          <p:nvPr/>
        </p:nvSpPr>
        <p:spPr>
          <a:xfrm xmlns:a="http://schemas.openxmlformats.org/drawingml/2006/main">
            <a:off x="1143000" y="2552700"/>
            <a:ext cx="76009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F8FAFC"/>
                </a:solidFill>
              </a:defRPr>
            </a:pPr>
            <a:r>
              <a:rPr sz="1800" b="0" i="0">
                <a:solidFill>
                  <a:srgbClr val="F8FAFC"/>
                </a:solidFill>
              </a:rPr>
              <a:t>GHCR est pret, orchestration finale non configuree</a:t>
            </a:r>
          </a:p>
        </p:txBody>
      </p:sp>
      <p:sp>
        <p:nvSpPr>
          <p:cNvPr id="6" name="">
            <a:extLst xmlns:a="http://schemas.openxmlformats.org/drawingml/2006/main">
              <a:ext uri="{FF2B5EF4-FFF2-40B4-BE49-F238E27FC236}">
                <a16:creationId xmlns:a16="http://schemas.microsoft.com/office/drawing/2014/main" id="{FBB6669E-F722-4D3D-AAF6-CE2BC3389F9B}"/>
              </a:ext>
            </a:extLst>
          </p:cNvPr>
          <p:cNvSpPr>
            <a:spLocks xmlns:a="http://schemas.openxmlformats.org/drawingml/2006/main" noGrp="1"/>
          </p:cNvSpPr>
          <p:nvPr/>
        </p:nvSpPr>
        <p:spPr>
          <a:xfrm xmlns:a="http://schemas.openxmlformats.org/drawingml/2006/main">
            <a:off x="9277350" y="2004060"/>
            <a:ext cx="8134350" cy="3381375"/>
          </a:xfrm>
          <a:prstGeom xmlns:a="http://schemas.openxmlformats.org/drawingml/2006/main" prst="roundRect">
            <a:avLst>
              <a:gd name="adj" fmla="val 1690"/>
            </a:avLst>
          </a:prstGeom>
          <a:solidFill xmlns:a="http://schemas.openxmlformats.org/drawingml/2006/main">
            <a:srgbClr val="10182D"/>
          </a:solidFill>
          <a:ln xmlns:a="http://schemas.openxmlformats.org/drawingml/2006/main" w="9525">
            <a:solidFill>
              <a:srgbClr val="FB7185">
                <a:alpha val="40000"/>
              </a:srgbClr>
            </a:solidFill>
            <a:prstDash val="solid"/>
          </a:ln>
        </p:spPr>
      </p:sp>
      <p:sp>
        <p:nvSpPr>
          <p:cNvPr id="7" name="">
            <a:extLst xmlns:a="http://schemas.openxmlformats.org/drawingml/2006/main">
              <a:ext uri="{FF2B5EF4-FFF2-40B4-BE49-F238E27FC236}">
                <a16:creationId xmlns:a16="http://schemas.microsoft.com/office/drawing/2014/main" id="{A2144B25-507E-44D4-A082-2FF3104F03ED}"/>
              </a:ext>
            </a:extLst>
          </p:cNvPr>
          <p:cNvSpPr>
            <a:spLocks xmlns:a="http://schemas.openxmlformats.org/drawingml/2006/main" noGrp="1"/>
          </p:cNvSpPr>
          <p:nvPr/>
        </p:nvSpPr>
        <p:spPr>
          <a:xfrm xmlns:a="http://schemas.openxmlformats.org/drawingml/2006/main">
            <a:off x="9544050" y="2209800"/>
            <a:ext cx="76009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i="0">
                <a:solidFill>
                  <a:srgbClr val="FB7185"/>
                </a:solidFill>
              </a:defRPr>
            </a:pPr>
            <a:r>
              <a:rPr sz="1650" b="1" i="0">
                <a:solidFill>
                  <a:srgbClr val="FB7185"/>
                </a:solidFill>
              </a:rPr>
              <a:t>Migrations</a:t>
            </a:r>
          </a:p>
        </p:txBody>
      </p:sp>
      <p:sp>
        <p:nvSpPr>
          <p:cNvPr id="8" name="">
            <a:extLst xmlns:a="http://schemas.openxmlformats.org/drawingml/2006/main">
              <a:ext uri="{FF2B5EF4-FFF2-40B4-BE49-F238E27FC236}">
                <a16:creationId xmlns:a16="http://schemas.microsoft.com/office/drawing/2014/main" id="{36E6F3A2-A938-4B09-A9A5-8F6B63D346AB}"/>
              </a:ext>
            </a:extLst>
          </p:cNvPr>
          <p:cNvSpPr>
            <a:spLocks xmlns:a="http://schemas.openxmlformats.org/drawingml/2006/main" noGrp="1"/>
          </p:cNvSpPr>
          <p:nvPr/>
        </p:nvSpPr>
        <p:spPr>
          <a:xfrm xmlns:a="http://schemas.openxmlformats.org/drawingml/2006/main">
            <a:off x="9544050" y="2552700"/>
            <a:ext cx="76009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F8FAFC"/>
                </a:solidFill>
              </a:defRPr>
            </a:pPr>
            <a:r>
              <a:rPr sz="1800" b="0" i="0">
                <a:solidFill>
                  <a:srgbClr val="F8FAFC"/>
                </a:solidFill>
              </a:rPr>
              <a:t>Numerotation 004_* a clarifier</a:t>
            </a:r>
          </a:p>
        </p:txBody>
      </p:sp>
      <p:sp>
        <p:nvSpPr>
          <p:cNvPr id="9" name="">
            <a:extLst xmlns:a="http://schemas.openxmlformats.org/drawingml/2006/main">
              <a:ext uri="{FF2B5EF4-FFF2-40B4-BE49-F238E27FC236}">
                <a16:creationId xmlns:a16="http://schemas.microsoft.com/office/drawing/2014/main" id="{5DB2BFCB-C538-4EDF-A8FC-FE5BFA8A0440}"/>
              </a:ext>
            </a:extLst>
          </p:cNvPr>
          <p:cNvSpPr>
            <a:spLocks xmlns:a="http://schemas.openxmlformats.org/drawingml/2006/main" noGrp="1"/>
          </p:cNvSpPr>
          <p:nvPr/>
        </p:nvSpPr>
        <p:spPr>
          <a:xfrm xmlns:a="http://schemas.openxmlformats.org/drawingml/2006/main">
            <a:off x="876300" y="5652135"/>
            <a:ext cx="8134350" cy="3381375"/>
          </a:xfrm>
          <a:prstGeom xmlns:a="http://schemas.openxmlformats.org/drawingml/2006/main" prst="roundRect">
            <a:avLst>
              <a:gd name="adj" fmla="val 1690"/>
            </a:avLst>
          </a:prstGeom>
          <a:solidFill xmlns:a="http://schemas.openxmlformats.org/drawingml/2006/main">
            <a:srgbClr val="10182D"/>
          </a:solidFill>
          <a:ln xmlns:a="http://schemas.openxmlformats.org/drawingml/2006/main" w="9525">
            <a:solidFill>
              <a:srgbClr val="22D3EE">
                <a:alpha val="40000"/>
              </a:srgbClr>
            </a:solidFill>
            <a:prstDash val="solid"/>
          </a:ln>
        </p:spPr>
      </p:sp>
      <p:sp>
        <p:nvSpPr>
          <p:cNvPr id="10" name="">
            <a:extLst xmlns:a="http://schemas.openxmlformats.org/drawingml/2006/main">
              <a:ext uri="{FF2B5EF4-FFF2-40B4-BE49-F238E27FC236}">
                <a16:creationId xmlns:a16="http://schemas.microsoft.com/office/drawing/2014/main" id="{2DE0263D-12F9-42F6-8F5B-EC7BA8627F22}"/>
              </a:ext>
            </a:extLst>
          </p:cNvPr>
          <p:cNvSpPr>
            <a:spLocks xmlns:a="http://schemas.openxmlformats.org/drawingml/2006/main" noGrp="1"/>
          </p:cNvSpPr>
          <p:nvPr/>
        </p:nvSpPr>
        <p:spPr>
          <a:xfrm xmlns:a="http://schemas.openxmlformats.org/drawingml/2006/main">
            <a:off x="1143000" y="5867400"/>
            <a:ext cx="76009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i="0">
                <a:solidFill>
                  <a:srgbClr val="22D3EE"/>
                </a:solidFill>
              </a:defRPr>
            </a:pPr>
            <a:r>
              <a:rPr sz="1650" b="1" i="0">
                <a:solidFill>
                  <a:srgbClr val="22D3EE"/>
                </a:solidFill>
              </a:rPr>
              <a:t>Scalabilite WebSocket</a:t>
            </a:r>
          </a:p>
        </p:txBody>
      </p:sp>
      <p:sp>
        <p:nvSpPr>
          <p:cNvPr id="11" name="">
            <a:extLst xmlns:a="http://schemas.openxmlformats.org/drawingml/2006/main">
              <a:ext uri="{FF2B5EF4-FFF2-40B4-BE49-F238E27FC236}">
                <a16:creationId xmlns:a16="http://schemas.microsoft.com/office/drawing/2014/main" id="{42A1B381-DCEC-495F-A885-C2F38CA67830}"/>
              </a:ext>
            </a:extLst>
          </p:cNvPr>
          <p:cNvSpPr>
            <a:spLocks xmlns:a="http://schemas.openxmlformats.org/drawingml/2006/main" noGrp="1"/>
          </p:cNvSpPr>
          <p:nvPr/>
        </p:nvSpPr>
        <p:spPr>
          <a:xfrm xmlns:a="http://schemas.openxmlformats.org/drawingml/2006/main">
            <a:off x="1143000" y="6210300"/>
            <a:ext cx="76009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F8FAFC"/>
                </a:solidFill>
              </a:defRPr>
            </a:pPr>
            <a:r>
              <a:rPr sz="1800" b="0" i="0">
                <a:solidFill>
                  <a:srgbClr val="F8FAFC"/>
                </a:solidFill>
              </a:rPr>
              <a:t>Hub single-node : prevoir Redis pub/sub</a:t>
            </a:r>
          </a:p>
        </p:txBody>
      </p:sp>
      <p:sp>
        <p:nvSpPr>
          <p:cNvPr id="12" name="">
            <a:extLst xmlns:a="http://schemas.openxmlformats.org/drawingml/2006/main">
              <a:ext uri="{FF2B5EF4-FFF2-40B4-BE49-F238E27FC236}">
                <a16:creationId xmlns:a16="http://schemas.microsoft.com/office/drawing/2014/main" id="{E14F5B69-7C6E-40BD-9EEF-8F1264373DFE}"/>
              </a:ext>
            </a:extLst>
          </p:cNvPr>
          <p:cNvSpPr>
            <a:spLocks xmlns:a="http://schemas.openxmlformats.org/drawingml/2006/main" noGrp="1"/>
          </p:cNvSpPr>
          <p:nvPr/>
        </p:nvSpPr>
        <p:spPr>
          <a:xfrm xmlns:a="http://schemas.openxmlformats.org/drawingml/2006/main">
            <a:off x="9277350" y="5652135"/>
            <a:ext cx="8134350" cy="3381375"/>
          </a:xfrm>
          <a:prstGeom xmlns:a="http://schemas.openxmlformats.org/drawingml/2006/main" prst="roundRect">
            <a:avLst>
              <a:gd name="adj" fmla="val 1690"/>
            </a:avLst>
          </a:prstGeom>
          <a:solidFill xmlns:a="http://schemas.openxmlformats.org/drawingml/2006/main">
            <a:srgbClr val="10182D"/>
          </a:solidFill>
          <a:ln xmlns:a="http://schemas.openxmlformats.org/drawingml/2006/main" w="9525">
            <a:solidFill>
              <a:srgbClr val="8B5CF6">
                <a:alpha val="40000"/>
              </a:srgbClr>
            </a:solidFill>
            <a:prstDash val="solid"/>
          </a:ln>
        </p:spPr>
      </p:sp>
      <p:sp>
        <p:nvSpPr>
          <p:cNvPr id="13" name="">
            <a:extLst xmlns:a="http://schemas.openxmlformats.org/drawingml/2006/main">
              <a:ext uri="{FF2B5EF4-FFF2-40B4-BE49-F238E27FC236}">
                <a16:creationId xmlns:a16="http://schemas.microsoft.com/office/drawing/2014/main" id="{D7AAA1A9-F307-400E-AF9E-568F5681E536}"/>
              </a:ext>
            </a:extLst>
          </p:cNvPr>
          <p:cNvSpPr>
            <a:spLocks xmlns:a="http://schemas.openxmlformats.org/drawingml/2006/main" noGrp="1"/>
          </p:cNvSpPr>
          <p:nvPr/>
        </p:nvSpPr>
        <p:spPr>
          <a:xfrm xmlns:a="http://schemas.openxmlformats.org/drawingml/2006/main">
            <a:off x="9544050" y="5867400"/>
            <a:ext cx="76009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i="0">
                <a:solidFill>
                  <a:srgbClr val="8B5CF6"/>
                </a:solidFill>
              </a:defRPr>
            </a:pPr>
            <a:r>
              <a:rPr sz="1650" b="1" i="0">
                <a:solidFill>
                  <a:srgbClr val="8B5CF6"/>
                </a:solidFill>
              </a:rPr>
              <a:t>Lockfiles frontend</a:t>
            </a:r>
          </a:p>
        </p:txBody>
      </p:sp>
      <p:sp>
        <p:nvSpPr>
          <p:cNvPr id="14" name="">
            <a:extLst xmlns:a="http://schemas.openxmlformats.org/drawingml/2006/main">
              <a:ext uri="{FF2B5EF4-FFF2-40B4-BE49-F238E27FC236}">
                <a16:creationId xmlns:a16="http://schemas.microsoft.com/office/drawing/2014/main" id="{6F144416-473A-4FB5-97CE-70A351577725}"/>
              </a:ext>
            </a:extLst>
          </p:cNvPr>
          <p:cNvSpPr>
            <a:spLocks xmlns:a="http://schemas.openxmlformats.org/drawingml/2006/main" noGrp="1"/>
          </p:cNvSpPr>
          <p:nvPr/>
        </p:nvSpPr>
        <p:spPr>
          <a:xfrm xmlns:a="http://schemas.openxmlformats.org/drawingml/2006/main">
            <a:off x="9544050" y="6210300"/>
            <a:ext cx="76009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F8FAFC"/>
                </a:solidFill>
              </a:defRPr>
            </a:pPr>
            <a:r>
              <a:rPr sz="1800" b="0" i="0">
                <a:solidFill>
                  <a:srgbClr val="F8FAFC"/>
                </a:solidFill>
              </a:rPr>
              <a:t>pnpm-lock.yaml + package-lock a nettoyer</a:t>
            </a:r>
          </a:p>
        </p:txBody>
      </p:sp>
      <p:sp>
        <p:nvSpPr>
          <p:cNvPr id="15" name="">
            <a:extLst xmlns:a="http://schemas.openxmlformats.org/drawingml/2006/main">
              <a:ext uri="{FF2B5EF4-FFF2-40B4-BE49-F238E27FC236}">
                <a16:creationId xmlns:a16="http://schemas.microsoft.com/office/drawing/2014/main" id="{13941480-CFEF-47B7-992D-1A5027505743}"/>
              </a:ext>
            </a:extLst>
          </p:cNvPr>
          <p:cNvSpPr>
            <a:spLocks xmlns:a="http://schemas.openxmlformats.org/drawingml/2006/main" noGrp="1"/>
          </p:cNvSpPr>
          <p:nvPr/>
        </p:nvSpPr>
        <p:spPr>
          <a:xfrm xmlns:a="http://schemas.openxmlformats.org/drawingml/2006/main">
            <a:off x="876300" y="9353550"/>
            <a:ext cx="165354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i="0">
                <a:solidFill>
                  <a:srgbClr val="A7B0C6"/>
                </a:solidFill>
              </a:defRPr>
            </a:pPr>
            <a:r>
              <a:rPr sz="1725" b="0" i="0">
                <a:solidFill>
                  <a:srgbClr val="A7B0C6"/>
                </a:solidFill>
              </a:rPr>
              <a:t>A presenter comme des perspectives, pas comme des faiblesses cachees.</a:t>
            </a:r>
          </a:p>
        </p:txBody>
      </p:sp>
    </p:spTree>
    <p:extLst>
      <p:ext uri="{BB962C8B-B14F-4D97-AF65-F5344CB8AC3E}">
        <p14:creationId xmlns:p14="http://schemas.microsoft.com/office/powerpoint/2010/main" val="646289106"/>
      </p:ext>
    </p:extLst>
  </p:cSld>
</p:sld>
</file>

<file path=ppt/slides/slide13.xml><?xml version="1.0" encoding="utf-8"?>
<p:sld xmlns:p="http://schemas.openxmlformats.org/presentationml/2006/main">
  <p:cSld>
    <p:bg>
      <p:bgPr>
        <a:solidFill xmlns:a="http://schemas.openxmlformats.org/drawingml/2006/main">
          <a:srgbClr val="060A16"/>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AD432CCC-6204-4D49-A3A7-143FA1120396}"/>
              </a:ext>
            </a:extLst>
          </p:cNvPr>
          <p:cNvSpPr>
            <a:spLocks xmlns:a="http://schemas.openxmlformats.org/drawingml/2006/main" noGrp="1"/>
          </p:cNvSpPr>
          <p:nvPr/>
        </p:nvSpPr>
        <p:spPr>
          <a:xfrm xmlns:a="http://schemas.openxmlformats.org/drawingml/2006/main">
            <a:off x="876300" y="704850"/>
            <a:ext cx="165354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i="0">
                <a:solidFill>
                  <a:srgbClr val="F8FAFC"/>
                </a:solidFill>
              </a:defRPr>
            </a:pPr>
            <a:r>
              <a:rPr sz="4050" b="1" i="0">
                <a:solidFill>
                  <a:srgbClr val="F8FAFC"/>
                </a:solidFill>
              </a:rPr>
              <a:t>Conclusion</a:t>
            </a:r>
          </a:p>
        </p:txBody>
      </p:sp>
      <p:sp>
        <p:nvSpPr>
          <p:cNvPr id="2" name="slide-subtitle">
            <a:extLst xmlns:a="http://schemas.openxmlformats.org/drawingml/2006/main">
              <a:ext uri="{FF2B5EF4-FFF2-40B4-BE49-F238E27FC236}">
                <a16:creationId xmlns:a16="http://schemas.microsoft.com/office/drawing/2014/main" id="{1FABBD53-4B11-49D8-B818-E4F2DDB4A048}"/>
              </a:ext>
            </a:extLst>
          </p:cNvPr>
          <p:cNvSpPr>
            <a:spLocks xmlns:a="http://schemas.openxmlformats.org/drawingml/2006/main" noGrp="1"/>
          </p:cNvSpPr>
          <p:nvPr/>
        </p:nvSpPr>
        <p:spPr>
          <a:xfrm xmlns:a="http://schemas.openxmlformats.org/drawingml/2006/main">
            <a:off x="876300" y="1447800"/>
            <a:ext cx="165354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i="0">
                <a:solidFill>
                  <a:srgbClr val="A7B0C6"/>
                </a:solidFill>
              </a:defRPr>
            </a:pPr>
            <a:r>
              <a:rPr sz="1725" b="0" i="0">
                <a:solidFill>
                  <a:srgbClr val="A7B0C6"/>
                </a:solidFill>
              </a:rPr>
              <a:t>Une stack coherente avec les contraintes d'un chat temps reel.</a:t>
            </a:r>
          </a:p>
        </p:txBody>
      </p:sp>
      <p:sp>
        <p:nvSpPr>
          <p:cNvPr id="3" name="">
            <a:extLst xmlns:a="http://schemas.openxmlformats.org/drawingml/2006/main">
              <a:ext uri="{FF2B5EF4-FFF2-40B4-BE49-F238E27FC236}">
                <a16:creationId xmlns:a16="http://schemas.microsoft.com/office/drawing/2014/main" id="{0DA3C275-5FD6-4300-91E0-F50323B46341}"/>
              </a:ext>
            </a:extLst>
          </p:cNvPr>
          <p:cNvSpPr>
            <a:spLocks xmlns:a="http://schemas.openxmlformats.org/drawingml/2006/main" noGrp="1"/>
          </p:cNvSpPr>
          <p:nvPr/>
        </p:nvSpPr>
        <p:spPr>
          <a:xfrm xmlns:a="http://schemas.openxmlformats.org/drawingml/2006/main">
            <a:off x="876300" y="2080260"/>
            <a:ext cx="5334000" cy="6377940"/>
          </a:xfrm>
          <a:prstGeom xmlns:a="http://schemas.openxmlformats.org/drawingml/2006/main" prst="roundRect">
            <a:avLst>
              <a:gd name="adj" fmla="val 1071"/>
            </a:avLst>
          </a:prstGeom>
          <a:solidFill xmlns:a="http://schemas.openxmlformats.org/drawingml/2006/main">
            <a:srgbClr val="10182D"/>
          </a:solidFill>
          <a:ln xmlns:a="http://schemas.openxmlformats.org/drawingml/2006/main" w="9525">
            <a:solidFill>
              <a:srgbClr val="8B5CF6">
                <a:alpha val="40000"/>
              </a:srgbClr>
            </a:solidFill>
            <a:prstDash val="solid"/>
          </a:ln>
        </p:spPr>
      </p:sp>
      <p:sp>
        <p:nvSpPr>
          <p:cNvPr id="4" name="">
            <a:extLst xmlns:a="http://schemas.openxmlformats.org/drawingml/2006/main">
              <a:ext uri="{FF2B5EF4-FFF2-40B4-BE49-F238E27FC236}">
                <a16:creationId xmlns:a16="http://schemas.microsoft.com/office/drawing/2014/main" id="{B4A9357A-9A7B-4A0D-AF5A-4125DE08131E}"/>
              </a:ext>
            </a:extLst>
          </p:cNvPr>
          <p:cNvSpPr>
            <a:spLocks xmlns:a="http://schemas.openxmlformats.org/drawingml/2006/main" noGrp="1"/>
          </p:cNvSpPr>
          <p:nvPr/>
        </p:nvSpPr>
        <p:spPr>
          <a:xfrm xmlns:a="http://schemas.openxmlformats.org/drawingml/2006/main">
            <a:off x="1143000" y="2286000"/>
            <a:ext cx="48006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i="0">
                <a:solidFill>
                  <a:srgbClr val="8B5CF6"/>
                </a:solidFill>
              </a:defRPr>
            </a:pPr>
            <a:r>
              <a:rPr sz="1650" b="1" i="0">
                <a:solidFill>
                  <a:srgbClr val="8B5CF6"/>
                </a:solidFill>
              </a:rPr>
              <a:t>Robuste</a:t>
            </a:r>
          </a:p>
        </p:txBody>
      </p:sp>
      <p:sp>
        <p:nvSpPr>
          <p:cNvPr id="5" name="">
            <a:extLst xmlns:a="http://schemas.openxmlformats.org/drawingml/2006/main">
              <a:ext uri="{FF2B5EF4-FFF2-40B4-BE49-F238E27FC236}">
                <a16:creationId xmlns:a16="http://schemas.microsoft.com/office/drawing/2014/main" id="{3A72A1AF-6637-40F9-835B-C73A1997AF4C}"/>
              </a:ext>
            </a:extLst>
          </p:cNvPr>
          <p:cNvSpPr>
            <a:spLocks xmlns:a="http://schemas.openxmlformats.org/drawingml/2006/main" noGrp="1"/>
          </p:cNvSpPr>
          <p:nvPr/>
        </p:nvSpPr>
        <p:spPr>
          <a:xfrm xmlns:a="http://schemas.openxmlformats.org/drawingml/2006/main">
            <a:off x="1143000" y="2628900"/>
            <a:ext cx="48006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F8FAFC"/>
                </a:solidFill>
              </a:defRPr>
            </a:pPr>
            <a:r>
              <a:rPr sz="1800" b="0" i="0">
                <a:solidFill>
                  <a:srgbClr val="F8FAFC"/>
                </a:solidFill>
              </a:rPr>
              <a:t>Rust, typage fort, tests, CI et validations Zod</a:t>
            </a:r>
          </a:p>
        </p:txBody>
      </p:sp>
      <p:sp>
        <p:nvSpPr>
          <p:cNvPr id="6" name="">
            <a:extLst xmlns:a="http://schemas.openxmlformats.org/drawingml/2006/main">
              <a:ext uri="{FF2B5EF4-FFF2-40B4-BE49-F238E27FC236}">
                <a16:creationId xmlns:a16="http://schemas.microsoft.com/office/drawing/2014/main" id="{01B6EFE7-A95E-4B99-896C-C1ACEC25D81E}"/>
              </a:ext>
            </a:extLst>
          </p:cNvPr>
          <p:cNvSpPr>
            <a:spLocks xmlns:a="http://schemas.openxmlformats.org/drawingml/2006/main" noGrp="1"/>
          </p:cNvSpPr>
          <p:nvPr/>
        </p:nvSpPr>
        <p:spPr>
          <a:xfrm xmlns:a="http://schemas.openxmlformats.org/drawingml/2006/main">
            <a:off x="6477000" y="2080260"/>
            <a:ext cx="5334000" cy="6377940"/>
          </a:xfrm>
          <a:prstGeom xmlns:a="http://schemas.openxmlformats.org/drawingml/2006/main" prst="roundRect">
            <a:avLst>
              <a:gd name="adj" fmla="val 1071"/>
            </a:avLst>
          </a:prstGeom>
          <a:solidFill xmlns:a="http://schemas.openxmlformats.org/drawingml/2006/main">
            <a:srgbClr val="10182D"/>
          </a:solidFill>
          <a:ln xmlns:a="http://schemas.openxmlformats.org/drawingml/2006/main" w="9525">
            <a:solidFill>
              <a:srgbClr val="22D3EE">
                <a:alpha val="40000"/>
              </a:srgbClr>
            </a:solidFill>
            <a:prstDash val="solid"/>
          </a:ln>
        </p:spPr>
      </p:sp>
      <p:sp>
        <p:nvSpPr>
          <p:cNvPr id="7" name="">
            <a:extLst xmlns:a="http://schemas.openxmlformats.org/drawingml/2006/main">
              <a:ext uri="{FF2B5EF4-FFF2-40B4-BE49-F238E27FC236}">
                <a16:creationId xmlns:a16="http://schemas.microsoft.com/office/drawing/2014/main" id="{A67E2FA0-1C23-4473-A8D9-27AAEBAC7F87}"/>
              </a:ext>
            </a:extLst>
          </p:cNvPr>
          <p:cNvSpPr>
            <a:spLocks xmlns:a="http://schemas.openxmlformats.org/drawingml/2006/main" noGrp="1"/>
          </p:cNvSpPr>
          <p:nvPr/>
        </p:nvSpPr>
        <p:spPr>
          <a:xfrm xmlns:a="http://schemas.openxmlformats.org/drawingml/2006/main">
            <a:off x="6743700" y="2286000"/>
            <a:ext cx="48006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i="0">
                <a:solidFill>
                  <a:srgbClr val="22D3EE"/>
                </a:solidFill>
              </a:defRPr>
            </a:pPr>
            <a:r>
              <a:rPr sz="1650" b="1" i="0">
                <a:solidFill>
                  <a:srgbClr val="22D3EE"/>
                </a:solidFill>
              </a:rPr>
              <a:t>Temps reel</a:t>
            </a:r>
          </a:p>
        </p:txBody>
      </p:sp>
      <p:sp>
        <p:nvSpPr>
          <p:cNvPr id="8" name="">
            <a:extLst xmlns:a="http://schemas.openxmlformats.org/drawingml/2006/main">
              <a:ext uri="{FF2B5EF4-FFF2-40B4-BE49-F238E27FC236}">
                <a16:creationId xmlns:a16="http://schemas.microsoft.com/office/drawing/2014/main" id="{608CFE32-7166-4997-8599-078E7558FB3B}"/>
              </a:ext>
            </a:extLst>
          </p:cNvPr>
          <p:cNvSpPr>
            <a:spLocks xmlns:a="http://schemas.openxmlformats.org/drawingml/2006/main" noGrp="1"/>
          </p:cNvSpPr>
          <p:nvPr/>
        </p:nvSpPr>
        <p:spPr>
          <a:xfrm xmlns:a="http://schemas.openxmlformats.org/drawingml/2006/main">
            <a:off x="6743700" y="2628900"/>
            <a:ext cx="48006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F8FAFC"/>
                </a:solidFill>
              </a:defRPr>
            </a:pPr>
            <a:r>
              <a:rPr sz="1800" b="0" i="0">
                <a:solidFill>
                  <a:srgbClr val="F8FAFC"/>
                </a:solidFill>
              </a:rPr>
              <a:t>WebSocket Hub, rooms, presence, typing et heartbeat</a:t>
            </a:r>
          </a:p>
        </p:txBody>
      </p:sp>
      <p:sp>
        <p:nvSpPr>
          <p:cNvPr id="9" name="">
            <a:extLst xmlns:a="http://schemas.openxmlformats.org/drawingml/2006/main">
              <a:ext uri="{FF2B5EF4-FFF2-40B4-BE49-F238E27FC236}">
                <a16:creationId xmlns:a16="http://schemas.microsoft.com/office/drawing/2014/main" id="{AAEBB68C-A850-4DC1-B0C1-C7CF339D067C}"/>
              </a:ext>
            </a:extLst>
          </p:cNvPr>
          <p:cNvSpPr>
            <a:spLocks xmlns:a="http://schemas.openxmlformats.org/drawingml/2006/main" noGrp="1"/>
          </p:cNvSpPr>
          <p:nvPr/>
        </p:nvSpPr>
        <p:spPr>
          <a:xfrm xmlns:a="http://schemas.openxmlformats.org/drawingml/2006/main">
            <a:off x="12077700" y="2080260"/>
            <a:ext cx="5334000" cy="6377940"/>
          </a:xfrm>
          <a:prstGeom xmlns:a="http://schemas.openxmlformats.org/drawingml/2006/main" prst="roundRect">
            <a:avLst>
              <a:gd name="adj" fmla="val 1071"/>
            </a:avLst>
          </a:prstGeom>
          <a:solidFill xmlns:a="http://schemas.openxmlformats.org/drawingml/2006/main">
            <a:srgbClr val="10182D"/>
          </a:solidFill>
          <a:ln xmlns:a="http://schemas.openxmlformats.org/drawingml/2006/main" w="9525">
            <a:solidFill>
              <a:srgbClr val="34D399">
                <a:alpha val="40000"/>
              </a:srgbClr>
            </a:solidFill>
            <a:prstDash val="solid"/>
          </a:ln>
        </p:spPr>
      </p:sp>
      <p:sp>
        <p:nvSpPr>
          <p:cNvPr id="10" name="">
            <a:extLst xmlns:a="http://schemas.openxmlformats.org/drawingml/2006/main">
              <a:ext uri="{FF2B5EF4-FFF2-40B4-BE49-F238E27FC236}">
                <a16:creationId xmlns:a16="http://schemas.microsoft.com/office/drawing/2014/main" id="{E07C1E3C-58C3-4F9D-A050-EE6963655959}"/>
              </a:ext>
            </a:extLst>
          </p:cNvPr>
          <p:cNvSpPr>
            <a:spLocks xmlns:a="http://schemas.openxmlformats.org/drawingml/2006/main" noGrp="1"/>
          </p:cNvSpPr>
          <p:nvPr/>
        </p:nvSpPr>
        <p:spPr>
          <a:xfrm xmlns:a="http://schemas.openxmlformats.org/drawingml/2006/main">
            <a:off x="12344400" y="2286000"/>
            <a:ext cx="48006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i="0">
                <a:solidFill>
                  <a:srgbClr val="34D399"/>
                </a:solidFill>
              </a:defRPr>
            </a:pPr>
            <a:r>
              <a:rPr sz="1650" b="1" i="0">
                <a:solidFill>
                  <a:srgbClr val="34D399"/>
                </a:solidFill>
              </a:rPr>
              <a:t>Evolutive</a:t>
            </a:r>
          </a:p>
        </p:txBody>
      </p:sp>
      <p:sp>
        <p:nvSpPr>
          <p:cNvPr id="11" name="">
            <a:extLst xmlns:a="http://schemas.openxmlformats.org/drawingml/2006/main">
              <a:ext uri="{FF2B5EF4-FFF2-40B4-BE49-F238E27FC236}">
                <a16:creationId xmlns:a16="http://schemas.microsoft.com/office/drawing/2014/main" id="{30C8CD18-A883-4C3B-B9C6-24B8B9703040}"/>
              </a:ext>
            </a:extLst>
          </p:cNvPr>
          <p:cNvSpPr>
            <a:spLocks xmlns:a="http://schemas.openxmlformats.org/drawingml/2006/main" noGrp="1"/>
          </p:cNvSpPr>
          <p:nvPr/>
        </p:nvSpPr>
        <p:spPr>
          <a:xfrm xmlns:a="http://schemas.openxmlformats.org/drawingml/2006/main">
            <a:off x="12344400" y="2628900"/>
            <a:ext cx="48006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i="0">
                <a:solidFill>
                  <a:srgbClr val="F8FAFC"/>
                </a:solidFill>
              </a:defRPr>
            </a:pPr>
            <a:r>
              <a:rPr sz="1800" b="0" i="0">
                <a:solidFill>
                  <a:srgbClr val="F8FAFC"/>
                </a:solidFill>
              </a:rPr>
              <a:t>Separation REST / WS, PostgreSQL / MongoDB, Docker</a:t>
            </a:r>
          </a:p>
        </p:txBody>
      </p:sp>
      <p:sp>
        <p:nvSpPr>
          <p:cNvPr id="12" name="">
            <a:extLst xmlns:a="http://schemas.openxmlformats.org/drawingml/2006/main">
              <a:ext uri="{FF2B5EF4-FFF2-40B4-BE49-F238E27FC236}">
                <a16:creationId xmlns:a16="http://schemas.microsoft.com/office/drawing/2014/main" id="{C843E590-762A-4BC8-911D-BB2BD43474FA}"/>
              </a:ext>
            </a:extLst>
          </p:cNvPr>
          <p:cNvSpPr>
            <a:spLocks xmlns:a="http://schemas.openxmlformats.org/drawingml/2006/main" noGrp="1"/>
          </p:cNvSpPr>
          <p:nvPr/>
        </p:nvSpPr>
        <p:spPr>
          <a:xfrm xmlns:a="http://schemas.openxmlformats.org/drawingml/2006/main">
            <a:off x="876300" y="8820150"/>
            <a:ext cx="16535400" cy="762000"/>
          </a:xfrm>
          <a:prstGeom xmlns:a="http://schemas.openxmlformats.org/drawingml/2006/main" prst="roundRect">
            <a:avLst>
              <a:gd name="adj" fmla="val 10000"/>
            </a:avLst>
          </a:prstGeom>
          <a:solidFill xmlns:a="http://schemas.openxmlformats.org/drawingml/2006/main">
            <a:srgbClr val="2F80FF">
              <a:alpha val="9412"/>
            </a:srgbClr>
          </a:solidFill>
          <a:ln xmlns:a="http://schemas.openxmlformats.org/drawingml/2006/main" w="9525">
            <a:solidFill>
              <a:srgbClr val="2F80FF">
                <a:alpha val="53333"/>
              </a:srgbClr>
            </a:solidFill>
            <a:prstDash val="solid"/>
          </a:ln>
        </p:spPr>
      </p:sp>
      <p:sp>
        <p:nvSpPr>
          <p:cNvPr id="13" name="">
            <a:extLst xmlns:a="http://schemas.openxmlformats.org/drawingml/2006/main">
              <a:ext uri="{FF2B5EF4-FFF2-40B4-BE49-F238E27FC236}">
                <a16:creationId xmlns:a16="http://schemas.microsoft.com/office/drawing/2014/main" id="{CFBC3DF6-3E65-41D4-86DB-36A6B449504B}"/>
              </a:ext>
            </a:extLst>
          </p:cNvPr>
          <p:cNvSpPr>
            <a:spLocks xmlns:a="http://schemas.openxmlformats.org/drawingml/2006/main" noGrp="1"/>
          </p:cNvSpPr>
          <p:nvPr/>
        </p:nvSpPr>
        <p:spPr>
          <a:xfrm xmlns:a="http://schemas.openxmlformats.org/drawingml/2006/main">
            <a:off x="1162050" y="9029700"/>
            <a:ext cx="159639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i="0">
                <a:solidFill>
                  <a:srgbClr val="F8FAFC"/>
                </a:solidFill>
              </a:defRPr>
            </a:pPr>
            <a:r>
              <a:rPr sz="2250" b="1" i="0">
                <a:solidFill>
                  <a:srgbClr val="F8FAFC"/>
                </a:solidFill>
              </a:rPr>
              <a:t>Message final : la stack n'est pas un assemblage de modes, elle repond aux besoins du produit.</a:t>
            </a:r>
          </a:p>
        </p:txBody>
      </p:sp>
    </p:spTree>
    <p:extLst>
      <p:ext uri="{BB962C8B-B14F-4D97-AF65-F5344CB8AC3E}">
        <p14:creationId xmlns:p14="http://schemas.microsoft.com/office/powerpoint/2010/main" val="14968874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2026-04-28T18:44:39.3090000Z</dcterms:created>
  <dcterms:modified xsi:type="dcterms:W3CDTF">2026-04-28T18:44:39.3090000Z</dcterms:modified>
</coreProperties>
</file>